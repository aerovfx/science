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675" r:id="rId4"/>
    <p:sldId id="908" r:id="rId5"/>
    <p:sldId id="894" r:id="rId7"/>
    <p:sldId id="885" r:id="rId8"/>
    <p:sldId id="914" r:id="rId9"/>
    <p:sldId id="925" r:id="rId10"/>
    <p:sldId id="926" r:id="rId11"/>
    <p:sldId id="931" r:id="rId12"/>
    <p:sldId id="932" r:id="rId13"/>
    <p:sldId id="933" r:id="rId14"/>
    <p:sldId id="934" r:id="rId15"/>
    <p:sldId id="935" r:id="rId16"/>
    <p:sldId id="93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0E261E"/>
    <a:srgbClr val="009AE5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6" autoAdjust="0"/>
    <p:restoredTop sz="93970" autoAdjust="0"/>
  </p:normalViewPr>
  <p:slideViewPr>
    <p:cSldViewPr snapToGrid="0">
      <p:cViewPr varScale="1">
        <p:scale>
          <a:sx n="70" d="100"/>
          <a:sy n="70" d="100"/>
        </p:scale>
        <p:origin x="702" y="60"/>
      </p:cViewPr>
      <p:guideLst/>
    </p:cSldViewPr>
  </p:slideViewPr>
  <p:outlineViewPr>
    <p:cViewPr>
      <p:scale>
        <a:sx n="33" d="100"/>
        <a:sy n="33" d="100"/>
      </p:scale>
      <p:origin x="0" y="-49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4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20.wmf"/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22.wmf"/><Relationship Id="rId3" Type="http://schemas.openxmlformats.org/officeDocument/2006/relationships/image" Target="../media/image21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3.wmf"/><Relationship Id="rId1" Type="http://schemas.openxmlformats.org/officeDocument/2006/relationships/image" Target="../media/image2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5D4B9-0F66-430E-BE66-B9ABD378C14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0437F0-3CB8-4907-9E53-8CCCF8E80CC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437F0-3CB8-4907-9E53-8CCCF8E80CC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437F0-3CB8-4907-9E53-8CCCF8E80CC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437F0-3CB8-4907-9E53-8CCCF8E80CC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2256367" y="4411663"/>
            <a:ext cx="2489200" cy="233045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3043767" y="2293938"/>
            <a:ext cx="9196917" cy="459105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529167" y="2133600"/>
            <a:ext cx="11231033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198563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EB2F9E-C9E0-4EA3-A9E2-0DF5F691060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7016751" y="4076700"/>
            <a:ext cx="1862667" cy="1749425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840567" y="4749800"/>
            <a:ext cx="9351433" cy="2135188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3.bin"/><Relationship Id="rId3" Type="http://schemas.openxmlformats.org/officeDocument/2006/relationships/image" Target="../media/image6.w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wmf"/><Relationship Id="rId4" Type="http://schemas.openxmlformats.org/officeDocument/2006/relationships/oleObject" Target="../embeddings/oleObject5.bin"/><Relationship Id="rId3" Type="http://schemas.openxmlformats.org/officeDocument/2006/relationships/image" Target="../media/image8.wmf"/><Relationship Id="rId2" Type="http://schemas.openxmlformats.org/officeDocument/2006/relationships/oleObject" Target="../embeddings/oleObject4.bin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9.wmf"/><Relationship Id="rId4" Type="http://schemas.openxmlformats.org/officeDocument/2006/relationships/oleObject" Target="../embeddings/oleObject7.bin"/><Relationship Id="rId3" Type="http://schemas.openxmlformats.org/officeDocument/2006/relationships/image" Target="../media/image11.wmf"/><Relationship Id="rId2" Type="http://schemas.openxmlformats.org/officeDocument/2006/relationships/oleObject" Target="../embeddings/oleObject6.bin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7.wmf"/><Relationship Id="rId7" Type="http://schemas.openxmlformats.org/officeDocument/2006/relationships/oleObject" Target="../embeddings/oleObject10.bin"/><Relationship Id="rId6" Type="http://schemas.openxmlformats.org/officeDocument/2006/relationships/image" Target="../media/image16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wmf"/><Relationship Id="rId11" Type="http://schemas.openxmlformats.org/officeDocument/2006/relationships/notesSlide" Target="../notesSlides/notesSlide3.xml"/><Relationship Id="rId10" Type="http://schemas.openxmlformats.org/officeDocument/2006/relationships/vmlDrawing" Target="../drawings/vmlDrawing5.vml"/><Relationship Id="rId1" Type="http://schemas.openxmlformats.org/officeDocument/2006/relationships/oleObject" Target="../embeddings/oleObject8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.bin"/><Relationship Id="rId8" Type="http://schemas.openxmlformats.org/officeDocument/2006/relationships/image" Target="../media/image19.wmf"/><Relationship Id="rId7" Type="http://schemas.openxmlformats.org/officeDocument/2006/relationships/oleObject" Target="../embeddings/oleObject13.bin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7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4.png"/><Relationship Id="rId12" Type="http://schemas.openxmlformats.org/officeDocument/2006/relationships/vmlDrawing" Target="../drawings/vmlDrawing6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0.wmf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.bin"/><Relationship Id="rId8" Type="http://schemas.openxmlformats.org/officeDocument/2006/relationships/image" Target="../media/image21.wmf"/><Relationship Id="rId7" Type="http://schemas.openxmlformats.org/officeDocument/2006/relationships/oleObject" Target="../embeddings/oleObject17.bin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7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14.png"/><Relationship Id="rId12" Type="http://schemas.openxmlformats.org/officeDocument/2006/relationships/vmlDrawing" Target="../drawings/vmlDrawing7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2.wmf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8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4.png"/><Relationship Id="rId3" Type="http://schemas.openxmlformats.org/officeDocument/2006/relationships/image" Target="../media/image23.wmf"/><Relationship Id="rId2" Type="http://schemas.openxmlformats.org/officeDocument/2006/relationships/oleObject" Target="../embeddings/oleObject19.bin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5.wmf"/><Relationship Id="rId7" Type="http://schemas.openxmlformats.org/officeDocument/2006/relationships/oleObject" Target="../embeddings/oleObject23.bin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4.png"/><Relationship Id="rId3" Type="http://schemas.openxmlformats.org/officeDocument/2006/relationships/image" Target="../media/image26.wmf"/><Relationship Id="rId2" Type="http://schemas.openxmlformats.org/officeDocument/2006/relationships/oleObject" Target="../embeddings/oleObject21.bin"/><Relationship Id="rId10" Type="http://schemas.openxmlformats.org/officeDocument/2006/relationships/vmlDrawing" Target="../drawings/vmlDrawing9.v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276;p33"/>
          <p:cNvSpPr txBox="1"/>
          <p:nvPr/>
        </p:nvSpPr>
        <p:spPr>
          <a:xfrm>
            <a:off x="152400" y="1178355"/>
            <a:ext cx="11887200" cy="2922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1106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/>
            </a:pPr>
            <a:r>
              <a:rPr kumimoji="0" lang="en-US" sz="90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Itim" panose="00000500000000000000" pitchFamily="2" charset="-34"/>
                <a:cs typeface="Itim" panose="00000500000000000000" pitchFamily="2" charset="-34"/>
                <a:sym typeface="Amatic SC"/>
              </a:rPr>
              <a:t>Bài 32. Lực hướng tâm và gia tốc hướng tâm </a:t>
            </a:r>
            <a:endParaRPr kumimoji="0" lang="en-US" sz="90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Itim" panose="00000500000000000000" pitchFamily="2" charset="-34"/>
              <a:cs typeface="Itim" panose="00000500000000000000" pitchFamily="2" charset="-34"/>
              <a:sym typeface="Amatic S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3240349"/>
            <a:ext cx="11887200" cy="913819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-GB" sz="500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Lực hướng tâm </a:t>
            </a:r>
            <a:endParaRPr sz="500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3" name="Google Shape;2366;p54"/>
          <p:cNvSpPr txBox="1"/>
          <p:nvPr/>
        </p:nvSpPr>
        <p:spPr>
          <a:xfrm>
            <a:off x="4951200" y="2068175"/>
            <a:ext cx="2289600" cy="132622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/>
            <a:r>
              <a:rPr lang="en-GB" sz="10000" kern="0">
                <a:solidFill>
                  <a:schemeClr val="accent5">
                    <a:lumMod val="75000"/>
                  </a:schemeClr>
                </a:solidFill>
                <a:latin typeface="Itim" panose="00000500000000000000" pitchFamily="2" charset="-34"/>
                <a:cs typeface="Itim" panose="00000500000000000000" pitchFamily="2" charset="-34"/>
              </a:rPr>
              <a:t>01</a:t>
            </a:r>
            <a:endParaRPr lang="en-GB" sz="10000" kern="0">
              <a:solidFill>
                <a:schemeClr val="accent5">
                  <a:lumMod val="75000"/>
                </a:schemeClr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cxnSp>
        <p:nvCxnSpPr>
          <p:cNvPr id="4" name="Google Shape;2368;p54"/>
          <p:cNvCxnSpPr/>
          <p:nvPr/>
        </p:nvCxnSpPr>
        <p:spPr>
          <a:xfrm>
            <a:off x="5121400" y="4269648"/>
            <a:ext cx="1949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139284"/>
            <a:ext cx="11887200" cy="6419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Lực hướng tâm là lực (hoặc hợp lực) tác dụng lên vật chuyển động </a:t>
            </a:r>
            <a:br>
              <a:rPr lang="en-US" sz="3000" b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</a:br>
            <a:r>
              <a:rPr lang="en-US" sz="3000" b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tròn đều hướng vào tâm quỹ đạo </a:t>
            </a:r>
            <a:endParaRPr lang="vi-VN" sz="3000" b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40" name="Google Shape;1794;p49"/>
          <p:cNvSpPr txBox="1"/>
          <p:nvPr/>
        </p:nvSpPr>
        <p:spPr>
          <a:xfrm>
            <a:off x="961911" y="5418607"/>
            <a:ext cx="4552969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Lực căng dây là lực hướng tâm, giữ cho vật chuyển động tròn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383" y="1533318"/>
            <a:ext cx="5168026" cy="36576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3258" y="1533318"/>
            <a:ext cx="4674359" cy="3657600"/>
          </a:xfrm>
          <a:prstGeom prst="rect">
            <a:avLst/>
          </a:prstGeom>
        </p:spPr>
      </p:pic>
      <p:sp>
        <p:nvSpPr>
          <p:cNvPr id="23" name="Google Shape;1794;p49"/>
          <p:cNvSpPr txBox="1"/>
          <p:nvPr/>
        </p:nvSpPr>
        <p:spPr>
          <a:xfrm>
            <a:off x="6781384" y="5418607"/>
            <a:ext cx="4838105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Lực hấp dẫn là lực hướng tâm, giữ cho Trái Đất chuyển động tròn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3240349"/>
            <a:ext cx="11887200" cy="913819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-GB" sz="500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Gia tốc hướng tâm </a:t>
            </a:r>
            <a:endParaRPr sz="500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3" name="Google Shape;2366;p54"/>
          <p:cNvSpPr txBox="1"/>
          <p:nvPr/>
        </p:nvSpPr>
        <p:spPr>
          <a:xfrm>
            <a:off x="4951200" y="2035520"/>
            <a:ext cx="2289600" cy="132622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/>
            <a:r>
              <a:rPr lang="en-GB" sz="10000" kern="0">
                <a:solidFill>
                  <a:schemeClr val="accent5">
                    <a:lumMod val="75000"/>
                  </a:schemeClr>
                </a:solidFill>
                <a:latin typeface="Itim" panose="00000500000000000000" pitchFamily="2" charset="-34"/>
                <a:cs typeface="Itim" panose="00000500000000000000" pitchFamily="2" charset="-34"/>
              </a:rPr>
              <a:t>02</a:t>
            </a:r>
            <a:endParaRPr lang="en-GB" sz="10000" kern="0">
              <a:solidFill>
                <a:schemeClr val="accent5">
                  <a:lumMod val="75000"/>
                </a:schemeClr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cxnSp>
        <p:nvCxnSpPr>
          <p:cNvPr id="4" name="Google Shape;2368;p54"/>
          <p:cNvCxnSpPr/>
          <p:nvPr/>
        </p:nvCxnSpPr>
        <p:spPr>
          <a:xfrm>
            <a:off x="5121400" y="4269648"/>
            <a:ext cx="1949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139284"/>
            <a:ext cx="11887200" cy="6419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Trong chuyển động tròn đều, lực hướng tâm gây ra gia tốc hướng vào tâm nên gia tốc này được gọi là gia tốc hướng tâm </a:t>
            </a:r>
            <a:endParaRPr sz="3000" b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7076562" y="2773926"/>
          <a:ext cx="32893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1" imgW="22555200" imgH="10058400" progId="Equation.DSMT4">
                  <p:embed/>
                </p:oleObj>
              </mc:Choice>
              <mc:Fallback>
                <p:oleObj name="Equation" r:id="rId1" imgW="22555200" imgH="10058400" progId="Equation.DSMT4">
                  <p:embed/>
                  <p:pic>
                    <p:nvPicPr>
                      <p:cNvPr id="0" name="Object 1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076562" y="2773926"/>
                        <a:ext cx="3289300" cy="144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Diagram&#10;&#10;Description automatically generate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350" y="1452297"/>
            <a:ext cx="4944824" cy="4572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1. Tính gia tốc hướng tâm của một vệ tinh nhân tạo chuyển động tròn đều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quanh Trái Đất với bán kính quỹ đạo là 7000 km và tốc độ 7,57 km/s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794;p49"/>
          <p:cNvSpPr txBox="1"/>
          <p:nvPr/>
        </p:nvSpPr>
        <p:spPr>
          <a:xfrm>
            <a:off x="152400" y="1608873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Gia tốc hướng tâm: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0" name="Google Shape;1794;p49"/>
          <p:cNvSpPr txBox="1"/>
          <p:nvPr/>
        </p:nvSpPr>
        <p:spPr>
          <a:xfrm>
            <a:off x="2176115" y="1213031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Hướng dẫn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1" name="Google Shape;1794;p49"/>
          <p:cNvSpPr txBox="1"/>
          <p:nvPr/>
        </p:nvSpPr>
        <p:spPr>
          <a:xfrm>
            <a:off x="8119715" y="1213031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3" name="Google Shape;1794;p49"/>
          <p:cNvSpPr txBox="1"/>
          <p:nvPr/>
        </p:nvSpPr>
        <p:spPr>
          <a:xfrm>
            <a:off x="6096000" y="1608873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Gia tốc hướng tâm của vệ tinh là: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1983249" y="2250825"/>
          <a:ext cx="2005013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2" imgW="22555200" imgH="10058400" progId="Equation.DSMT4">
                  <p:embed/>
                </p:oleObj>
              </mc:Choice>
              <mc:Fallback>
                <p:oleObj name="Equation" r:id="rId2" imgW="22555200" imgH="10058400" progId="Equation.DSMT4">
                  <p:embed/>
                  <p:pic>
                    <p:nvPicPr>
                      <p:cNvPr id="0" name="Object 1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83249" y="2250825"/>
                        <a:ext cx="2005013" cy="890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6652419" y="2252731"/>
          <a:ext cx="4830762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4" imgW="54559200" imgH="10058400" progId="Equation.DSMT4">
                  <p:embed/>
                </p:oleObj>
              </mc:Choice>
              <mc:Fallback>
                <p:oleObj name="Equation" r:id="rId4" imgW="54559200" imgH="10058400" progId="Equation.DSMT4">
                  <p:embed/>
                  <p:pic>
                    <p:nvPicPr>
                      <p:cNvPr id="0" name="Object 1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52419" y="2252731"/>
                        <a:ext cx="4830762" cy="890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2. Tính gia tốc hướng tâm của Mặt Trăng trong chuyển động quay quanh Trái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Đất (coi Mặt Trăng chuyển động tròn đều quanh Trái Đất). Biết khoảng cách từ Mặt Trăng đến tâm Trái Đất là 3,87.10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8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m và chu kì quay là 27,2 ngày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1794;p49"/>
          <p:cNvSpPr txBox="1"/>
          <p:nvPr/>
        </p:nvSpPr>
        <p:spPr>
          <a:xfrm>
            <a:off x="152400" y="1935447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Gia tốc hướng tâm: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3" name="Google Shape;1794;p49"/>
          <p:cNvSpPr txBox="1"/>
          <p:nvPr/>
        </p:nvSpPr>
        <p:spPr>
          <a:xfrm>
            <a:off x="2176115" y="1539605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Hướng dẫn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4" name="Google Shape;1794;p49"/>
          <p:cNvSpPr txBox="1"/>
          <p:nvPr/>
        </p:nvSpPr>
        <p:spPr>
          <a:xfrm>
            <a:off x="8119715" y="1539605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5" name="Google Shape;1794;p49"/>
          <p:cNvSpPr txBox="1"/>
          <p:nvPr/>
        </p:nvSpPr>
        <p:spPr>
          <a:xfrm>
            <a:off x="6096000" y="1935447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Gia tốc hướng tâm của Mặt Trăng là: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6780469" y="2700607"/>
          <a:ext cx="4238625" cy="2617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2" imgW="47853600" imgH="29565600" progId="Equation.DSMT4">
                  <p:embed/>
                </p:oleObj>
              </mc:Choice>
              <mc:Fallback>
                <p:oleObj name="Equation" r:id="rId2" imgW="47853600" imgH="29565600" progId="Equation.DSMT4">
                  <p:embed/>
                  <p:pic>
                    <p:nvPicPr>
                      <p:cNvPr id="0" name="Object 1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780469" y="2700607"/>
                        <a:ext cx="4238625" cy="2617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1742281" y="2422439"/>
          <a:ext cx="2763838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4" imgW="31089600" imgH="11277600" progId="Equation.DSMT4">
                  <p:embed/>
                </p:oleObj>
              </mc:Choice>
              <mc:Fallback>
                <p:oleObj name="Equation" r:id="rId4" imgW="31089600" imgH="11277600" progId="Equation.DSMT4">
                  <p:embed/>
                  <p:pic>
                    <p:nvPicPr>
                      <p:cNvPr id="0" name="Object 1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42281" y="2422439"/>
                        <a:ext cx="2763838" cy="998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6" name="Picture 2" descr="Mặt trăng lớn như thế nào trong thời đại khủng long?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019" y="3602851"/>
            <a:ext cx="4050362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3. Kim phút của một chiếc đồng hồ dài 8 cm. Tính gia tốc hướng tâm của đầu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kim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1794;p49"/>
          <p:cNvSpPr txBox="1"/>
          <p:nvPr/>
        </p:nvSpPr>
        <p:spPr>
          <a:xfrm>
            <a:off x="152400" y="1641529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Gia tốc hướng tâm: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3" name="Google Shape;1794;p49"/>
          <p:cNvSpPr txBox="1"/>
          <p:nvPr/>
        </p:nvSpPr>
        <p:spPr>
          <a:xfrm>
            <a:off x="2176115" y="1245687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Hướng dẫn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4" name="Google Shape;1794;p49"/>
          <p:cNvSpPr txBox="1"/>
          <p:nvPr/>
        </p:nvSpPr>
        <p:spPr>
          <a:xfrm>
            <a:off x="8119715" y="1245687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6326981" y="3429000"/>
          <a:ext cx="5481637" cy="161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2" imgW="61874400" imgH="18288000" progId="Equation.DSMT4">
                  <p:embed/>
                </p:oleObj>
              </mc:Choice>
              <mc:Fallback>
                <p:oleObj name="Equation" r:id="rId2" imgW="61874400" imgH="18288000" progId="Equation.DSMT4">
                  <p:embed/>
                  <p:pic>
                    <p:nvPicPr>
                      <p:cNvPr id="0" name="Object 1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326981" y="3429000"/>
                        <a:ext cx="5481637" cy="1619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1742281" y="2128521"/>
          <a:ext cx="2763838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4" imgW="31089600" imgH="11277600" progId="Equation.DSMT4">
                  <p:embed/>
                </p:oleObj>
              </mc:Choice>
              <mc:Fallback>
                <p:oleObj name="Equation" r:id="rId4" imgW="31089600" imgH="11277600" progId="Equation.DSMT4">
                  <p:embed/>
                  <p:pic>
                    <p:nvPicPr>
                      <p:cNvPr id="0" name="Object 1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42281" y="2128521"/>
                        <a:ext cx="2763838" cy="998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Google Shape;1794;p49"/>
          <p:cNvSpPr txBox="1"/>
          <p:nvPr/>
        </p:nvSpPr>
        <p:spPr>
          <a:xfrm>
            <a:off x="6096000" y="1641529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Thời gian để kim phút quay hết một vòng là 60 phút nên: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T = 60 phút = 3600 s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Gia tốc hướng tâm của đầu kim phút là: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20" name="Picture 2" descr="ĐỒNG HỒ ANALOG TREO - L MJ-ACLN2 | MUJI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435" y="3422485"/>
            <a:ext cx="3251530" cy="3251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3240349"/>
            <a:ext cx="11887200" cy="913819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-GB" sz="500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Công thức độ lớn lực hướng tâm </a:t>
            </a:r>
            <a:endParaRPr sz="500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3" name="Google Shape;2366;p54"/>
          <p:cNvSpPr txBox="1"/>
          <p:nvPr/>
        </p:nvSpPr>
        <p:spPr>
          <a:xfrm>
            <a:off x="4951200" y="1970206"/>
            <a:ext cx="2289600" cy="132622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/>
            <a:r>
              <a:rPr lang="en-GB" sz="10000" kern="0">
                <a:solidFill>
                  <a:schemeClr val="accent5">
                    <a:lumMod val="75000"/>
                  </a:schemeClr>
                </a:solidFill>
                <a:latin typeface="Itim" panose="00000500000000000000" pitchFamily="2" charset="-34"/>
                <a:cs typeface="Itim" panose="00000500000000000000" pitchFamily="2" charset="-34"/>
              </a:rPr>
              <a:t>03</a:t>
            </a:r>
            <a:endParaRPr lang="en-GB" sz="10000" kern="0">
              <a:solidFill>
                <a:schemeClr val="accent5">
                  <a:lumMod val="75000"/>
                </a:schemeClr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cxnSp>
        <p:nvCxnSpPr>
          <p:cNvPr id="4" name="Google Shape;2368;p54"/>
          <p:cNvCxnSpPr/>
          <p:nvPr/>
        </p:nvCxnSpPr>
        <p:spPr>
          <a:xfrm>
            <a:off x="5121400" y="4269648"/>
            <a:ext cx="1949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139284"/>
            <a:ext cx="11887200" cy="6419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Công thức tính độ lớn lực hướng tâm </a:t>
            </a:r>
            <a:endParaRPr sz="3000" b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649914" y="879541"/>
          <a:ext cx="61341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1" imgW="42062400" imgH="10058400" progId="Equation.DSMT4">
                  <p:embed/>
                </p:oleObj>
              </mc:Choice>
              <mc:Fallback>
                <p:oleObj name="Equation" r:id="rId1" imgW="42062400" imgH="10058400" progId="Equation.DSMT4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49914" y="879541"/>
                        <a:ext cx="6134100" cy="144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9058" y="1143000"/>
            <a:ext cx="4093028" cy="4572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274" y="2971800"/>
            <a:ext cx="4441037" cy="2743200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V="1">
            <a:off x="2469045" y="4716841"/>
            <a:ext cx="664045" cy="53793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2132177" y="4376302"/>
          <a:ext cx="9175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5" imgW="10363200" imgH="6096000" progId="Equation.DSMT4">
                  <p:embed/>
                </p:oleObj>
              </mc:Choice>
              <mc:Fallback>
                <p:oleObj name="Equation" r:id="rId5" imgW="10363200" imgH="6096000" progId="Equation.DSMT4">
                  <p:embed/>
                  <p:pic>
                    <p:nvPicPr>
                      <p:cNvPr id="0" name="Object 1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32177" y="4376302"/>
                        <a:ext cx="917575" cy="53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Straight Arrow Connector 14"/>
          <p:cNvCxnSpPr/>
          <p:nvPr/>
        </p:nvCxnSpPr>
        <p:spPr>
          <a:xfrm flipH="1">
            <a:off x="10276840" y="4104368"/>
            <a:ext cx="75708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241280" y="2971800"/>
            <a:ext cx="0" cy="1132568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0251440" y="4104368"/>
            <a:ext cx="782485" cy="1361712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Object 24"/>
          <p:cNvGraphicFramePr>
            <a:graphicFrameLocks noChangeAspect="1"/>
          </p:cNvGraphicFramePr>
          <p:nvPr/>
        </p:nvGraphicFramePr>
        <p:xfrm>
          <a:off x="10276840" y="3564617"/>
          <a:ext cx="4318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Equation" r:id="rId7" imgW="4876800" imgH="6096000" progId="Equation.DSMT4">
                  <p:embed/>
                </p:oleObj>
              </mc:Choice>
              <mc:Fallback>
                <p:oleObj name="Equation" r:id="rId7" imgW="4876800" imgH="6096000" progId="Equation.DSMT4">
                  <p:embed/>
                  <p:pic>
                    <p:nvPicPr>
                      <p:cNvPr id="0" name="Object 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276840" y="3564617"/>
                        <a:ext cx="431800" cy="53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Google Shape;1794;p49"/>
          <p:cNvSpPr txBox="1"/>
          <p:nvPr/>
        </p:nvSpPr>
        <p:spPr>
          <a:xfrm>
            <a:off x="3551972" y="6038483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Một số ví dụ về lực hướng tâm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4. Trong trường hợp ở hình dưới, dây dài 0,75 m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a) Bạn A nói rằng: “Tốc độ quay càng lớn thì góc lệch của dây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so với phương thẳng đứng cũng càng lớn”. Hãy chứng minh điều đó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b) Tính tần số quay để dây lệch góc ɑ = 60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0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so với phương thẳng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đứng, lấy g = 9,8 m/s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2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1794;p49"/>
          <p:cNvSpPr txBox="1"/>
          <p:nvPr/>
        </p:nvSpPr>
        <p:spPr>
          <a:xfrm>
            <a:off x="152400" y="3356031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a) Ta có: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3" name="Google Shape;1794;p49"/>
          <p:cNvSpPr txBox="1"/>
          <p:nvPr/>
        </p:nvSpPr>
        <p:spPr>
          <a:xfrm>
            <a:off x="2176115" y="2960189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Hướng dẫn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4" name="Google Shape;1794;p49"/>
          <p:cNvSpPr txBox="1"/>
          <p:nvPr/>
        </p:nvSpPr>
        <p:spPr>
          <a:xfrm>
            <a:off x="8119715" y="2960189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5" name="Google Shape;1794;p49"/>
          <p:cNvSpPr txBox="1"/>
          <p:nvPr/>
        </p:nvSpPr>
        <p:spPr>
          <a:xfrm>
            <a:off x="6096000" y="3356031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a) Ta có: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Khi </a:t>
            </a:r>
            <a:r>
              <a:rPr lang="el-GR" sz="2500" kern="0">
                <a:solidFill>
                  <a:srgbClr val="F8F8F8"/>
                </a:solidFill>
                <a:latin typeface="Times New Roman" panose="02020603050405020304" pitchFamily="18" charset="0"/>
                <a:cs typeface="Itim" panose="00000500000000000000" pitchFamily="2" charset="-34"/>
              </a:rPr>
              <a:t>ω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tăng thì cosɑ giảm =&gt; ɑ tăng (vì từ 0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0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đến 90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0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hàm cos nghịch biến)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3783" y="177470"/>
            <a:ext cx="2455817" cy="2743200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H="1">
            <a:off x="11259312" y="1948704"/>
            <a:ext cx="49394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1259312" y="1263566"/>
            <a:ext cx="0" cy="691234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1263376" y="1954800"/>
            <a:ext cx="436330" cy="759319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10923482" y="1748249"/>
          <a:ext cx="4318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Equation" r:id="rId3" imgW="4876800" imgH="6096000" progId="Equation.DSMT4">
                  <p:embed/>
                </p:oleObj>
              </mc:Choice>
              <mc:Fallback>
                <p:oleObj name="Equation" r:id="rId3" imgW="4876800" imgH="6096000" progId="Equation.DSMT4">
                  <p:embed/>
                  <p:pic>
                    <p:nvPicPr>
                      <p:cNvPr id="0" name="Object 1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923482" y="1748249"/>
                        <a:ext cx="431800" cy="53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/>
        </p:nvGraphicFramePr>
        <p:xfrm>
          <a:off x="1417290" y="3243170"/>
          <a:ext cx="151765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Equation" r:id="rId5" imgW="17068800" imgH="9448800" progId="Equation.DSMT4">
                  <p:embed/>
                </p:oleObj>
              </mc:Choice>
              <mc:Fallback>
                <p:oleObj name="Equation" r:id="rId5" imgW="17068800" imgH="9448800" progId="Equation.DSMT4">
                  <p:embed/>
                  <p:pic>
                    <p:nvPicPr>
                      <p:cNvPr id="0" name="Object 1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17290" y="3243170"/>
                        <a:ext cx="1517650" cy="836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6262687" y="3751873"/>
          <a:ext cx="5610225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Equation" r:id="rId7" imgW="63093600" imgH="21945600" progId="Equation.DSMT4">
                  <p:embed/>
                </p:oleObj>
              </mc:Choice>
              <mc:Fallback>
                <p:oleObj name="Equation" r:id="rId7" imgW="63093600" imgH="21945600" progId="Equation.DSMT4">
                  <p:embed/>
                  <p:pic>
                    <p:nvPicPr>
                      <p:cNvPr id="0" name="Object 2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62687" y="3751873"/>
                        <a:ext cx="5610225" cy="194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reeform: Shape 1"/>
          <p:cNvSpPr/>
          <p:nvPr/>
        </p:nvSpPr>
        <p:spPr>
          <a:xfrm>
            <a:off x="11267440" y="1422400"/>
            <a:ext cx="114300" cy="43394"/>
          </a:xfrm>
          <a:custGeom>
            <a:avLst/>
            <a:gdLst>
              <a:gd name="connsiteX0" fmla="*/ 114300 w 114300"/>
              <a:gd name="connsiteY0" fmla="*/ 0 h 43394"/>
              <a:gd name="connsiteX1" fmla="*/ 109220 w 114300"/>
              <a:gd name="connsiteY1" fmla="*/ 12700 h 43394"/>
              <a:gd name="connsiteX2" fmla="*/ 88900 w 114300"/>
              <a:gd name="connsiteY2" fmla="*/ 22860 h 43394"/>
              <a:gd name="connsiteX3" fmla="*/ 81280 w 114300"/>
              <a:gd name="connsiteY3" fmla="*/ 27940 h 43394"/>
              <a:gd name="connsiteX4" fmla="*/ 48260 w 114300"/>
              <a:gd name="connsiteY4" fmla="*/ 38100 h 43394"/>
              <a:gd name="connsiteX5" fmla="*/ 20320 w 114300"/>
              <a:gd name="connsiteY5" fmla="*/ 43180 h 43394"/>
              <a:gd name="connsiteX6" fmla="*/ 0 w 114300"/>
              <a:gd name="connsiteY6" fmla="*/ 43180 h 43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300" h="43394">
                <a:moveTo>
                  <a:pt x="114300" y="0"/>
                </a:moveTo>
                <a:cubicBezTo>
                  <a:pt x="112607" y="4233"/>
                  <a:pt x="111956" y="9052"/>
                  <a:pt x="109220" y="12700"/>
                </a:cubicBezTo>
                <a:cubicBezTo>
                  <a:pt x="103242" y="20671"/>
                  <a:pt x="97416" y="20731"/>
                  <a:pt x="88900" y="22860"/>
                </a:cubicBezTo>
                <a:cubicBezTo>
                  <a:pt x="86360" y="24553"/>
                  <a:pt x="84010" y="26575"/>
                  <a:pt x="81280" y="27940"/>
                </a:cubicBezTo>
                <a:cubicBezTo>
                  <a:pt x="71185" y="32988"/>
                  <a:pt x="59088" y="35934"/>
                  <a:pt x="48260" y="38100"/>
                </a:cubicBezTo>
                <a:cubicBezTo>
                  <a:pt x="42617" y="39229"/>
                  <a:pt x="25375" y="42819"/>
                  <a:pt x="20320" y="43180"/>
                </a:cubicBezTo>
                <a:cubicBezTo>
                  <a:pt x="13564" y="43663"/>
                  <a:pt x="6773" y="43180"/>
                  <a:pt x="0" y="4318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Object 21"/>
          <p:cNvGraphicFramePr>
            <a:graphicFrameLocks noChangeAspect="1"/>
          </p:cNvGraphicFramePr>
          <p:nvPr/>
        </p:nvGraphicFramePr>
        <p:xfrm>
          <a:off x="11243551" y="1497679"/>
          <a:ext cx="223461" cy="223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Equation" r:id="rId9" imgW="3352800" imgH="3352800" progId="Equation.DSMT4">
                  <p:embed/>
                </p:oleObj>
              </mc:Choice>
              <mc:Fallback>
                <p:oleObj name="Equation" r:id="rId9" imgW="3352800" imgH="3352800" progId="Equation.DSMT4">
                  <p:embed/>
                  <p:pic>
                    <p:nvPicPr>
                      <p:cNvPr id="0" name="Object 2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243551" y="1497679"/>
                        <a:ext cx="223461" cy="2234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4. Trong trường hợp ở hình dưới, dây dài 0,75 m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a) Bạn A nói rằng: “Tốc độ quay càng lớn thì góc lệch của dây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so với phương thẳng đứng cũng càng lớn”. Hãy chứng minh điều đó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b) Tính tần số quay để dây lệch góc ɑ = 60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0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so với phương thẳng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đứng, lấy g = 9,8 m/s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2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1794;p49"/>
          <p:cNvSpPr txBox="1"/>
          <p:nvPr/>
        </p:nvSpPr>
        <p:spPr>
          <a:xfrm>
            <a:off x="152400" y="3356031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a) Ta có: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b) Ta có: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3" name="Google Shape;1794;p49"/>
          <p:cNvSpPr txBox="1"/>
          <p:nvPr/>
        </p:nvSpPr>
        <p:spPr>
          <a:xfrm>
            <a:off x="2176115" y="2960189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Hướng dẫn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4" name="Google Shape;1794;p49"/>
          <p:cNvSpPr txBox="1"/>
          <p:nvPr/>
        </p:nvSpPr>
        <p:spPr>
          <a:xfrm>
            <a:off x="8119715" y="2960189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5" name="Google Shape;1794;p49"/>
          <p:cNvSpPr txBox="1"/>
          <p:nvPr/>
        </p:nvSpPr>
        <p:spPr>
          <a:xfrm>
            <a:off x="6096000" y="3356031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b) Ta có: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3783" y="177470"/>
            <a:ext cx="2455817" cy="2743200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H="1">
            <a:off x="11259312" y="1948704"/>
            <a:ext cx="49394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1259312" y="1263566"/>
            <a:ext cx="0" cy="691234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1263376" y="1954800"/>
            <a:ext cx="436330" cy="759319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10923482" y="1748249"/>
          <a:ext cx="4318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Equation" r:id="rId3" imgW="4876800" imgH="6096000" progId="Equation.DSMT4">
                  <p:embed/>
                </p:oleObj>
              </mc:Choice>
              <mc:Fallback>
                <p:oleObj name="Equation" r:id="rId3" imgW="4876800" imgH="6096000" progId="Equation.DSMT4">
                  <p:embed/>
                  <p:pic>
                    <p:nvPicPr>
                      <p:cNvPr id="0" name="Object 1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923482" y="1748249"/>
                        <a:ext cx="431800" cy="53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/>
        </p:nvGraphicFramePr>
        <p:xfrm>
          <a:off x="1417290" y="3243170"/>
          <a:ext cx="151765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Equation" r:id="rId5" imgW="17068800" imgH="9448800" progId="Equation.DSMT4">
                  <p:embed/>
                </p:oleObj>
              </mc:Choice>
              <mc:Fallback>
                <p:oleObj name="Equation" r:id="rId5" imgW="17068800" imgH="9448800" progId="Equation.DSMT4">
                  <p:embed/>
                  <p:pic>
                    <p:nvPicPr>
                      <p:cNvPr id="0" name="Object 1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17290" y="3243170"/>
                        <a:ext cx="1517650" cy="836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6804818" y="3958655"/>
          <a:ext cx="4525963" cy="140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Equation" r:id="rId7" imgW="50901600" imgH="15849600" progId="Equation.DSMT4">
                  <p:embed/>
                </p:oleObj>
              </mc:Choice>
              <mc:Fallback>
                <p:oleObj name="Equation" r:id="rId7" imgW="50901600" imgH="15849600" progId="Equation.DSMT4">
                  <p:embed/>
                  <p:pic>
                    <p:nvPicPr>
                      <p:cNvPr id="0" name="Object 2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04818" y="3958655"/>
                        <a:ext cx="4525963" cy="1403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/>
        </p:nvGraphicFramePr>
        <p:xfrm>
          <a:off x="1417290" y="3969433"/>
          <a:ext cx="162560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Equation" r:id="rId9" imgW="18288000" imgH="9448800" progId="Equation.DSMT4">
                  <p:embed/>
                </p:oleObj>
              </mc:Choice>
              <mc:Fallback>
                <p:oleObj name="Equation" r:id="rId9" imgW="18288000" imgH="9448800" progId="Equation.DSMT4">
                  <p:embed/>
                  <p:pic>
                    <p:nvPicPr>
                      <p:cNvPr id="0" name="Object 2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17290" y="3969433"/>
                        <a:ext cx="1625600" cy="836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5. Hình dưới mô tả một vệ tinh nhân tạo quay quanh Trái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Đất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a) Lực nào là lực hướng tâm?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b) Nếu vệ tinh trên là vệ tinh địa tĩnh (nằm trong mặt phẳng xích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đạo của Trái Đất và có tốc độ góc bằng tốc độ góc tự quay của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Trái Đất quay quanh trục của nó). Hãy tìm gia tốc hướng tâm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của vệ tinh. Cho gần đúng bán kính Trái Đất là 6400 km và độ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cao của vệ tinh so với mặt đất bằng 35780 km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1794;p49"/>
          <p:cNvSpPr txBox="1"/>
          <p:nvPr/>
        </p:nvSpPr>
        <p:spPr>
          <a:xfrm>
            <a:off x="152400" y="3747915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a) Lực hấp dẫn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b) Gia tốc hướng tâm: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3" name="Google Shape;1794;p49"/>
          <p:cNvSpPr txBox="1"/>
          <p:nvPr/>
        </p:nvSpPr>
        <p:spPr>
          <a:xfrm>
            <a:off x="2176115" y="3352073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Hướng dẫn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4" name="Google Shape;1794;p49"/>
          <p:cNvSpPr txBox="1"/>
          <p:nvPr/>
        </p:nvSpPr>
        <p:spPr>
          <a:xfrm>
            <a:off x="8119715" y="3352073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5" name="Google Shape;1794;p49"/>
          <p:cNvSpPr txBox="1"/>
          <p:nvPr/>
        </p:nvSpPr>
        <p:spPr>
          <a:xfrm>
            <a:off x="6096000" y="3747915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a) Lực hướng tâm là lực hấp dẫn giữa Trái Đất và vệ tinh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b) Trái Đất tự quay quanh trục mất 24h nên T = 24h = 86400 s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/>
        </p:nvGraphicFramePr>
        <p:xfrm>
          <a:off x="1066800" y="4598102"/>
          <a:ext cx="3521075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2" imgW="39624000" imgH="11277600" progId="Equation.DSMT4">
                  <p:embed/>
                </p:oleObj>
              </mc:Choice>
              <mc:Fallback>
                <p:oleObj name="Equation" r:id="rId2" imgW="39624000" imgH="11277600" progId="Equation.DSMT4">
                  <p:embed/>
                  <p:pic>
                    <p:nvPicPr>
                      <p:cNvPr id="0" name="Object 1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66800" y="4598102"/>
                        <a:ext cx="3521075" cy="998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803" y="187565"/>
            <a:ext cx="2954797" cy="2743200"/>
          </a:xfrm>
          <a:prstGeom prst="rect">
            <a:avLst/>
          </a:prstGeom>
        </p:spPr>
      </p:pic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539954" y="5891197"/>
          <a:ext cx="4986338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5" imgW="56083200" imgH="5791200" progId="Equation.DSMT4">
                  <p:embed/>
                </p:oleObj>
              </mc:Choice>
              <mc:Fallback>
                <p:oleObj name="Equation" r:id="rId5" imgW="56083200" imgH="5791200" progId="Equation.DSMT4">
                  <p:embed/>
                  <p:pic>
                    <p:nvPicPr>
                      <p:cNvPr id="0" name="Object 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9954" y="5891197"/>
                        <a:ext cx="4986338" cy="512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Straight Arrow Connector 15"/>
          <p:cNvCxnSpPr/>
          <p:nvPr/>
        </p:nvCxnSpPr>
        <p:spPr>
          <a:xfrm flipH="1">
            <a:off x="2827337" y="5572987"/>
            <a:ext cx="205786" cy="31821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5. Hình dưới mô tả một vệ tinh nhân tạo quay quanh Trái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Đất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a) Lực nào là lực hướng tâm?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b) Nếu vệ tinh trên là vệ tinh địa tĩnh (nằm trong mặt phẳng xích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đạo của Trái Đất và có tốc độ góc bằng tốc độ góc tự quay của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Trái Đất quay quanh trục của nó). Hãy tìm gia tốc hướng tâm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của vệ tinh. Cho gần đúng bán kính Trái Đất là 6400 km và độ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cao của vệ tinh so với mặt đất bằng 35780 km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1794;p49"/>
          <p:cNvSpPr txBox="1"/>
          <p:nvPr/>
        </p:nvSpPr>
        <p:spPr>
          <a:xfrm>
            <a:off x="152400" y="3747915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a) Lực hấp dẫn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b) Gia tốc hướng tâm: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3" name="Google Shape;1794;p49"/>
          <p:cNvSpPr txBox="1"/>
          <p:nvPr/>
        </p:nvSpPr>
        <p:spPr>
          <a:xfrm>
            <a:off x="2176115" y="3352073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Hướng dẫn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4" name="Google Shape;1794;p49"/>
          <p:cNvSpPr txBox="1"/>
          <p:nvPr/>
        </p:nvSpPr>
        <p:spPr>
          <a:xfrm>
            <a:off x="8119715" y="3352073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5" name="Google Shape;1794;p49"/>
          <p:cNvSpPr txBox="1"/>
          <p:nvPr/>
        </p:nvSpPr>
        <p:spPr>
          <a:xfrm>
            <a:off x="6096000" y="3747915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Gia tốc hướng tâm là: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6292850" y="4186971"/>
          <a:ext cx="5746750" cy="2617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Equation" r:id="rId2" imgW="64617600" imgH="29565600" progId="Equation.DSMT4">
                  <p:embed/>
                </p:oleObj>
              </mc:Choice>
              <mc:Fallback>
                <p:oleObj name="Equation" r:id="rId2" imgW="64617600" imgH="29565600" progId="Equation.DSMT4">
                  <p:embed/>
                  <p:pic>
                    <p:nvPicPr>
                      <p:cNvPr id="0" name="Object 2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92850" y="4186971"/>
                        <a:ext cx="5746750" cy="2617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803" y="187565"/>
            <a:ext cx="2954797" cy="2743200"/>
          </a:xfrm>
          <a:prstGeom prst="rect">
            <a:avLst/>
          </a:prstGeom>
        </p:spPr>
      </p:pic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1066800" y="4598102"/>
          <a:ext cx="3521075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name="Equation" r:id="rId5" imgW="39624000" imgH="11277600" progId="Equation.DSMT4">
                  <p:embed/>
                </p:oleObj>
              </mc:Choice>
              <mc:Fallback>
                <p:oleObj name="Equation" r:id="rId5" imgW="39624000" imgH="11277600" progId="Equation.DSMT4">
                  <p:embed/>
                  <p:pic>
                    <p:nvPicPr>
                      <p:cNvPr id="0" name="Object 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66800" y="4598102"/>
                        <a:ext cx="3521075" cy="998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539954" y="5891197"/>
          <a:ext cx="4986338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Equation" r:id="rId7" imgW="56083200" imgH="5791200" progId="Equation.DSMT4">
                  <p:embed/>
                </p:oleObj>
              </mc:Choice>
              <mc:Fallback>
                <p:oleObj name="Equation" r:id="rId7" imgW="56083200" imgH="5791200" progId="Equation.DSMT4">
                  <p:embed/>
                  <p:pic>
                    <p:nvPicPr>
                      <p:cNvPr id="0" name="Object 1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9954" y="5891197"/>
                        <a:ext cx="4986338" cy="512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Straight Arrow Connector 16"/>
          <p:cNvCxnSpPr/>
          <p:nvPr/>
        </p:nvCxnSpPr>
        <p:spPr>
          <a:xfrm flipH="1">
            <a:off x="2827337" y="5572987"/>
            <a:ext cx="205786" cy="31821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704020202020204" pitchFamily="34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704020202020204" pitchFamily="34" charset="0"/>
            <a:ea typeface="SimSun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3135</Words>
  <Application>WPS Presentation</Application>
  <PresentationFormat>Widescreen</PresentationFormat>
  <Paragraphs>135</Paragraphs>
  <Slides>14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23</vt:i4>
      </vt:variant>
      <vt:variant>
        <vt:lpstr>幻灯片标题</vt:lpstr>
      </vt:variant>
      <vt:variant>
        <vt:i4>14</vt:i4>
      </vt:variant>
    </vt:vector>
  </HeadingPairs>
  <TitlesOfParts>
    <vt:vector size="56" baseType="lpstr">
      <vt:lpstr>Arial</vt:lpstr>
      <vt:lpstr>SimSun</vt:lpstr>
      <vt:lpstr>Wingdings</vt:lpstr>
      <vt:lpstr>Amatic SC</vt:lpstr>
      <vt:lpstr>Thonburi</vt:lpstr>
      <vt:lpstr>Quicksand Light</vt:lpstr>
      <vt:lpstr>Arial</vt:lpstr>
      <vt:lpstr>Bebas Neue</vt:lpstr>
      <vt:lpstr>Quicksand</vt:lpstr>
      <vt:lpstr>Itim</vt:lpstr>
      <vt:lpstr>Arial Unicode MS</vt:lpstr>
      <vt:lpstr>Times New Roman</vt:lpstr>
      <vt:lpstr>Microsoft YaHei</vt:lpstr>
      <vt:lpstr>汉仪旗黑</vt:lpstr>
      <vt:lpstr>Calibri Light</vt:lpstr>
      <vt:lpstr>Helvetica Neue</vt:lpstr>
      <vt:lpstr>Calibri</vt:lpstr>
      <vt:lpstr>宋体-简</vt:lpstr>
      <vt:lpstr>Art_mountaineering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Lực hướng tâm </vt:lpstr>
      <vt:lpstr>Lực hướng tâm là lực (hoặc hợp lực) tác dụng lên vật chuyển động  tròn đều hướng vào tâm quỹ đạo </vt:lpstr>
      <vt:lpstr>Gia tốc hướng tâm </vt:lpstr>
      <vt:lpstr>Trong chuyển động tròn đều, lực hướng tâm gây ra gia tốc hướng vào tâm nên gia tốc này được gọi là gia tốc hướng tâm </vt:lpstr>
      <vt:lpstr>PowerPoint 演示文稿</vt:lpstr>
      <vt:lpstr>PowerPoint 演示文稿</vt:lpstr>
      <vt:lpstr>PowerPoint 演示文稿</vt:lpstr>
      <vt:lpstr>Công thức độ lớn lực hướng tâm </vt:lpstr>
      <vt:lpstr>Công thức tính độ lớn lực hướng tâm 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VnTeach.Com</dc:creator>
  <cp:keywords>VnTeach.Com</cp:keywords>
  <cp:lastModifiedBy>vietchung</cp:lastModifiedBy>
  <cp:revision>1</cp:revision>
  <dcterms:created xsi:type="dcterms:W3CDTF">2025-09-17T02:56:57Z</dcterms:created>
  <dcterms:modified xsi:type="dcterms:W3CDTF">2025-09-17T02:56:57Z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8459104F6E56993D7923CA685E455AC4_42</vt:lpwstr>
  </property>
  <property fmtid="{D5CDD505-2E9C-101B-9397-08002B2CF9AE}" pid="3" name="KSOProductBuildVer">
    <vt:lpwstr>1033-12.1.22553.22553</vt:lpwstr>
  </property>
</Properties>
</file>