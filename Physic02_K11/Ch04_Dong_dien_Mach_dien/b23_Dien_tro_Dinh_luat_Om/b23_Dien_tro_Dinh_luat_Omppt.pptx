
<file path=[Content_Types].xml><?xml version="1.0" encoding="utf-8"?>
<Types xmlns="http://schemas.openxmlformats.org/package/2006/content-types">
  <Default Extension="xml" ContentType="application/xml"/>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handoutMasterIdLst>
    <p:handoutMasterId r:id="rId24"/>
  </p:handoutMasterIdLst>
  <p:sldIdLst>
    <p:sldId id="266" r:id="rId3"/>
    <p:sldId id="256" r:id="rId4"/>
    <p:sldId id="274" r:id="rId6"/>
    <p:sldId id="264" r:id="rId7"/>
    <p:sldId id="271" r:id="rId8"/>
    <p:sldId id="273" r:id="rId9"/>
    <p:sldId id="275" r:id="rId10"/>
    <p:sldId id="276" r:id="rId11"/>
    <p:sldId id="280" r:id="rId12"/>
    <p:sldId id="272" r:id="rId13"/>
    <p:sldId id="281" r:id="rId14"/>
    <p:sldId id="277" r:id="rId15"/>
    <p:sldId id="278" r:id="rId16"/>
    <p:sldId id="283" r:id="rId17"/>
    <p:sldId id="282" r:id="rId18"/>
    <p:sldId id="279" r:id="rId19"/>
    <p:sldId id="284" r:id="rId20"/>
    <p:sldId id="265" r:id="rId21"/>
    <p:sldId id="286" r:id="rId22"/>
    <p:sldId id="28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05" autoAdjust="0"/>
  </p:normalViewPr>
  <p:slideViewPr>
    <p:cSldViewPr snapToGrid="0">
      <p:cViewPr varScale="1">
        <p:scale>
          <a:sx n="113" d="100"/>
          <a:sy n="113" d="100"/>
        </p:scale>
        <p:origin x="510" y="102"/>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0" Type="http://schemas.openxmlformats.org/officeDocument/2006/relationships/customXml" Target="../customXml/item3.xml"/><Relationship Id="rId3" Type="http://schemas.openxmlformats.org/officeDocument/2006/relationships/slide" Target="slides/slide1.xml"/><Relationship Id="rId29" Type="http://schemas.openxmlformats.org/officeDocument/2006/relationships/customXml" Target="../customXml/item2.xml"/><Relationship Id="rId28" Type="http://schemas.openxmlformats.org/officeDocument/2006/relationships/customXml" Target="../customXml/item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0.emf"/><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image" Target="../media/image3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3D6361-1E3C-4214-95E1-B8DE93421F8F}"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CE0281-66A0-46B8-BDE2-AEF0C7453753}"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9CFFA-1E2F-4435-8DD6-9B5CC3FF4505}"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DED1C-4656-4CF8-AD34-DC4A65BB3913}"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9.xml"/><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image" Target="../media/image7.wmf"/><Relationship Id="rId3" Type="http://schemas.openxmlformats.org/officeDocument/2006/relationships/oleObject" Target="../embeddings/oleObject4.bin"/><Relationship Id="rId2" Type="http://schemas.openxmlformats.org/officeDocument/2006/relationships/image" Target="../media/image6.wmf"/><Relationship Id="rId1"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2.emf"/><Relationship Id="rId3" Type="http://schemas.openxmlformats.org/officeDocument/2006/relationships/oleObject" Target="../embeddings/oleObject7.bin"/><Relationship Id="rId2" Type="http://schemas.openxmlformats.org/officeDocument/2006/relationships/image" Target="../media/image11.emf"/><Relationship Id="rId1"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14.emf"/><Relationship Id="rId2" Type="http://schemas.openxmlformats.org/officeDocument/2006/relationships/oleObject" Target="../embeddings/oleObject8.bin"/><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6.emf"/><Relationship Id="rId3" Type="http://schemas.openxmlformats.org/officeDocument/2006/relationships/oleObject" Target="../embeddings/oleObject10.bin"/><Relationship Id="rId2" Type="http://schemas.openxmlformats.org/officeDocument/2006/relationships/image" Target="../media/image15.wmf"/><Relationship Id="rId1"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0.emf"/><Relationship Id="rId7" Type="http://schemas.openxmlformats.org/officeDocument/2006/relationships/oleObject" Target="../embeddings/oleObject14.bin"/><Relationship Id="rId6" Type="http://schemas.openxmlformats.org/officeDocument/2006/relationships/image" Target="../media/image19.emf"/><Relationship Id="rId5" Type="http://schemas.openxmlformats.org/officeDocument/2006/relationships/oleObject" Target="../embeddings/oleObject13.bin"/><Relationship Id="rId4" Type="http://schemas.openxmlformats.org/officeDocument/2006/relationships/image" Target="../media/image18.emf"/><Relationship Id="rId3" Type="http://schemas.openxmlformats.org/officeDocument/2006/relationships/oleObject" Target="../embeddings/oleObject12.bin"/><Relationship Id="rId2" Type="http://schemas.openxmlformats.org/officeDocument/2006/relationships/image" Target="../media/image17.emf"/><Relationship Id="rId11" Type="http://schemas.openxmlformats.org/officeDocument/2006/relationships/notesSlide" Target="../notesSlides/notesSlide10.xml"/><Relationship Id="rId10" Type="http://schemas.openxmlformats.org/officeDocument/2006/relationships/vmlDrawing" Target="../drawings/vmlDrawing6.vml"/><Relationship Id="rId1"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15.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oleObject" Target="../embeddings/oleObject17.bin"/><Relationship Id="rId3" Type="http://schemas.openxmlformats.org/officeDocument/2006/relationships/image" Target="../media/image23.emf"/><Relationship Id="rId2" Type="http://schemas.openxmlformats.org/officeDocument/2006/relationships/oleObject" Target="../embeddings/oleObject16.bin"/><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27.emf"/><Relationship Id="rId5" Type="http://schemas.openxmlformats.org/officeDocument/2006/relationships/oleObject" Target="../embeddings/oleObject20.bin"/><Relationship Id="rId4" Type="http://schemas.openxmlformats.org/officeDocument/2006/relationships/image" Target="../media/image26.emf"/><Relationship Id="rId3" Type="http://schemas.openxmlformats.org/officeDocument/2006/relationships/oleObject" Target="../embeddings/oleObject19.bin"/><Relationship Id="rId2" Type="http://schemas.openxmlformats.org/officeDocument/2006/relationships/image" Target="../media/image25.emf"/><Relationship Id="rId1" Type="http://schemas.openxmlformats.org/officeDocument/2006/relationships/oleObject" Target="../embeddings/oleObject18.bin"/></Relationships>
</file>

<file path=ppt/slides/_rels/slide16.xml.rels><?xml version="1.0" encoding="UTF-8" standalone="yes"?>
<Relationships xmlns="http://schemas.openxmlformats.org/package/2006/relationships"><Relationship Id="rId9" Type="http://schemas.openxmlformats.org/officeDocument/2006/relationships/image" Target="../media/image32.emf"/><Relationship Id="rId8" Type="http://schemas.openxmlformats.org/officeDocument/2006/relationships/oleObject" Target="../embeddings/oleObject24.bin"/><Relationship Id="rId7" Type="http://schemas.openxmlformats.org/officeDocument/2006/relationships/image" Target="../media/image31.emf"/><Relationship Id="rId6" Type="http://schemas.openxmlformats.org/officeDocument/2006/relationships/oleObject" Target="../embeddings/oleObject23.bin"/><Relationship Id="rId5" Type="http://schemas.openxmlformats.org/officeDocument/2006/relationships/image" Target="../media/image30.emf"/><Relationship Id="rId4" Type="http://schemas.openxmlformats.org/officeDocument/2006/relationships/oleObject" Target="../embeddings/oleObject22.bin"/><Relationship Id="rId3" Type="http://schemas.openxmlformats.org/officeDocument/2006/relationships/image" Target="../media/image29.wmf"/><Relationship Id="rId2" Type="http://schemas.openxmlformats.org/officeDocument/2006/relationships/oleObject" Target="../embeddings/oleObject21.bin"/><Relationship Id="rId12" Type="http://schemas.openxmlformats.org/officeDocument/2006/relationships/notesSlide" Target="../notesSlides/notesSlide15.xml"/><Relationship Id="rId11" Type="http://schemas.openxmlformats.org/officeDocument/2006/relationships/vmlDrawing" Target="../drawings/vmlDrawing10.vml"/><Relationship Id="rId10" Type="http://schemas.openxmlformats.org/officeDocument/2006/relationships/slideLayout" Target="../slideLayouts/slideLayout2.xml"/><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vmlDrawing" Target="../drawings/vmlDrawing11.vml"/><Relationship Id="rId6" Type="http://schemas.openxmlformats.org/officeDocument/2006/relationships/slideLayout" Target="../slideLayouts/slideLayout2.xml"/><Relationship Id="rId5" Type="http://schemas.openxmlformats.org/officeDocument/2006/relationships/image" Target="../media/image35.emf"/><Relationship Id="rId4" Type="http://schemas.openxmlformats.org/officeDocument/2006/relationships/oleObject" Target="../embeddings/oleObject26.bin"/><Relationship Id="rId3" Type="http://schemas.openxmlformats.org/officeDocument/2006/relationships/image" Target="../media/image34.emf"/><Relationship Id="rId2" Type="http://schemas.openxmlformats.org/officeDocument/2006/relationships/oleObject" Target="../embeddings/oleObject25.bin"/><Relationship Id="rId1" Type="http://schemas.openxmlformats.org/officeDocument/2006/relationships/image" Target="../media/image33.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vmlDrawing" Target="../drawings/vmlDrawing12.vml"/><Relationship Id="rId7" Type="http://schemas.openxmlformats.org/officeDocument/2006/relationships/slideLayout" Target="../slideLayouts/slideLayout12.xml"/><Relationship Id="rId6" Type="http://schemas.openxmlformats.org/officeDocument/2006/relationships/image" Target="../media/image40.emf"/><Relationship Id="rId5" Type="http://schemas.openxmlformats.org/officeDocument/2006/relationships/oleObject" Target="../embeddings/oleObject27.bin"/><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625192" y="299011"/>
            <a:ext cx="4154242" cy="516915"/>
          </a:xfrm>
        </p:spPr>
        <p:txBody>
          <a:bodyPr>
            <a:normAutofit/>
          </a:bodyPr>
          <a:lstStyle/>
          <a:p>
            <a:r>
              <a:rPr lang="en-US" b="1" dirty="0" err="1">
                <a:latin typeface="Tahoma" panose="020B0804030504040204" pitchFamily="34" charset="0"/>
                <a:cs typeface="Tahoma" panose="020B0804030504040204" pitchFamily="34" charset="0"/>
              </a:rPr>
              <a:t>KIỂM</a:t>
            </a:r>
            <a:r>
              <a:rPr lang="en-US" b="1" dirty="0">
                <a:latin typeface="Tahoma" panose="020B0804030504040204" pitchFamily="34" charset="0"/>
                <a:cs typeface="Tahoma" panose="020B0804030504040204" pitchFamily="34" charset="0"/>
              </a:rPr>
              <a:t> </a:t>
            </a:r>
            <a:r>
              <a:rPr lang="en-US" b="1" dirty="0" err="1">
                <a:latin typeface="Tahoma" panose="020B0804030504040204" pitchFamily="34" charset="0"/>
                <a:cs typeface="Tahoma" panose="020B0804030504040204" pitchFamily="34" charset="0"/>
              </a:rPr>
              <a:t>TRA</a:t>
            </a:r>
            <a:r>
              <a:rPr lang="en-US" b="1" dirty="0">
                <a:latin typeface="Tahoma" panose="020B0804030504040204" pitchFamily="34" charset="0"/>
                <a:cs typeface="Tahoma" panose="020B0804030504040204" pitchFamily="34" charset="0"/>
              </a:rPr>
              <a:t> </a:t>
            </a:r>
            <a:r>
              <a:rPr lang="en-US" b="1" dirty="0" err="1">
                <a:latin typeface="Tahoma" panose="020B0804030504040204" pitchFamily="34" charset="0"/>
                <a:cs typeface="Tahoma" panose="020B0804030504040204" pitchFamily="34" charset="0"/>
              </a:rPr>
              <a:t>THƯỜNG</a:t>
            </a:r>
            <a:r>
              <a:rPr lang="en-US" b="1" dirty="0">
                <a:latin typeface="Tahoma" panose="020B0804030504040204" pitchFamily="34" charset="0"/>
                <a:cs typeface="Tahoma" panose="020B0804030504040204" pitchFamily="34" charset="0"/>
              </a:rPr>
              <a:t> </a:t>
            </a:r>
            <a:r>
              <a:rPr lang="en-US" b="1" dirty="0" err="1">
                <a:latin typeface="Tahoma" panose="020B0804030504040204" pitchFamily="34" charset="0"/>
                <a:cs typeface="Tahoma" panose="020B0804030504040204" pitchFamily="34" charset="0"/>
              </a:rPr>
              <a:t>XUYÊN</a:t>
            </a:r>
            <a:endParaRPr lang="en-US" b="1" dirty="0">
              <a:latin typeface="Tahoma" panose="020B0804030504040204" pitchFamily="34" charset="0"/>
              <a:cs typeface="Tahoma" panose="020B0804030504040204" pitchFamily="34" charset="0"/>
            </a:endParaRPr>
          </a:p>
        </p:txBody>
      </p:sp>
      <p:sp>
        <p:nvSpPr>
          <p:cNvPr id="6" name="TextBox 5"/>
          <p:cNvSpPr txBox="1"/>
          <p:nvPr/>
        </p:nvSpPr>
        <p:spPr>
          <a:xfrm>
            <a:off x="717550" y="764393"/>
            <a:ext cx="10229850" cy="523220"/>
          </a:xfrm>
          <a:prstGeom prst="rect">
            <a:avLst/>
          </a:prstGeom>
          <a:noFill/>
        </p:spPr>
        <p:txBody>
          <a:bodyPr wrap="square" rtlCol="0">
            <a:spAutoFit/>
          </a:bodyPr>
          <a:lstStyle/>
          <a:p>
            <a:pPr algn="l"/>
            <a:r>
              <a:rPr lang="en-US" sz="2800" dirty="0" err="1">
                <a:latin typeface="Times New Roman" panose="02020603050405020304" pitchFamily="18" charset="0"/>
                <a:cs typeface="Times New Roman" panose="02020603050405020304" pitchFamily="18" charset="0"/>
              </a:rPr>
              <a:t>Câu</a:t>
            </a:r>
            <a:r>
              <a:rPr lang="en-US" sz="2800" dirty="0">
                <a:latin typeface="Times New Roman" panose="02020603050405020304" pitchFamily="18" charset="0"/>
                <a:cs typeface="Times New Roman" panose="02020603050405020304" pitchFamily="18" charset="0"/>
              </a:rPr>
              <a:t> 1: </a:t>
            </a:r>
            <a:r>
              <a:rPr lang="en-US" sz="2800" dirty="0" err="1">
                <a:latin typeface="Times New Roman" panose="02020603050405020304" pitchFamily="18" charset="0"/>
                <a:cs typeface="Times New Roman" panose="02020603050405020304" pitchFamily="18" charset="0"/>
              </a:rPr>
              <a:t>Nêu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nghĩa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biểu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cường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dòng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điện</a:t>
            </a:r>
            <a:r>
              <a:rPr lang="en-US" sz="2800" dirty="0">
                <a:latin typeface="Times New Roman" panose="02020603050405020304" pitchFamily="18" charset="0"/>
                <a:cs typeface="Times New Roman" panose="02020603050405020304" pitchFamily="18" charset="0"/>
              </a:rPr>
              <a:t> . </a:t>
            </a:r>
            <a:endParaRPr lang="en-US" sz="2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825500" y="1794739"/>
            <a:ext cx="9537700" cy="954107"/>
          </a:xfrm>
          <a:prstGeom prst="rect">
            <a:avLst/>
          </a:prstGeom>
          <a:noFill/>
        </p:spPr>
        <p:txBody>
          <a:bodyPr wrap="square" rtlCol="0">
            <a:spAutoFit/>
          </a:bodyPr>
          <a:lstStyle/>
          <a:p>
            <a:pPr algn="l"/>
            <a:r>
              <a:rPr lang="en-US" sz="2800" dirty="0" err="1">
                <a:latin typeface="Times New Roman" panose="02020603050405020304" pitchFamily="18" charset="0"/>
                <a:cs typeface="Times New Roman" panose="02020603050405020304" pitchFamily="18" charset="0"/>
              </a:rPr>
              <a:t>Đáp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án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Cường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dòng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trưng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dụng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mạnh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yếu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dòng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được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bằng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biểu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thức</a:t>
            </a:r>
            <a:r>
              <a:rPr lang="en-US"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graphicFrame>
        <p:nvGraphicFramePr>
          <p:cNvPr id="8" name="Object 7"/>
          <p:cNvGraphicFramePr>
            <a:graphicFrameLocks noChangeAspect="1"/>
          </p:cNvGraphicFramePr>
          <p:nvPr/>
        </p:nvGraphicFramePr>
        <p:xfrm>
          <a:off x="5155237" y="2825085"/>
          <a:ext cx="878225" cy="777856"/>
        </p:xfrm>
        <a:graphic>
          <a:graphicData uri="http://schemas.openxmlformats.org/presentationml/2006/ole">
            <mc:AlternateContent xmlns:mc="http://schemas.openxmlformats.org/markup-compatibility/2006">
              <mc:Choice xmlns:v="urn:schemas-microsoft-com:vml" Requires="v">
                <p:oleObj spid="_x0000_s5195" name="Equation" r:id="rId1" imgW="10668000" imgH="9448800" progId="Equation.DSMT4">
                  <p:embed/>
                </p:oleObj>
              </mc:Choice>
              <mc:Fallback>
                <p:oleObj name="Equation" r:id="rId1" imgW="10668000" imgH="9448800" progId="Equation.DSMT4">
                  <p:embed/>
                  <p:pic>
                    <p:nvPicPr>
                      <p:cNvPr id="0" name="Picture 5194"/>
                      <p:cNvPicPr/>
                      <p:nvPr/>
                    </p:nvPicPr>
                    <p:blipFill>
                      <a:blip r:embed="rId2"/>
                      <a:stretch>
                        <a:fillRect/>
                      </a:stretch>
                    </p:blipFill>
                    <p:spPr>
                      <a:xfrm>
                        <a:off x="5155237" y="2825085"/>
                        <a:ext cx="878225" cy="777856"/>
                      </a:xfrm>
                      <a:prstGeom prst="rect">
                        <a:avLst/>
                      </a:prstGeom>
                    </p:spPr>
                  </p:pic>
                </p:oleObj>
              </mc:Fallback>
            </mc:AlternateContent>
          </a:graphicData>
        </a:graphic>
      </p:graphicFrame>
      <p:sp>
        <p:nvSpPr>
          <p:cNvPr id="9" name="TextBox 8"/>
          <p:cNvSpPr txBox="1"/>
          <p:nvPr/>
        </p:nvSpPr>
        <p:spPr>
          <a:xfrm>
            <a:off x="609600" y="3632557"/>
            <a:ext cx="9753600" cy="1384995"/>
          </a:xfrm>
          <a:prstGeom prst="rect">
            <a:avLst/>
          </a:prstGeom>
          <a:noFill/>
        </p:spPr>
        <p:txBody>
          <a:bodyPr wrap="square" rtlCol="0">
            <a:spAutoFit/>
          </a:bodyPr>
          <a:lstStyle/>
          <a:p>
            <a:pPr algn="l"/>
            <a:r>
              <a:rPr lang="en-US" sz="2800" dirty="0" err="1">
                <a:latin typeface="Times New Roman" panose="02020603050405020304" pitchFamily="18" charset="0"/>
                <a:cs typeface="Times New Roman" panose="02020603050405020304" pitchFamily="18" charset="0"/>
              </a:rPr>
              <a:t>Câu</a:t>
            </a:r>
            <a:r>
              <a:rPr lang="en-US" sz="2800" dirty="0">
                <a:latin typeface="Times New Roman" panose="02020603050405020304" pitchFamily="18" charset="0"/>
                <a:cs typeface="Times New Roman" panose="02020603050405020304" pitchFamily="18" charset="0"/>
              </a:rPr>
              <a:t> 2: </a:t>
            </a:r>
            <a:r>
              <a:rPr lang="en-US" sz="2800" dirty="0" err="1">
                <a:latin typeface="Times New Roman" panose="02020603050405020304" pitchFamily="18" charset="0"/>
                <a:cs typeface="Times New Roman" panose="02020603050405020304" pitchFamily="18" charset="0"/>
              </a:rPr>
              <a:t>Viết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biểu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giữa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cường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dòng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dây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dẫn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kim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loại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với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mật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hạt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mang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tốc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dịch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chuyển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hướng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hạt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mang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điện</a:t>
            </a:r>
            <a:r>
              <a:rPr lang="en-US"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graphicFrame>
        <p:nvGraphicFramePr>
          <p:cNvPr id="10" name="Object 9"/>
          <p:cNvGraphicFramePr>
            <a:graphicFrameLocks noChangeAspect="1"/>
          </p:cNvGraphicFramePr>
          <p:nvPr/>
        </p:nvGraphicFramePr>
        <p:xfrm>
          <a:off x="4069691" y="5047168"/>
          <a:ext cx="3479801" cy="527059"/>
        </p:xfrm>
        <a:graphic>
          <a:graphicData uri="http://schemas.openxmlformats.org/presentationml/2006/ole">
            <mc:AlternateContent xmlns:mc="http://schemas.openxmlformats.org/markup-compatibility/2006">
              <mc:Choice xmlns:v="urn:schemas-microsoft-com:vml" Requires="v">
                <p:oleObj spid="_x0000_s2" name="Equation" r:id="rId3" imgW="13106400" imgH="4267200" progId="Equation.DSMT4">
                  <p:embed/>
                </p:oleObj>
              </mc:Choice>
              <mc:Fallback>
                <p:oleObj name="Equation" r:id="rId3" imgW="13106400" imgH="4267200" progId="Equation.DSMT4">
                  <p:embed/>
                  <p:pic>
                    <p:nvPicPr>
                      <p:cNvPr id="0" name="Picture 1"/>
                      <p:cNvPicPr/>
                      <p:nvPr/>
                    </p:nvPicPr>
                    <p:blipFill>
                      <a:blip r:embed="rId4"/>
                      <a:stretch>
                        <a:fillRect/>
                      </a:stretch>
                    </p:blipFill>
                    <p:spPr>
                      <a:xfrm>
                        <a:off x="4069691" y="5047168"/>
                        <a:ext cx="3479801" cy="527059"/>
                      </a:xfrm>
                      <a:prstGeom prst="rect">
                        <a:avLst/>
                      </a:prstGeom>
                    </p:spPr>
                  </p:pic>
                </p:oleObj>
              </mc:Fallback>
            </mc:AlternateContent>
          </a:graphicData>
        </a:graphic>
      </p:graphicFrame>
      <p:sp>
        <p:nvSpPr>
          <p:cNvPr id="11" name="TextBox 10"/>
          <p:cNvSpPr txBox="1"/>
          <p:nvPr/>
        </p:nvSpPr>
        <p:spPr>
          <a:xfrm>
            <a:off x="609600" y="5055869"/>
            <a:ext cx="1536700" cy="527059"/>
          </a:xfrm>
          <a:prstGeom prst="rect">
            <a:avLst/>
          </a:prstGeom>
          <a:noFill/>
        </p:spPr>
        <p:txBody>
          <a:bodyPr wrap="square" rtlCol="0">
            <a:spAutoFit/>
          </a:bodyPr>
          <a:lstStyle/>
          <a:p>
            <a:pPr algn="l"/>
            <a:r>
              <a:rPr lang="en-US" sz="2800" dirty="0" err="1">
                <a:latin typeface="Times New Roman" panose="02020603050405020304" pitchFamily="18" charset="0"/>
                <a:cs typeface="Times New Roman" panose="02020603050405020304" pitchFamily="18" charset="0"/>
              </a:rPr>
              <a:t>Đáp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án</a:t>
            </a:r>
            <a:r>
              <a:rPr lang="en-US"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63833" y="379476"/>
            <a:ext cx="9307109" cy="710522"/>
          </a:xfrm>
        </p:spPr>
        <p:txBody>
          <a:bodyPr anchor="b">
            <a:normAutofit/>
          </a:bodyPr>
          <a:lstStyle/>
          <a:p>
            <a:pPr algn="l">
              <a:spcBef>
                <a:spcPts val="1200"/>
              </a:spcBef>
            </a:pPr>
            <a:r>
              <a:rPr lang="vi-VN" sz="4000" b="1" dirty="0">
                <a:solidFill>
                  <a:schemeClr val="accent2"/>
                </a:solidFill>
                <a:effectLst/>
                <a:latin typeface="Times New Roman" panose="02020603050405020304" pitchFamily="18" charset="0"/>
                <a:ea typeface="Times New Roman" panose="02020603050405020304" pitchFamily="18" charset="0"/>
                <a:cs typeface="Times New Roman" panose="02020603050405020304" pitchFamily="18" charset="0"/>
              </a:rPr>
              <a:t>BÀI </a:t>
            </a:r>
            <a:r>
              <a:rPr lang="en-US" sz="4000" b="1" dirty="0">
                <a:solidFill>
                  <a:schemeClr val="accent2"/>
                </a:solidFill>
                <a:effectLst/>
                <a:latin typeface="Times New Roman" panose="02020603050405020304" pitchFamily="18" charset="0"/>
                <a:ea typeface="Times New Roman" panose="02020603050405020304" pitchFamily="18" charset="0"/>
                <a:cs typeface="Times New Roman" panose="02020603050405020304" pitchFamily="18" charset="0"/>
              </a:rPr>
              <a:t>23</a:t>
            </a:r>
            <a:r>
              <a:rPr lang="vi-VN" sz="4000" b="1" dirty="0">
                <a:solidFill>
                  <a:schemeClr val="accent2"/>
                </a:solidFill>
                <a:effectLst/>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40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endParaRPr lang="en-US" sz="4000" b="1" dirty="0">
              <a:solidFill>
                <a:schemeClr val="accent2"/>
              </a:solidFill>
              <a:effectLst/>
              <a:latin typeface="Calibri" panose="020F0502020204030204" pitchFamily="34" charset="0"/>
              <a:ea typeface="Yu Gothic Light" panose="020B0300000000000000" pitchFamily="34" charset="-128"/>
              <a:cs typeface="Times New Roman" panose="02020603050405020304" pitchFamily="18" charset="0"/>
            </a:endParaRPr>
          </a:p>
        </p:txBody>
      </p:sp>
      <p:pic>
        <p:nvPicPr>
          <p:cNvPr id="9" name="Picture 8" descr="A person in a black and white photo&#10;&#10;Description automatically generated"/>
          <p:cNvPicPr>
            <a:picLocks noChangeAspect="1"/>
          </p:cNvPicPr>
          <p:nvPr/>
        </p:nvPicPr>
        <p:blipFill rotWithShape="1">
          <a:blip r:embed="rId1"/>
          <a:srcRect r="6054" b="1"/>
          <a:stretch>
            <a:fillRect/>
          </a:stretch>
        </p:blipFill>
        <p:spPr>
          <a:xfrm>
            <a:off x="3239764" y="1507703"/>
            <a:ext cx="4206245" cy="4673288"/>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4" name="TextBox 3"/>
          <p:cNvSpPr txBox="1"/>
          <p:nvPr/>
        </p:nvSpPr>
        <p:spPr>
          <a:xfrm>
            <a:off x="537663" y="970025"/>
            <a:ext cx="2835357" cy="523220"/>
          </a:xfrm>
          <a:prstGeom prst="rect">
            <a:avLst/>
          </a:prstGeom>
          <a:noFill/>
        </p:spPr>
        <p:txBody>
          <a:bodyPr wrap="square" rtlCol="0">
            <a:spAutoFit/>
          </a:bodyPr>
          <a:lstStyle/>
          <a:p>
            <a:r>
              <a:rPr lang="vi-VN" sz="2800" b="1" dirty="0">
                <a:solidFill>
                  <a:srgbClr val="000000"/>
                </a:solidFill>
                <a:effectLst/>
                <a:latin typeface="Times New Roman" panose="02020603050405020304" pitchFamily="18" charset="0"/>
                <a:ea typeface="Times New Roman" panose="02020603050405020304" pitchFamily="18" charset="0"/>
              </a:rPr>
              <a:t>I. ĐIỆN TRỞ</a:t>
            </a:r>
            <a:endParaRPr lang="en-US" sz="2800" dirty="0">
              <a:effectLst/>
              <a:latin typeface="Calibri" panose="020F0502020204030204" pitchFamily="34" charset="0"/>
              <a:ea typeface="Calibri" panose="020F0502020204030204" pitchFamily="34" charset="0"/>
            </a:endParaRPr>
          </a:p>
        </p:txBody>
      </p:sp>
      <p:sp>
        <p:nvSpPr>
          <p:cNvPr id="6" name="TextBox 5"/>
          <p:cNvSpPr txBox="1"/>
          <p:nvPr/>
        </p:nvSpPr>
        <p:spPr>
          <a:xfrm>
            <a:off x="537663" y="1567832"/>
            <a:ext cx="2615040" cy="461665"/>
          </a:xfrm>
          <a:prstGeom prst="rect">
            <a:avLst/>
          </a:prstGeom>
          <a:noFill/>
        </p:spPr>
        <p:txBody>
          <a:bodyPr wrap="square" rtlCol="0">
            <a:spAutoFit/>
          </a:bodyPr>
          <a:lstStyle/>
          <a:p>
            <a:pPr algn="l"/>
            <a:r>
              <a:rPr lang="vi-VN" sz="2400" b="1" dirty="0">
                <a:solidFill>
                  <a:srgbClr val="000000"/>
                </a:solidFill>
                <a:effectLst/>
                <a:latin typeface="Times New Roman" panose="02020603050405020304" pitchFamily="18" charset="0"/>
                <a:ea typeface="Times New Roman" panose="02020603050405020304" pitchFamily="18" charset="0"/>
              </a:rPr>
              <a:t>1. Thí nghiệm:</a:t>
            </a:r>
            <a:endParaRPr lang="en-US" sz="2400" dirty="0">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1"/>
          <a:stretch>
            <a:fillRect/>
          </a:stretch>
        </p:blipFill>
        <p:spPr>
          <a:xfrm>
            <a:off x="8039433" y="970025"/>
            <a:ext cx="2370137" cy="1833853"/>
          </a:xfrm>
          <a:prstGeom prst="rect">
            <a:avLst/>
          </a:prstGeom>
        </p:spPr>
      </p:pic>
      <p:sp>
        <p:nvSpPr>
          <p:cNvPr id="8" name="TextBox 7"/>
          <p:cNvSpPr txBox="1"/>
          <p:nvPr/>
        </p:nvSpPr>
        <p:spPr>
          <a:xfrm>
            <a:off x="626920" y="2112709"/>
            <a:ext cx="4969148" cy="1200329"/>
          </a:xfrm>
          <a:prstGeom prst="rect">
            <a:avLst/>
          </a:prstGeom>
          <a:noFill/>
        </p:spPr>
        <p:txBody>
          <a:bodyPr wrap="square" rtlCol="0">
            <a:spAutoFit/>
          </a:bodyPr>
          <a:lstStyle/>
          <a:p>
            <a:r>
              <a:rPr lang="vi-VN" sz="2400" dirty="0">
                <a:effectLst/>
                <a:latin typeface="Times New Roman" panose="02020603050405020304" pitchFamily="18" charset="0"/>
                <a:ea typeface="Times New Roman" panose="02020603050405020304" pitchFamily="18" charset="0"/>
              </a:rPr>
              <a:t>Mỗi nhóm mắc  mạch điện và tiến hành thí nghiệm I.1, lấy số liệu vào Bảng 23.1. </a:t>
            </a:r>
            <a:endParaRPr lang="en-US" sz="2400" dirty="0">
              <a:effectLst/>
              <a:latin typeface="Calibri" panose="020F0502020204030204" pitchFamily="34" charset="0"/>
              <a:ea typeface="Calibri" panose="020F0502020204030204" pitchFamily="34" charset="0"/>
            </a:endParaRPr>
          </a:p>
        </p:txBody>
      </p:sp>
      <p:graphicFrame>
        <p:nvGraphicFramePr>
          <p:cNvPr id="13" name="Table 12"/>
          <p:cNvGraphicFramePr>
            <a:graphicFrameLocks noGrp="1"/>
          </p:cNvGraphicFramePr>
          <p:nvPr/>
        </p:nvGraphicFramePr>
        <p:xfrm>
          <a:off x="5984940" y="2991194"/>
          <a:ext cx="3239562" cy="3492392"/>
        </p:xfrm>
        <a:graphic>
          <a:graphicData uri="http://schemas.openxmlformats.org/drawingml/2006/table">
            <a:tbl>
              <a:tblPr firstRow="1" firstCol="1" bandRow="1">
                <a:tableStyleId>{5C22544A-7EE6-4342-B048-85BDC9FD1C3A}</a:tableStyleId>
              </a:tblPr>
              <a:tblGrid>
                <a:gridCol w="1079854"/>
                <a:gridCol w="1079854"/>
                <a:gridCol w="1079854"/>
              </a:tblGrid>
              <a:tr h="360349">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Vật dẫn X</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a:effectLst/>
                        </a:rPr>
                        <a:t>Vật dẫn Y</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349">
                <a:tc>
                  <a:txBody>
                    <a:bodyPr/>
                    <a:lstStyle/>
                    <a:p>
                      <a:pPr algn="just">
                        <a:lnSpc>
                          <a:spcPct val="100000"/>
                        </a:lnSpc>
                        <a:spcAft>
                          <a:spcPts val="800"/>
                        </a:spcAft>
                      </a:pPr>
                      <a:r>
                        <a:rPr lang="vi-VN" sz="2000">
                          <a:effectLst/>
                        </a:rPr>
                        <a:t>U(V)</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I</a:t>
                      </a:r>
                      <a:r>
                        <a:rPr lang="vi-VN" sz="2000" baseline="-25000" dirty="0">
                          <a:effectLst/>
                        </a:rPr>
                        <a:t>1</a:t>
                      </a:r>
                      <a:r>
                        <a:rPr lang="vi-VN" sz="2000" dirty="0">
                          <a:effectLst/>
                        </a:rPr>
                        <a:t>(mA)</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I</a:t>
                      </a:r>
                      <a:r>
                        <a:rPr lang="vi-VN" sz="2000" baseline="-25000" dirty="0">
                          <a:effectLst/>
                        </a:rPr>
                        <a:t>2</a:t>
                      </a:r>
                      <a:r>
                        <a:rPr lang="vi-VN" sz="2000" dirty="0">
                          <a:effectLst/>
                        </a:rPr>
                        <a:t>(mA)</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349">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349">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349">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349">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349">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349">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0349">
                <a:tc>
                  <a:txBody>
                    <a:bodyPr/>
                    <a:lstStyle/>
                    <a:p>
                      <a:pPr algn="just">
                        <a:lnSpc>
                          <a:spcPct val="100000"/>
                        </a:lnSpc>
                        <a:spcAft>
                          <a:spcPts val="800"/>
                        </a:spcAft>
                      </a:pPr>
                      <a:r>
                        <a:rPr lang="vi-VN" sz="2000">
                          <a:effectLst/>
                        </a:rPr>
                        <a:t> </a:t>
                      </a:r>
                      <a:endParaRPr lang="en-US" sz="200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800"/>
                        </a:spcAft>
                      </a:pPr>
                      <a:r>
                        <a:rPr lang="vi-VN" sz="2000" dirty="0">
                          <a:effectLst/>
                        </a:rPr>
                        <a:t> </a:t>
                      </a:r>
                      <a:endParaRPr lang="en-US" sz="2000" dirty="0">
                        <a:solidFill>
                          <a:srgbClr val="000000"/>
                        </a:solidFill>
                        <a:effectLst/>
                        <a:latin typeface="Calibri" panose="020F0502020204030204" pitchFamily="34"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4" name="Picture 13"/>
          <p:cNvPicPr>
            <a:picLocks noChangeAspect="1"/>
          </p:cNvPicPr>
          <p:nvPr/>
        </p:nvPicPr>
        <p:blipFill>
          <a:blip r:embed="rId2"/>
          <a:stretch>
            <a:fillRect/>
          </a:stretch>
        </p:blipFill>
        <p:spPr>
          <a:xfrm>
            <a:off x="80591" y="3396250"/>
            <a:ext cx="4373562" cy="30873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25" name="TextBox 24"/>
          <p:cNvSpPr txBox="1"/>
          <p:nvPr/>
        </p:nvSpPr>
        <p:spPr>
          <a:xfrm>
            <a:off x="537662" y="1567832"/>
            <a:ext cx="3932737" cy="461665"/>
          </a:xfrm>
          <a:prstGeom prst="rect">
            <a:avLst/>
          </a:prstGeom>
          <a:noFill/>
        </p:spPr>
        <p:txBody>
          <a:bodyPr wrap="square" rtlCol="0">
            <a:spAutoFit/>
          </a:bodyPr>
          <a:lstStyle/>
          <a:p>
            <a:pPr algn="l"/>
            <a:r>
              <a:rPr lang="en-US" sz="2400" b="1" dirty="0">
                <a:solidFill>
                  <a:srgbClr val="000000"/>
                </a:solidFill>
                <a:latin typeface="Times New Roman" panose="02020603050405020304" pitchFamily="18" charset="0"/>
                <a:ea typeface="Times New Roman" panose="02020603050405020304" pitchFamily="18" charset="0"/>
              </a:rPr>
              <a:t>2. </a:t>
            </a:r>
            <a:r>
              <a:rPr lang="en-US" sz="2400" b="1" dirty="0" err="1">
                <a:solidFill>
                  <a:srgbClr val="000000"/>
                </a:solidFill>
                <a:latin typeface="Times New Roman" panose="02020603050405020304" pitchFamily="18" charset="0"/>
                <a:ea typeface="Times New Roman" panose="02020603050405020304" pitchFamily="18" charset="0"/>
              </a:rPr>
              <a:t>Định</a:t>
            </a:r>
            <a:r>
              <a:rPr lang="en-US" sz="2400" b="1" dirty="0">
                <a:solidFill>
                  <a:srgbClr val="000000"/>
                </a:solidFill>
                <a:latin typeface="Times New Roman" panose="02020603050405020304" pitchFamily="18" charset="0"/>
                <a:ea typeface="Times New Roman" panose="02020603050405020304" pitchFamily="18" charset="0"/>
              </a:rPr>
              <a:t> </a:t>
            </a:r>
            <a:r>
              <a:rPr lang="en-US" sz="2400" b="1" dirty="0" err="1">
                <a:solidFill>
                  <a:srgbClr val="000000"/>
                </a:solidFill>
                <a:latin typeface="Times New Roman" panose="02020603050405020304" pitchFamily="18" charset="0"/>
                <a:ea typeface="Times New Roman" panose="02020603050405020304" pitchFamily="18" charset="0"/>
              </a:rPr>
              <a:t>nghĩa</a:t>
            </a:r>
            <a:r>
              <a:rPr lang="en-US" sz="2400" b="1" dirty="0">
                <a:solidFill>
                  <a:srgbClr val="000000"/>
                </a:solidFill>
                <a:latin typeface="Times New Roman" panose="02020603050405020304" pitchFamily="18" charset="0"/>
                <a:ea typeface="Times New Roman" panose="02020603050405020304" pitchFamily="18" charset="0"/>
              </a:rPr>
              <a:t> </a:t>
            </a:r>
            <a:r>
              <a:rPr lang="en-US" sz="2400" b="1" dirty="0" err="1">
                <a:solidFill>
                  <a:srgbClr val="000000"/>
                </a:solidFill>
                <a:latin typeface="Times New Roman" panose="02020603050405020304" pitchFamily="18" charset="0"/>
                <a:ea typeface="Times New Roman" panose="02020603050405020304" pitchFamily="18" charset="0"/>
              </a:rPr>
              <a:t>điện</a:t>
            </a:r>
            <a:r>
              <a:rPr lang="en-US" sz="2400" b="1" dirty="0">
                <a:solidFill>
                  <a:srgbClr val="000000"/>
                </a:solidFill>
                <a:latin typeface="Times New Roman" panose="02020603050405020304" pitchFamily="18" charset="0"/>
                <a:ea typeface="Times New Roman" panose="02020603050405020304" pitchFamily="18" charset="0"/>
              </a:rPr>
              <a:t> </a:t>
            </a:r>
            <a:r>
              <a:rPr lang="en-US" sz="2400" b="1" dirty="0" err="1">
                <a:solidFill>
                  <a:srgbClr val="000000"/>
                </a:solidFill>
                <a:latin typeface="Times New Roman" panose="02020603050405020304" pitchFamily="18" charset="0"/>
                <a:ea typeface="Times New Roman" panose="02020603050405020304" pitchFamily="18" charset="0"/>
              </a:rPr>
              <a:t>trở</a:t>
            </a:r>
            <a:r>
              <a:rPr lang="en-US" sz="2400" b="1" dirty="0">
                <a:solidFill>
                  <a:srgbClr val="000000"/>
                </a:solidFill>
                <a:latin typeface="Times New Roman" panose="02020603050405020304" pitchFamily="18" charset="0"/>
                <a:ea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537663" y="970025"/>
            <a:ext cx="2835357" cy="523220"/>
          </a:xfrm>
          <a:prstGeom prst="rect">
            <a:avLst/>
          </a:prstGeom>
          <a:noFill/>
        </p:spPr>
        <p:txBody>
          <a:bodyPr wrap="square" rtlCol="0">
            <a:spAutoFit/>
          </a:bodyPr>
          <a:lstStyle/>
          <a:p>
            <a:r>
              <a:rPr lang="vi-VN" sz="2800" b="1" dirty="0">
                <a:solidFill>
                  <a:srgbClr val="000000"/>
                </a:solidFill>
                <a:effectLst/>
                <a:latin typeface="Times New Roman" panose="02020603050405020304" pitchFamily="18" charset="0"/>
                <a:ea typeface="Times New Roman" panose="02020603050405020304" pitchFamily="18" charset="0"/>
              </a:rPr>
              <a:t>I. ĐIỆN TRỞ</a:t>
            </a:r>
            <a:endParaRPr lang="en-US" sz="2800" dirty="0">
              <a:effectLst/>
              <a:latin typeface="Calibri" panose="020F0502020204030204" pitchFamily="34" charset="0"/>
              <a:ea typeface="Calibri" panose="020F0502020204030204" pitchFamily="34" charset="0"/>
            </a:endParaRPr>
          </a:p>
        </p:txBody>
      </p:sp>
      <p:sp>
        <p:nvSpPr>
          <p:cNvPr id="15" name="TextBox 14"/>
          <p:cNvSpPr txBox="1"/>
          <p:nvPr/>
        </p:nvSpPr>
        <p:spPr>
          <a:xfrm>
            <a:off x="537663" y="2152025"/>
            <a:ext cx="8318500" cy="830997"/>
          </a:xfrm>
          <a:prstGeom prst="rect">
            <a:avLst/>
          </a:prstGeom>
          <a:noFill/>
        </p:spPr>
        <p:txBody>
          <a:bodyPr wrap="square" rtlCol="0">
            <a:spAutoFit/>
          </a:bodyPr>
          <a:lstStyle/>
          <a:p>
            <a:pPr algn="l"/>
            <a:r>
              <a:rPr lang="vi-VN" sz="2400" dirty="0">
                <a:latin typeface="Times New Roman" panose="02020603050405020304" pitchFamily="18" charset="0"/>
                <a:cs typeface="Times New Roman" panose="02020603050405020304" pitchFamily="18" charset="0"/>
              </a:rPr>
              <a:t>Điện trở là đại lượng đặc trưng cho mức độ cản trở dòng điện của vật dẫn. Điện trở kí hiệu là R. </a:t>
            </a:r>
            <a:endParaRPr lang="en-US" sz="2400" dirty="0">
              <a:latin typeface="Times New Roman" panose="02020603050405020304" pitchFamily="18" charset="0"/>
              <a:cs typeface="Times New Roman" panose="02020603050405020304" pitchFamily="18" charset="0"/>
            </a:endParaRPr>
          </a:p>
        </p:txBody>
      </p:sp>
      <p:sp>
        <p:nvSpPr>
          <p:cNvPr id="21" name="Rectangle 2"/>
          <p:cNvSpPr>
            <a:spLocks noChangeArrowheads="1"/>
          </p:cNvSpPr>
          <p:nvPr/>
        </p:nvSpPr>
        <p:spPr bwMode="auto">
          <a:xfrm>
            <a:off x="2915820" y="329068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graphicFrame>
        <p:nvGraphicFramePr>
          <p:cNvPr id="23" name="Object 22"/>
          <p:cNvGraphicFramePr>
            <a:graphicFrameLocks noChangeAspect="1"/>
          </p:cNvGraphicFramePr>
          <p:nvPr/>
        </p:nvGraphicFramePr>
        <p:xfrm>
          <a:off x="4251660" y="2963338"/>
          <a:ext cx="1110080" cy="717867"/>
        </p:xfrm>
        <a:graphic>
          <a:graphicData uri="http://schemas.openxmlformats.org/presentationml/2006/ole">
            <mc:AlternateContent xmlns:mc="http://schemas.openxmlformats.org/markup-compatibility/2006">
              <mc:Choice xmlns:v="urn:schemas-microsoft-com:vml" Requires="v">
                <p:oleObj spid="_x0000_s5195" name="Equation" r:id="rId1" imgW="457200" imgH="393700" progId="Equation.DSMT4">
                  <p:embed/>
                </p:oleObj>
              </mc:Choice>
              <mc:Fallback>
                <p:oleObj name="Equation" r:id="rId1" imgW="457200" imgH="3937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1660" y="2963338"/>
                        <a:ext cx="1110080" cy="717867"/>
                      </a:xfrm>
                      <a:prstGeom prst="rect">
                        <a:avLst/>
                      </a:prstGeom>
                      <a:noFill/>
                    </p:spPr>
                  </p:pic>
                </p:oleObj>
              </mc:Fallback>
            </mc:AlternateContent>
          </a:graphicData>
        </a:graphic>
      </p:graphicFrame>
      <p:sp>
        <p:nvSpPr>
          <p:cNvPr id="28" name="TextBox 27"/>
          <p:cNvSpPr txBox="1"/>
          <p:nvPr/>
        </p:nvSpPr>
        <p:spPr>
          <a:xfrm>
            <a:off x="914400" y="3898900"/>
            <a:ext cx="5905500" cy="717865"/>
          </a:xfrm>
          <a:prstGeom prst="rect">
            <a:avLst/>
          </a:prstGeom>
          <a:noFill/>
        </p:spPr>
        <p:txBody>
          <a:bodyPr wrap="square" rtlCol="0">
            <a:spAutoFit/>
          </a:bodyPr>
          <a:lstStyle/>
          <a:p>
            <a:pPr algn="l"/>
            <a:endParaRPr lang="en-US" sz="2400"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757980" y="3661523"/>
            <a:ext cx="5905500" cy="717865"/>
          </a:xfrm>
          <a:prstGeom prst="rect">
            <a:avLst/>
          </a:prstGeom>
          <a:noFill/>
        </p:spPr>
        <p:txBody>
          <a:bodyPr wrap="square" rtlCol="0">
            <a:spAutoFit/>
          </a:bodyPr>
          <a:lstStyle/>
          <a:p>
            <a:pPr algn="l"/>
            <a:endParaRPr lang="en-US" sz="2400" dirty="0">
              <a:latin typeface="Times New Roman" panose="02020603050405020304" pitchFamily="18" charset="0"/>
              <a:cs typeface="Times New Roman" panose="02020603050405020304" pitchFamily="18" charset="0"/>
            </a:endParaRPr>
          </a:p>
        </p:txBody>
      </p:sp>
      <p:grpSp>
        <p:nvGrpSpPr>
          <p:cNvPr id="32" name="Group 31"/>
          <p:cNvGrpSpPr/>
          <p:nvPr/>
        </p:nvGrpSpPr>
        <p:grpSpPr>
          <a:xfrm>
            <a:off x="1240727" y="3715942"/>
            <a:ext cx="4855273" cy="461665"/>
            <a:chOff x="1735023" y="3715860"/>
            <a:chExt cx="4855273" cy="461665"/>
          </a:xfrm>
        </p:grpSpPr>
        <p:sp>
          <p:nvSpPr>
            <p:cNvPr id="41" name="Rectangle 5"/>
            <p:cNvSpPr>
              <a:spLocks noChangeArrowheads="1"/>
            </p:cNvSpPr>
            <p:nvPr/>
          </p:nvSpPr>
          <p:spPr bwMode="auto">
            <a:xfrm>
              <a:off x="1735023" y="3715860"/>
              <a:ext cx="485527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Đơn</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vị</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là</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Ohm (</a:t>
              </a:r>
              <a:r>
                <a:rPr kumimoji="0" lang="en-US" altLang="en-US" sz="24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Ôm</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kí</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hiệu</a:t>
              </a:r>
              <a:r>
                <a:rPr kumimoji="0" lang="en-US" altLang="en-US" sz="2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là</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42" name="Object 41"/>
            <p:cNvGraphicFramePr>
              <a:graphicFrameLocks noChangeAspect="1"/>
            </p:cNvGraphicFramePr>
            <p:nvPr/>
          </p:nvGraphicFramePr>
          <p:xfrm>
            <a:off x="5728703" y="3741260"/>
            <a:ext cx="354597" cy="354597"/>
          </p:xfrm>
          <a:graphic>
            <a:graphicData uri="http://schemas.openxmlformats.org/presentationml/2006/ole">
              <mc:AlternateContent xmlns:mc="http://schemas.openxmlformats.org/markup-compatibility/2006">
                <mc:Choice xmlns:v="urn:schemas-microsoft-com:vml" Requires="v">
                  <p:oleObj spid="_x0000_s2" name="Equation" r:id="rId3" imgW="165100" imgH="165100" progId="Equation.DSMT4">
                    <p:embed/>
                  </p:oleObj>
                </mc:Choice>
                <mc:Fallback>
                  <p:oleObj name="Equation" r:id="rId3" imgW="165100" imgH="165100" progId="Equation.DSMT4">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8703" y="3741260"/>
                          <a:ext cx="354597" cy="354597"/>
                        </a:xfrm>
                        <a:prstGeom prst="rect">
                          <a:avLst/>
                        </a:prstGeom>
                        <a:noFill/>
                      </p:spPr>
                    </p:pic>
                  </p:oleObj>
                </mc:Fallback>
              </mc:AlternateContent>
            </a:graphicData>
          </a:graphic>
        </p:graphicFrame>
      </p:grpSp>
      <p:graphicFrame>
        <p:nvGraphicFramePr>
          <p:cNvPr id="33" name="Object 32"/>
          <p:cNvGraphicFramePr>
            <a:graphicFrameLocks noChangeAspect="1"/>
          </p:cNvGraphicFramePr>
          <p:nvPr/>
        </p:nvGraphicFramePr>
        <p:xfrm>
          <a:off x="3392314" y="4412953"/>
          <a:ext cx="1262333" cy="877215"/>
        </p:xfrm>
        <a:graphic>
          <a:graphicData uri="http://schemas.openxmlformats.org/presentationml/2006/ole">
            <mc:AlternateContent xmlns:mc="http://schemas.openxmlformats.org/markup-compatibility/2006">
              <mc:Choice xmlns:v="urn:schemas-microsoft-com:vml" Requires="v">
                <p:oleObj spid="_x0000_s3" name="Equation" r:id="rId5" imgW="561975" imgH="390525" progId="Equation.DSMT4">
                  <p:embed/>
                </p:oleObj>
              </mc:Choice>
              <mc:Fallback>
                <p:oleObj name="Equation" r:id="rId5" imgW="561975" imgH="390525" progId="Equation.DSMT4">
                  <p:embed/>
                  <p:pic>
                    <p:nvPicPr>
                      <p:cNvPr id="0" name="Picture 2"/>
                      <p:cNvPicPr/>
                      <p:nvPr/>
                    </p:nvPicPr>
                    <p:blipFill>
                      <a:blip r:embed="rId6"/>
                      <a:stretch>
                        <a:fillRect/>
                      </a:stretch>
                    </p:blipFill>
                    <p:spPr>
                      <a:xfrm>
                        <a:off x="3392314" y="4412953"/>
                        <a:ext cx="1262333" cy="87721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2" name="TextBox 1"/>
          <p:cNvSpPr txBox="1"/>
          <p:nvPr/>
        </p:nvSpPr>
        <p:spPr>
          <a:xfrm>
            <a:off x="470263" y="1201175"/>
            <a:ext cx="4611188" cy="461665"/>
          </a:xfrm>
          <a:prstGeom prst="rect">
            <a:avLst/>
          </a:prstGeom>
          <a:noFill/>
        </p:spPr>
        <p:txBody>
          <a:bodyPr wrap="square" rtlCol="0">
            <a:spAutoFit/>
          </a:bodyPr>
          <a:lstStyle/>
          <a:p>
            <a:pPr algn="l"/>
            <a:r>
              <a:rPr lang="en-US" sz="2400" b="1" dirty="0">
                <a:latin typeface="Times New Roman" panose="02020603050405020304" pitchFamily="18" charset="0"/>
                <a:cs typeface="Times New Roman" panose="02020603050405020304" pitchFamily="18" charset="0"/>
              </a:rPr>
              <a:t>3.</a:t>
            </a:r>
            <a:r>
              <a:rPr lang="vi-VN" sz="2400" b="1" dirty="0">
                <a:latin typeface="Times New Roman" panose="02020603050405020304" pitchFamily="18" charset="0"/>
                <a:cs typeface="Times New Roman" panose="02020603050405020304" pitchFamily="18" charset="0"/>
              </a:rPr>
              <a:t> Đường được trưng vôn-ampe</a:t>
            </a:r>
            <a:r>
              <a:rPr lang="en-US"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390510" y="740418"/>
            <a:ext cx="2835357" cy="523220"/>
          </a:xfrm>
          <a:prstGeom prst="rect">
            <a:avLst/>
          </a:prstGeom>
          <a:noFill/>
        </p:spPr>
        <p:txBody>
          <a:bodyPr wrap="square" rtlCol="0">
            <a:spAutoFit/>
          </a:bodyPr>
          <a:lstStyle/>
          <a:p>
            <a:r>
              <a:rPr lang="vi-VN" sz="2800" b="1" dirty="0">
                <a:solidFill>
                  <a:srgbClr val="000000"/>
                </a:solidFill>
                <a:effectLst/>
                <a:latin typeface="Times New Roman" panose="02020603050405020304" pitchFamily="18" charset="0"/>
                <a:ea typeface="Times New Roman" panose="02020603050405020304" pitchFamily="18" charset="0"/>
              </a:rPr>
              <a:t>I. ĐIỆN TRỞ</a:t>
            </a:r>
            <a:endParaRPr lang="en-US" sz="2800" dirty="0">
              <a:effectLst/>
              <a:latin typeface="Calibri" panose="020F0502020204030204" pitchFamily="34" charset="0"/>
              <a:ea typeface="Calibri" panose="020F0502020204030204" pitchFamily="34" charset="0"/>
            </a:endParaRPr>
          </a:p>
        </p:txBody>
      </p:sp>
      <p:pic>
        <p:nvPicPr>
          <p:cNvPr id="3" name="Picture 2"/>
          <p:cNvPicPr>
            <a:picLocks noChangeAspect="1"/>
          </p:cNvPicPr>
          <p:nvPr/>
        </p:nvPicPr>
        <p:blipFill>
          <a:blip r:embed="rId1"/>
          <a:stretch>
            <a:fillRect/>
          </a:stretch>
        </p:blipFill>
        <p:spPr>
          <a:xfrm>
            <a:off x="7976344" y="577269"/>
            <a:ext cx="3449583" cy="4738935"/>
          </a:xfrm>
          <a:prstGeom prst="rect">
            <a:avLst/>
          </a:prstGeom>
        </p:spPr>
      </p:pic>
      <p:sp>
        <p:nvSpPr>
          <p:cNvPr id="6" name="Flowchart: Sequential Access Storage 5"/>
          <p:cNvSpPr/>
          <p:nvPr/>
        </p:nvSpPr>
        <p:spPr>
          <a:xfrm>
            <a:off x="822959" y="1744845"/>
            <a:ext cx="3905795" cy="1974686"/>
          </a:xfrm>
          <a:prstGeom prst="flowChartMagneticTape">
            <a:avLst/>
          </a:prstGeom>
        </p:spPr>
        <p:style>
          <a:lnRef idx="2">
            <a:schemeClr val="accent6"/>
          </a:lnRef>
          <a:fillRef idx="1">
            <a:schemeClr val="lt1"/>
          </a:fillRef>
          <a:effectRef idx="0">
            <a:schemeClr val="accent6"/>
          </a:effectRef>
          <a:fontRef idx="minor">
            <a:schemeClr val="dk1"/>
          </a:fontRef>
        </p:style>
        <p:txBody>
          <a:bodyPr rtlCol="0" anchor="ctr"/>
          <a:lstStyle/>
          <a:p>
            <a:pPr algn="just">
              <a:spcAft>
                <a:spcPts val="800"/>
              </a:spcAft>
            </a:pPr>
            <a:r>
              <a:rPr lang="en-US" sz="2400" dirty="0" err="1">
                <a:latin typeface="Times New Roman" panose="02020603050405020304" pitchFamily="18" charset="0"/>
                <a:ea typeface="Times New Roman" panose="02020603050405020304" pitchFamily="18" charset="0"/>
              </a:rPr>
              <a:t>Mỗi</a:t>
            </a:r>
            <a:r>
              <a:rPr lang="vi-VN" sz="2400" dirty="0">
                <a:effectLst/>
                <a:latin typeface="Times New Roman" panose="02020603050405020304" pitchFamily="18" charset="0"/>
                <a:ea typeface="Times New Roman" panose="02020603050405020304" pitchFamily="18" charset="0"/>
              </a:rPr>
              <a:t> học sinh từ bẳng số liệu 23.2 về đồ thị </a:t>
            </a:r>
            <a:r>
              <a:rPr lang="vi-VN" sz="2400" dirty="0">
                <a:solidFill>
                  <a:srgbClr val="000000"/>
                </a:solidFill>
                <a:effectLst/>
                <a:latin typeface="Times New Roman" panose="02020603050405020304" pitchFamily="18" charset="0"/>
                <a:ea typeface="Calibri" panose="020F0502020204030204" pitchFamily="34" charset="0"/>
              </a:rPr>
              <a:t>I - U  và đưa ra nhận xét. </a:t>
            </a:r>
            <a:endParaRPr lang="en-US" sz="2400" dirty="0">
              <a:effectLst/>
              <a:latin typeface="Calibri" panose="020F0502020204030204" pitchFamily="34" charset="0"/>
              <a:ea typeface="Calibri" panose="020F0502020204030204" pitchFamily="34" charset="0"/>
            </a:endParaRPr>
          </a:p>
        </p:txBody>
      </p:sp>
      <p:pic>
        <p:nvPicPr>
          <p:cNvPr id="9" name="Picture 8"/>
          <p:cNvPicPr>
            <a:picLocks noChangeAspect="1"/>
          </p:cNvPicPr>
          <p:nvPr/>
        </p:nvPicPr>
        <p:blipFill>
          <a:blip r:embed="rId2"/>
          <a:stretch>
            <a:fillRect/>
          </a:stretch>
        </p:blipFill>
        <p:spPr>
          <a:xfrm>
            <a:off x="4546609" y="3429000"/>
            <a:ext cx="3077038" cy="30003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10" name="TextBox 9"/>
          <p:cNvSpPr txBox="1"/>
          <p:nvPr/>
        </p:nvSpPr>
        <p:spPr>
          <a:xfrm>
            <a:off x="470263" y="1201175"/>
            <a:ext cx="4611188" cy="461665"/>
          </a:xfrm>
          <a:prstGeom prst="rect">
            <a:avLst/>
          </a:prstGeom>
          <a:noFill/>
        </p:spPr>
        <p:txBody>
          <a:bodyPr wrap="square" rtlCol="0">
            <a:spAutoFit/>
          </a:bodyPr>
          <a:lstStyle/>
          <a:p>
            <a:pPr algn="l"/>
            <a:r>
              <a:rPr lang="en-US" sz="2400" b="1" dirty="0">
                <a:latin typeface="Times New Roman" panose="02020603050405020304" pitchFamily="18" charset="0"/>
                <a:cs typeface="Times New Roman" panose="02020603050405020304" pitchFamily="18" charset="0"/>
              </a:rPr>
              <a:t>3.</a:t>
            </a:r>
            <a:r>
              <a:rPr lang="vi-VN" sz="2400" b="1" dirty="0">
                <a:latin typeface="Times New Roman" panose="02020603050405020304" pitchFamily="18" charset="0"/>
                <a:cs typeface="Times New Roman" panose="02020603050405020304" pitchFamily="18" charset="0"/>
              </a:rPr>
              <a:t> Đường được trưng vôn-ampe</a:t>
            </a:r>
            <a:r>
              <a:rPr lang="en-US"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390510" y="740418"/>
            <a:ext cx="2835357" cy="523220"/>
          </a:xfrm>
          <a:prstGeom prst="rect">
            <a:avLst/>
          </a:prstGeom>
          <a:noFill/>
        </p:spPr>
        <p:txBody>
          <a:bodyPr wrap="square" rtlCol="0">
            <a:spAutoFit/>
          </a:bodyPr>
          <a:lstStyle/>
          <a:p>
            <a:r>
              <a:rPr lang="vi-VN" sz="2800" b="1" dirty="0">
                <a:solidFill>
                  <a:srgbClr val="000000"/>
                </a:solidFill>
                <a:effectLst/>
                <a:latin typeface="Times New Roman" panose="02020603050405020304" pitchFamily="18" charset="0"/>
                <a:ea typeface="Times New Roman" panose="02020603050405020304" pitchFamily="18" charset="0"/>
              </a:rPr>
              <a:t>I. ĐIỆN TRỞ</a:t>
            </a:r>
            <a:endParaRPr lang="en-US" sz="2800" dirty="0">
              <a:effectLst/>
              <a:latin typeface="Calibri" panose="020F0502020204030204" pitchFamily="34" charset="0"/>
              <a:ea typeface="Calibri" panose="020F0502020204030204" pitchFamily="34" charset="0"/>
            </a:endParaRPr>
          </a:p>
        </p:txBody>
      </p:sp>
      <p:sp>
        <p:nvSpPr>
          <p:cNvPr id="2" name="TextBox 1"/>
          <p:cNvSpPr txBox="1"/>
          <p:nvPr/>
        </p:nvSpPr>
        <p:spPr>
          <a:xfrm>
            <a:off x="470263" y="1868095"/>
            <a:ext cx="10711543" cy="954107"/>
          </a:xfrm>
          <a:prstGeom prst="rect">
            <a:avLst/>
          </a:prstGeom>
          <a:noFill/>
        </p:spPr>
        <p:txBody>
          <a:bodyPr wrap="square" rtlCol="0">
            <a:spAutoFit/>
          </a:bodyPr>
          <a:lstStyle/>
          <a:p>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Đường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đặc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trưng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vôn-ampe</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là</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đồ</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thị</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biểu</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diễn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sự</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phụ</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thuộc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giữa</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hiệu</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điện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thế</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đặt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vào</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và</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dòng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điện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chạy</a:t>
            </a:r>
            <a:r>
              <a:rPr lang="en-US" sz="2800" dirty="0">
                <a:solidFill>
                  <a:srgbClr val="000000"/>
                </a:solidFill>
                <a:effectLst/>
                <a:latin typeface="Times New Roman" panose="02020603050405020304" pitchFamily="18" charset="0"/>
                <a:ea typeface="Times New Roman" panose="02020603050405020304" pitchFamily="18" charset="0"/>
              </a:rPr>
              <a:t> qua </a:t>
            </a:r>
            <a:r>
              <a:rPr lang="en-US" sz="2800" dirty="0" err="1">
                <a:solidFill>
                  <a:srgbClr val="000000"/>
                </a:solidFill>
                <a:effectLst/>
                <a:latin typeface="Times New Roman" panose="02020603050405020304" pitchFamily="18" charset="0"/>
                <a:ea typeface="Times New Roman" panose="02020603050405020304" pitchFamily="18" charset="0"/>
              </a:rPr>
              <a:t>linh</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kiện</a:t>
            </a:r>
            <a:r>
              <a:rPr lang="en-US" sz="2800" dirty="0">
                <a:solidFill>
                  <a:srgbClr val="000000"/>
                </a:solidFill>
                <a:effectLst/>
                <a:latin typeface="Times New Roman" panose="02020603050405020304" pitchFamily="18" charset="0"/>
                <a:ea typeface="Times New Roman" panose="02020603050405020304" pitchFamily="18" charset="0"/>
              </a:rPr>
              <a:t>.</a:t>
            </a:r>
            <a:endParaRPr lang="en-US" sz="2800" dirty="0">
              <a:effectLst/>
              <a:latin typeface="Calibri" panose="020F0502020204030204" pitchFamily="34" charset="0"/>
              <a:ea typeface="Calibri" panose="020F0502020204030204" pitchFamily="34" charset="0"/>
            </a:endParaRPr>
          </a:p>
        </p:txBody>
      </p:sp>
      <p:grpSp>
        <p:nvGrpSpPr>
          <p:cNvPr id="14" name="Group 13"/>
          <p:cNvGrpSpPr/>
          <p:nvPr/>
        </p:nvGrpSpPr>
        <p:grpSpPr>
          <a:xfrm>
            <a:off x="451711" y="2919946"/>
            <a:ext cx="10748646" cy="954107"/>
            <a:chOff x="451711" y="2919946"/>
            <a:chExt cx="10748646" cy="954107"/>
          </a:xfrm>
        </p:grpSpPr>
        <p:sp>
          <p:nvSpPr>
            <p:cNvPr id="4" name="TextBox 3"/>
            <p:cNvSpPr txBox="1"/>
            <p:nvPr/>
          </p:nvSpPr>
          <p:spPr>
            <a:xfrm>
              <a:off x="451711" y="2919946"/>
              <a:ext cx="10748646" cy="954107"/>
            </a:xfrm>
            <a:prstGeom prst="rect">
              <a:avLst/>
            </a:prstGeom>
            <a:noFill/>
          </p:spPr>
          <p:txBody>
            <a:bodyPr wrap="square" rtlCol="0">
              <a:spAutoFit/>
            </a:bodyPr>
            <a:lstStyle/>
            <a:p>
              <a:pPr algn="l"/>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Đường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đặc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trưng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vôn-ampe</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của</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điện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trở</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là</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đồ</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thị</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hàm</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bậc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nhất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xuất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phát</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từ</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gốc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tọa</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a:t>
              </a:r>
              <a:r>
                <a:rPr lang="en-US" sz="2800" dirty="0">
                  <a:solidFill>
                    <a:srgbClr val="000000"/>
                  </a:solidFill>
                  <a:effectLst/>
                  <a:latin typeface="Times New Roman" panose="02020603050405020304" pitchFamily="18" charset="0"/>
                  <a:ea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graphicFrame>
          <p:nvGraphicFramePr>
            <p:cNvPr id="9" name="Object 8"/>
            <p:cNvGraphicFramePr>
              <a:graphicFrameLocks noChangeAspect="1"/>
            </p:cNvGraphicFramePr>
            <p:nvPr/>
          </p:nvGraphicFramePr>
          <p:xfrm>
            <a:off x="3343433" y="3479817"/>
            <a:ext cx="980372" cy="375717"/>
          </p:xfrm>
          <a:graphic>
            <a:graphicData uri="http://schemas.openxmlformats.org/presentationml/2006/ole">
              <mc:AlternateContent xmlns:mc="http://schemas.openxmlformats.org/markup-compatibility/2006">
                <mc:Choice xmlns:v="urn:schemas-microsoft-com:vml" Requires="v">
                  <p:oleObj spid="_x0000_s5195" name="Equation" r:id="rId1" imgW="448945" imgH="181610" progId="Equation.DSMT4">
                    <p:embed/>
                  </p:oleObj>
                </mc:Choice>
                <mc:Fallback>
                  <p:oleObj name="Equation" r:id="rId1" imgW="448945" imgH="181610" progId="Equation.DSMT4">
                    <p:embed/>
                    <p:pic>
                      <p:nvPicPr>
                        <p:cNvPr id="0" name="Picture 5194"/>
                        <p:cNvPicPr/>
                        <p:nvPr/>
                      </p:nvPicPr>
                      <p:blipFill>
                        <a:blip r:embed="rId2"/>
                        <a:stretch>
                          <a:fillRect/>
                        </a:stretch>
                      </p:blipFill>
                      <p:spPr>
                        <a:xfrm>
                          <a:off x="3343433" y="3479817"/>
                          <a:ext cx="980372" cy="375717"/>
                        </a:xfrm>
                        <a:prstGeom prst="rect">
                          <a:avLst/>
                        </a:prstGeom>
                      </p:spPr>
                    </p:pic>
                  </p:oleObj>
                </mc:Fallback>
              </mc:AlternateContent>
            </a:graphicData>
          </a:graphic>
        </p:graphicFrame>
      </p:grpSp>
      <p:grpSp>
        <p:nvGrpSpPr>
          <p:cNvPr id="21" name="Group 20"/>
          <p:cNvGrpSpPr/>
          <p:nvPr/>
        </p:nvGrpSpPr>
        <p:grpSpPr>
          <a:xfrm>
            <a:off x="757980" y="4050058"/>
            <a:ext cx="9901311" cy="944231"/>
            <a:chOff x="757980" y="4050058"/>
            <a:chExt cx="9901311" cy="944231"/>
          </a:xfrm>
        </p:grpSpPr>
        <p:sp>
          <p:nvSpPr>
            <p:cNvPr id="15" name="TextBox 14"/>
            <p:cNvSpPr txBox="1"/>
            <p:nvPr/>
          </p:nvSpPr>
          <p:spPr>
            <a:xfrm>
              <a:off x="757980" y="4101737"/>
              <a:ext cx="9901311" cy="892552"/>
            </a:xfrm>
            <a:prstGeom prst="rect">
              <a:avLst/>
            </a:prstGeom>
            <a:noFill/>
          </p:spPr>
          <p:txBody>
            <a:bodyPr wrap="square" rtlCol="0">
              <a:spAutoFit/>
            </a:bodyPr>
            <a:lstStyle/>
            <a:p>
              <a:r>
                <a:rPr lang="en-US" sz="2800" dirty="0" err="1">
                  <a:solidFill>
                    <a:srgbClr val="000000"/>
                  </a:solidFill>
                  <a:effectLst/>
                  <a:latin typeface="Times New Roman" panose="02020603050405020304" pitchFamily="18" charset="0"/>
                  <a:ea typeface="Times New Roman" panose="02020603050405020304" pitchFamily="18" charset="0"/>
                </a:rPr>
                <a:t>Với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là</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hằng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số</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không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đổi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gọi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là</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dẫn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điện</a:t>
              </a:r>
              <a:r>
                <a:rPr lang="en-US" sz="2800" dirty="0">
                  <a:solidFill>
                    <a:srgbClr val="000000"/>
                  </a:solidFill>
                  <a:effectLst/>
                  <a:latin typeface="Times New Roman" panose="02020603050405020304" pitchFamily="18" charset="0"/>
                  <a:ea typeface="Times New Roman" panose="02020603050405020304" pitchFamily="18" charset="0"/>
                </a:rPr>
                <a:t>. </a:t>
              </a:r>
              <a:endParaRPr lang="en-US" sz="2800" dirty="0">
                <a:effectLst/>
                <a:latin typeface="Calibri" panose="020F0502020204030204" pitchFamily="34" charset="0"/>
                <a:ea typeface="Calibri" panose="020F0502020204030204" pitchFamily="34" charset="0"/>
              </a:endParaRPr>
            </a:p>
            <a:p>
              <a:pPr algn="l"/>
              <a:endParaRPr lang="en-US" sz="2400" dirty="0">
                <a:latin typeface="Times New Roman" panose="02020603050405020304" pitchFamily="18" charset="0"/>
                <a:cs typeface="Times New Roman" panose="02020603050405020304" pitchFamily="18" charset="0"/>
              </a:endParaRPr>
            </a:p>
          </p:txBody>
        </p:sp>
        <p:graphicFrame>
          <p:nvGraphicFramePr>
            <p:cNvPr id="17" name="Object 16"/>
            <p:cNvGraphicFramePr>
              <a:graphicFrameLocks noChangeAspect="1"/>
            </p:cNvGraphicFramePr>
            <p:nvPr/>
          </p:nvGraphicFramePr>
          <p:xfrm>
            <a:off x="1847377" y="4050058"/>
            <a:ext cx="791321" cy="737367"/>
          </p:xfrm>
          <a:graphic>
            <a:graphicData uri="http://schemas.openxmlformats.org/presentationml/2006/ole">
              <mc:AlternateContent xmlns:mc="http://schemas.openxmlformats.org/markup-compatibility/2006">
                <mc:Choice xmlns:v="urn:schemas-microsoft-com:vml" Requires="v">
                  <p:oleObj spid="_x0000_s3" name="Equation" r:id="rId3" imgW="419735" imgH="390525" progId="Equation.DSMT4">
                    <p:embed/>
                  </p:oleObj>
                </mc:Choice>
                <mc:Fallback>
                  <p:oleObj name="Equation" r:id="rId3" imgW="419735" imgH="390525" progId="Equation.DSMT4">
                    <p:embed/>
                    <p:pic>
                      <p:nvPicPr>
                        <p:cNvPr id="0" name="Picture 2"/>
                        <p:cNvPicPr/>
                        <p:nvPr/>
                      </p:nvPicPr>
                      <p:blipFill>
                        <a:blip r:embed="rId4"/>
                        <a:stretch>
                          <a:fillRect/>
                        </a:stretch>
                      </p:blipFill>
                      <p:spPr>
                        <a:xfrm>
                          <a:off x="1847377" y="4050058"/>
                          <a:ext cx="791321" cy="737367"/>
                        </a:xfrm>
                        <a:prstGeom prst="rect">
                          <a:avLst/>
                        </a:prstGeom>
                      </p:spPr>
                    </p:pic>
                  </p:oleObj>
                </mc:Fallback>
              </mc:AlternateContent>
            </a:graphicData>
          </a:graphic>
        </p:graphicFrame>
      </p:grpSp>
      <p:sp>
        <p:nvSpPr>
          <p:cNvPr id="23" name="TextBox 22"/>
          <p:cNvSpPr txBox="1"/>
          <p:nvPr/>
        </p:nvSpPr>
        <p:spPr>
          <a:xfrm>
            <a:off x="537663" y="4738365"/>
            <a:ext cx="10293197" cy="954107"/>
          </a:xfrm>
          <a:prstGeom prst="rect">
            <a:avLst/>
          </a:prstGeom>
          <a:noFill/>
        </p:spPr>
        <p:txBody>
          <a:bodyPr wrap="square" rtlCol="0">
            <a:spAutoFit/>
          </a:bodyPr>
          <a:lstStyle/>
          <a:p>
            <a:pPr algn="l"/>
            <a:r>
              <a:rPr lang="en-US" sz="2400" dirty="0">
                <a:latin typeface="Times New Roman" panose="02020603050405020304" pitchFamily="18" charset="0"/>
                <a:cs typeface="Times New Roman" panose="02020603050405020304" pitchFamily="18" charset="0"/>
              </a:rPr>
              <a:t>+ </a:t>
            </a:r>
            <a:r>
              <a:rPr lang="en-US" sz="2800" dirty="0" err="1">
                <a:solidFill>
                  <a:srgbClr val="000000"/>
                </a:solidFill>
                <a:latin typeface="Times New Roman" panose="02020603050405020304" pitchFamily="18" charset="0"/>
                <a:cs typeface="Times New Roman" panose="02020603050405020304" pitchFamily="18" charset="0"/>
              </a:rPr>
              <a:t>Đ</a:t>
            </a:r>
            <a:r>
              <a:rPr lang="en-US" sz="2800" dirty="0" err="1">
                <a:solidFill>
                  <a:srgbClr val="000000"/>
                </a:solidFill>
                <a:effectLst/>
                <a:latin typeface="Times New Roman" panose="02020603050405020304" pitchFamily="18" charset="0"/>
                <a:ea typeface="Times New Roman" panose="02020603050405020304" pitchFamily="18" charset="0"/>
              </a:rPr>
              <a:t>ường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đặc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trưng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Vôn-ampe</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là</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đường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thẳng</a:t>
            </a:r>
            <a:r>
              <a:rPr lang="en-US" sz="2800" dirty="0">
                <a:solidFill>
                  <a:srgbClr val="000000"/>
                </a:solidFill>
                <a:effectLst/>
                <a:latin typeface="Times New Roman" panose="02020603050405020304" pitchFamily="18" charset="0"/>
                <a:ea typeface="Times New Roman" panose="02020603050405020304" pitchFamily="18" charset="0"/>
              </a:rPr>
              <a:t> qua </a:t>
            </a:r>
            <a:r>
              <a:rPr lang="en-US" sz="2800" dirty="0" err="1">
                <a:solidFill>
                  <a:srgbClr val="000000"/>
                </a:solidFill>
                <a:effectLst/>
                <a:latin typeface="Times New Roman" panose="02020603050405020304" pitchFamily="18" charset="0"/>
                <a:ea typeface="Times New Roman" panose="02020603050405020304" pitchFamily="18" charset="0"/>
              </a:rPr>
              <a:t>gốc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tọa</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có</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độ</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dốc</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càng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lớn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khi</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điện</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trở</a:t>
            </a:r>
            <a:r>
              <a:rPr lang="en-US" sz="2800" dirty="0">
                <a:solidFill>
                  <a:srgbClr val="000000"/>
                </a:solidFill>
                <a:effectLst/>
                <a:latin typeface="Times New Roman" panose="02020603050405020304" pitchFamily="18" charset="0"/>
                <a:ea typeface="Times New Roman" panose="02020603050405020304" pitchFamily="18" charset="0"/>
              </a:rPr>
              <a:t> R </a:t>
            </a:r>
            <a:r>
              <a:rPr lang="en-US" sz="2800" dirty="0" err="1">
                <a:solidFill>
                  <a:srgbClr val="000000"/>
                </a:solidFill>
                <a:effectLst/>
                <a:latin typeface="Times New Roman" panose="02020603050405020304" pitchFamily="18" charset="0"/>
                <a:ea typeface="Times New Roman" panose="02020603050405020304" pitchFamily="18" charset="0"/>
              </a:rPr>
              <a:t>càng</a:t>
            </a:r>
            <a:r>
              <a:rPr lang="en-US" sz="2800" dirty="0">
                <a:solidFill>
                  <a:srgbClr val="000000"/>
                </a:solidFill>
                <a:effectLst/>
                <a:latin typeface="Times New Roman" panose="02020603050405020304" pitchFamily="18" charset="0"/>
                <a:ea typeface="Times New Roman" panose="02020603050405020304" pitchFamily="18" charset="0"/>
              </a:rPr>
              <a:t> </a:t>
            </a:r>
            <a:r>
              <a:rPr lang="en-US" sz="2800" dirty="0" err="1">
                <a:solidFill>
                  <a:srgbClr val="000000"/>
                </a:solidFill>
                <a:effectLst/>
                <a:latin typeface="Times New Roman" panose="02020603050405020304" pitchFamily="18" charset="0"/>
                <a:ea typeface="Times New Roman" panose="02020603050405020304" pitchFamily="18" charset="0"/>
              </a:rPr>
              <a:t>nhỏ</a:t>
            </a:r>
            <a:r>
              <a:rPr lang="en-US" sz="2800" dirty="0">
                <a:solidFill>
                  <a:srgbClr val="000000"/>
                </a:solidFill>
                <a:effectLst/>
                <a:latin typeface="Times New Roman" panose="02020603050405020304" pitchFamily="18" charset="0"/>
                <a:ea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10" name="TextBox 9"/>
          <p:cNvSpPr txBox="1"/>
          <p:nvPr/>
        </p:nvSpPr>
        <p:spPr>
          <a:xfrm>
            <a:off x="470263" y="1201175"/>
            <a:ext cx="4611188" cy="461665"/>
          </a:xfrm>
          <a:prstGeom prst="rect">
            <a:avLst/>
          </a:prstGeom>
          <a:noFill/>
        </p:spPr>
        <p:txBody>
          <a:bodyPr wrap="square" rtlCol="0">
            <a:spAutoFit/>
          </a:bodyPr>
          <a:lstStyle/>
          <a:p>
            <a:pPr algn="l"/>
            <a:r>
              <a:rPr lang="en-US" sz="2400" b="1" dirty="0">
                <a:latin typeface="Times New Roman" panose="02020603050405020304" pitchFamily="18" charset="0"/>
                <a:cs typeface="Times New Roman" panose="02020603050405020304" pitchFamily="18" charset="0"/>
              </a:rPr>
              <a:t>3.</a:t>
            </a:r>
            <a:r>
              <a:rPr lang="vi-VN" sz="2400" b="1" dirty="0">
                <a:latin typeface="Times New Roman" panose="02020603050405020304" pitchFamily="18" charset="0"/>
                <a:cs typeface="Times New Roman" panose="02020603050405020304" pitchFamily="18" charset="0"/>
              </a:rPr>
              <a:t> Đường được trưng vôn-ampe</a:t>
            </a:r>
            <a:r>
              <a:rPr lang="en-US"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390510" y="740418"/>
            <a:ext cx="2835357" cy="523220"/>
          </a:xfrm>
          <a:prstGeom prst="rect">
            <a:avLst/>
          </a:prstGeom>
          <a:noFill/>
        </p:spPr>
        <p:txBody>
          <a:bodyPr wrap="square" rtlCol="0">
            <a:spAutoFit/>
          </a:bodyPr>
          <a:lstStyle/>
          <a:p>
            <a:r>
              <a:rPr lang="vi-VN" sz="2800" b="1" dirty="0">
                <a:solidFill>
                  <a:srgbClr val="000000"/>
                </a:solidFill>
                <a:effectLst/>
                <a:latin typeface="Times New Roman" panose="02020603050405020304" pitchFamily="18" charset="0"/>
                <a:ea typeface="Times New Roman" panose="02020603050405020304" pitchFamily="18" charset="0"/>
              </a:rPr>
              <a:t>I. ĐIỆN TRỞ</a:t>
            </a:r>
            <a:endParaRPr lang="en-US" sz="2800" dirty="0">
              <a:effectLst/>
              <a:latin typeface="Calibri" panose="020F0502020204030204" pitchFamily="34" charset="0"/>
              <a:ea typeface="Calibri" panose="020F0502020204030204" pitchFamily="34" charset="0"/>
            </a:endParaRPr>
          </a:p>
        </p:txBody>
      </p:sp>
      <p:pic>
        <p:nvPicPr>
          <p:cNvPr id="2" name="Picture 1"/>
          <p:cNvPicPr>
            <a:picLocks noChangeAspect="1"/>
          </p:cNvPicPr>
          <p:nvPr/>
        </p:nvPicPr>
        <p:blipFill>
          <a:blip r:embed="rId1"/>
          <a:stretch>
            <a:fillRect/>
          </a:stretch>
        </p:blipFill>
        <p:spPr>
          <a:xfrm>
            <a:off x="390510" y="1653108"/>
            <a:ext cx="5801284" cy="2989697"/>
          </a:xfrm>
          <a:prstGeom prst="rect">
            <a:avLst/>
          </a:prstGeom>
        </p:spPr>
      </p:pic>
      <p:sp>
        <p:nvSpPr>
          <p:cNvPr id="3" name="TextBox 2"/>
          <p:cNvSpPr txBox="1"/>
          <p:nvPr/>
        </p:nvSpPr>
        <p:spPr>
          <a:xfrm>
            <a:off x="6879771" y="2062718"/>
            <a:ext cx="4524103" cy="1938992"/>
          </a:xfrm>
          <a:prstGeom prst="rect">
            <a:avLst/>
          </a:prstGeom>
          <a:noFill/>
        </p:spPr>
        <p:txBody>
          <a:bodyPr wrap="square" rtlCol="0">
            <a:spAutoFit/>
          </a:bodyPr>
          <a:lstStyle/>
          <a:p>
            <a:pPr algn="l"/>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1. </a:t>
            </a:r>
            <a:r>
              <a:rPr lang="en-US" sz="2400" dirty="0" err="1">
                <a:solidFill>
                  <a:srgbClr val="000000"/>
                </a:solidFill>
                <a:effectLst/>
                <a:latin typeface="Times New Roman" panose="02020603050405020304" pitchFamily="18" charset="0"/>
                <a:ea typeface="Times New Roman" panose="02020603050405020304" pitchFamily="18" charset="0"/>
              </a:rPr>
              <a:t>Đường</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đặc</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trưng</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vôn-ampe</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của</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điện</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trở</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là</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đoạn</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thẳng</a:t>
            </a:r>
            <a:r>
              <a:rPr lang="en-US" sz="2400" dirty="0">
                <a:solidFill>
                  <a:srgbClr val="000000"/>
                </a:solidFill>
                <a:effectLst/>
                <a:latin typeface="Times New Roman" panose="02020603050405020304" pitchFamily="18" charset="0"/>
                <a:ea typeface="Times New Roman" panose="02020603050405020304" pitchFamily="18" charset="0"/>
              </a:rPr>
              <a:t> qua </a:t>
            </a:r>
            <a:r>
              <a:rPr lang="en-US" sz="2400" dirty="0" err="1">
                <a:solidFill>
                  <a:srgbClr val="000000"/>
                </a:solidFill>
                <a:effectLst/>
                <a:latin typeface="Times New Roman" panose="02020603050405020304" pitchFamily="18" charset="0"/>
                <a:ea typeface="Times New Roman" panose="02020603050405020304" pitchFamily="18" charset="0"/>
              </a:rPr>
              <a:t>gốc</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tọa</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độ</a:t>
            </a:r>
            <a:r>
              <a:rPr lang="en-US" sz="2400" dirty="0">
                <a:solidFill>
                  <a:srgbClr val="000000"/>
                </a:solidFill>
                <a:effectLst/>
                <a:latin typeface="Times New Roman" panose="02020603050405020304" pitchFamily="18" charset="0"/>
                <a:ea typeface="Times New Roman" panose="02020603050405020304" pitchFamily="18" charset="0"/>
              </a:rPr>
              <a:t>. I </a:t>
            </a:r>
            <a:r>
              <a:rPr lang="en-US" sz="2400" dirty="0" err="1">
                <a:solidFill>
                  <a:srgbClr val="000000"/>
                </a:solidFill>
                <a:effectLst/>
                <a:latin typeface="Times New Roman" panose="02020603050405020304" pitchFamily="18" charset="0"/>
                <a:ea typeface="Times New Roman" panose="02020603050405020304" pitchFamily="18" charset="0"/>
              </a:rPr>
              <a:t>tỉ</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lệ</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thuận</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với</a:t>
            </a:r>
            <a:r>
              <a:rPr lang="en-US" sz="2400" dirty="0">
                <a:solidFill>
                  <a:srgbClr val="000000"/>
                </a:solidFill>
                <a:effectLst/>
                <a:latin typeface="Times New Roman" panose="02020603050405020304" pitchFamily="18" charset="0"/>
                <a:ea typeface="Times New Roman" panose="02020603050405020304" pitchFamily="18" charset="0"/>
              </a:rPr>
              <a:t> U. </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p:txBody>
      </p:sp>
      <p:grpSp>
        <p:nvGrpSpPr>
          <p:cNvPr id="8" name="Group 7"/>
          <p:cNvGrpSpPr/>
          <p:nvPr/>
        </p:nvGrpSpPr>
        <p:grpSpPr>
          <a:xfrm>
            <a:off x="6879771" y="4227306"/>
            <a:ext cx="4812861" cy="1569660"/>
            <a:chOff x="6879771" y="4227306"/>
            <a:chExt cx="4812861" cy="1569660"/>
          </a:xfrm>
        </p:grpSpPr>
        <p:sp>
          <p:nvSpPr>
            <p:cNvPr id="5" name="TextBox 4"/>
            <p:cNvSpPr txBox="1"/>
            <p:nvPr/>
          </p:nvSpPr>
          <p:spPr>
            <a:xfrm>
              <a:off x="6879771" y="4227306"/>
              <a:ext cx="4812861" cy="1569660"/>
            </a:xfrm>
            <a:prstGeom prst="rect">
              <a:avLst/>
            </a:prstGeom>
            <a:noFill/>
          </p:spPr>
          <p:txBody>
            <a:bodyPr wrap="square" rtlCol="0">
              <a:spAutoFit/>
            </a:bodyPr>
            <a:lstStyle/>
            <a:p>
              <a:pPr algn="l"/>
              <a:r>
                <a:rPr lang="en-US" sz="2400" dirty="0">
                  <a:solidFill>
                    <a:srgbClr val="000000"/>
                  </a:solidFill>
                  <a:effectLst/>
                  <a:latin typeface="Times New Roman" panose="02020603050405020304" pitchFamily="18" charset="0"/>
                  <a:ea typeface="Times New Roman" panose="02020603050405020304" pitchFamily="18" charset="0"/>
                </a:rPr>
                <a:t>2. </a:t>
              </a:r>
              <a:r>
                <a:rPr lang="en-US" sz="2400" dirty="0" err="1">
                  <a:solidFill>
                    <a:srgbClr val="000000"/>
                  </a:solidFill>
                  <a:effectLst/>
                  <a:latin typeface="Times New Roman" panose="02020603050405020304" pitchFamily="18" charset="0"/>
                  <a:ea typeface="Times New Roman" panose="02020603050405020304" pitchFamily="18" charset="0"/>
                </a:rPr>
                <a:t>Độ</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dốc</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của</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đường</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đặc</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trưng</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vôn-ampe</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là</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nghịch</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đảo</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của</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điện</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trở</a:t>
              </a:r>
              <a:r>
                <a:rPr lang="en-US" sz="2400" dirty="0">
                  <a:solidFill>
                    <a:srgbClr val="000000"/>
                  </a:solidFill>
                  <a:effectLst/>
                  <a:latin typeface="Times New Roman" panose="02020603050405020304" pitchFamily="18" charset="0"/>
                  <a:ea typeface="Times New Roman" panose="02020603050405020304" pitchFamily="18" charset="0"/>
                </a:rPr>
                <a:t> </a:t>
              </a:r>
              <a:endParaRPr lang="en-US" sz="2400" dirty="0">
                <a:solidFill>
                  <a:srgbClr val="000000"/>
                </a:solidFill>
                <a:effectLst/>
                <a:latin typeface="Times New Roman" panose="02020603050405020304" pitchFamily="18" charset="0"/>
                <a:ea typeface="Times New Roman" panose="02020603050405020304" pitchFamily="18" charset="0"/>
              </a:endParaRPr>
            </a:p>
            <a:p>
              <a:pPr algn="l"/>
              <a:endParaRPr lang="en-US" sz="2400" dirty="0">
                <a:solidFill>
                  <a:srgbClr val="000000"/>
                </a:solidFill>
                <a:effectLst/>
                <a:latin typeface="Times New Roman" panose="02020603050405020304" pitchFamily="18" charset="0"/>
                <a:ea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p:txBody>
        </p:sp>
        <p:graphicFrame>
          <p:nvGraphicFramePr>
            <p:cNvPr id="7" name="Object 6"/>
            <p:cNvGraphicFramePr>
              <a:graphicFrameLocks noChangeAspect="1"/>
            </p:cNvGraphicFramePr>
            <p:nvPr/>
          </p:nvGraphicFramePr>
          <p:xfrm>
            <a:off x="7340985" y="5030798"/>
            <a:ext cx="1270718" cy="766168"/>
          </p:xfrm>
          <a:graphic>
            <a:graphicData uri="http://schemas.openxmlformats.org/presentationml/2006/ole">
              <mc:AlternateContent xmlns:mc="http://schemas.openxmlformats.org/markup-compatibility/2006">
                <mc:Choice xmlns:v="urn:schemas-microsoft-com:vml" Requires="v">
                  <p:oleObj spid="_x0000_s5195" name="Equation" r:id="rId2" imgW="648970" imgH="390525" progId="Equation.DSMT4">
                    <p:embed/>
                  </p:oleObj>
                </mc:Choice>
                <mc:Fallback>
                  <p:oleObj name="Equation" r:id="rId2" imgW="648970" imgH="390525" progId="Equation.DSMT4">
                    <p:embed/>
                    <p:pic>
                      <p:nvPicPr>
                        <p:cNvPr id="0" name="Picture 5194"/>
                        <p:cNvPicPr/>
                        <p:nvPr/>
                      </p:nvPicPr>
                      <p:blipFill>
                        <a:blip r:embed="rId3"/>
                        <a:stretch>
                          <a:fillRect/>
                        </a:stretch>
                      </p:blipFill>
                      <p:spPr>
                        <a:xfrm>
                          <a:off x="7340985" y="5030798"/>
                          <a:ext cx="1270718" cy="766168"/>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2" name="TextBox 1"/>
          <p:cNvSpPr txBox="1"/>
          <p:nvPr/>
        </p:nvSpPr>
        <p:spPr>
          <a:xfrm>
            <a:off x="522514" y="901337"/>
            <a:ext cx="3997235" cy="523220"/>
          </a:xfrm>
          <a:prstGeom prst="rect">
            <a:avLst/>
          </a:prstGeom>
          <a:noFill/>
        </p:spPr>
        <p:txBody>
          <a:bodyPr wrap="square" rtlCol="0">
            <a:spAutoFit/>
          </a:bodyPr>
          <a:lstStyle/>
          <a:p>
            <a:r>
              <a:rPr lang="vi-VN" sz="2800" b="1" dirty="0">
                <a:effectLst/>
                <a:latin typeface="Times New Roman" panose="02020603050405020304" pitchFamily="18" charset="0"/>
                <a:ea typeface="Calibri" panose="020F0502020204030204" pitchFamily="34" charset="0"/>
              </a:rPr>
              <a:t>II. ĐỊNHLUẬT OHM</a:t>
            </a:r>
            <a:endParaRPr lang="en-US" sz="2800" dirty="0">
              <a:effectLst/>
              <a:latin typeface="Calibri" panose="020F0502020204030204" pitchFamily="34" charset="0"/>
              <a:ea typeface="Calibri" panose="020F0502020204030204"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2" name="TextBox 1"/>
          <p:cNvSpPr txBox="1"/>
          <p:nvPr/>
        </p:nvSpPr>
        <p:spPr>
          <a:xfrm>
            <a:off x="522514" y="901337"/>
            <a:ext cx="3997235" cy="523220"/>
          </a:xfrm>
          <a:prstGeom prst="rect">
            <a:avLst/>
          </a:prstGeom>
          <a:noFill/>
        </p:spPr>
        <p:txBody>
          <a:bodyPr wrap="square" rtlCol="0">
            <a:spAutoFit/>
          </a:bodyPr>
          <a:lstStyle/>
          <a:p>
            <a:r>
              <a:rPr lang="vi-VN" sz="2800" b="1" dirty="0">
                <a:effectLst/>
                <a:latin typeface="Times New Roman" panose="02020603050405020304" pitchFamily="18" charset="0"/>
                <a:ea typeface="Calibri" panose="020F0502020204030204" pitchFamily="34" charset="0"/>
              </a:rPr>
              <a:t>II. ĐỊNHLUẬT OHM</a:t>
            </a:r>
            <a:endParaRPr lang="en-US" sz="2800" dirty="0">
              <a:effectLst/>
              <a:latin typeface="Calibri" panose="020F0502020204030204" pitchFamily="34" charset="0"/>
              <a:ea typeface="Calibri" panose="020F0502020204030204" pitchFamily="34" charset="0"/>
            </a:endParaRPr>
          </a:p>
        </p:txBody>
      </p:sp>
      <p:sp>
        <p:nvSpPr>
          <p:cNvPr id="4" name="TextBox 3"/>
          <p:cNvSpPr txBox="1"/>
          <p:nvPr/>
        </p:nvSpPr>
        <p:spPr>
          <a:xfrm>
            <a:off x="770709" y="1606731"/>
            <a:ext cx="10162902" cy="954107"/>
          </a:xfrm>
          <a:prstGeom prst="rect">
            <a:avLst/>
          </a:prstGeom>
          <a:noFill/>
        </p:spPr>
        <p:txBody>
          <a:bodyPr wrap="square" rtlCol="0">
            <a:spAutoFit/>
          </a:bodyPr>
          <a:lstStyle/>
          <a:p>
            <a:r>
              <a:rPr lang="vi-VN" sz="2800" i="1" dirty="0">
                <a:effectLst/>
                <a:latin typeface="Times New Roman" panose="02020603050405020304" pitchFamily="18" charset="0"/>
                <a:ea typeface="Calibri" panose="020F0502020204030204" pitchFamily="34" charset="0"/>
              </a:rPr>
              <a:t>Cường độ dòng điện chạy qua vật dẫn tỉ lệ thuận với hiệu điện thế ở hai đầu vật dẫn, tỉ lệ nghịch với điện trở của vật dẫn.</a:t>
            </a:r>
            <a:endParaRPr lang="en-US" sz="2800" dirty="0">
              <a:effectLst/>
              <a:latin typeface="Calibri" panose="020F0502020204030204" pitchFamily="34" charset="0"/>
              <a:ea typeface="Calibri" panose="020F0502020204030204" pitchFamily="34" charset="0"/>
            </a:endParaRPr>
          </a:p>
        </p:txBody>
      </p:sp>
      <p:sp>
        <p:nvSpPr>
          <p:cNvPr id="6" name="TextBox 5"/>
          <p:cNvSpPr txBox="1"/>
          <p:nvPr/>
        </p:nvSpPr>
        <p:spPr>
          <a:xfrm>
            <a:off x="653142" y="2743012"/>
            <a:ext cx="1867989" cy="523220"/>
          </a:xfrm>
          <a:prstGeom prst="rect">
            <a:avLst/>
          </a:prstGeom>
          <a:noFill/>
        </p:spPr>
        <p:txBody>
          <a:bodyPr wrap="square" rtlCol="0">
            <a:spAutoFit/>
          </a:bodyPr>
          <a:lstStyle/>
          <a:p>
            <a:pPr algn="l"/>
            <a:r>
              <a:rPr lang="vi-VN" sz="2800" b="1" i="1" dirty="0">
                <a:effectLst/>
                <a:latin typeface="Times New Roman" panose="02020603050405020304" pitchFamily="18" charset="0"/>
                <a:ea typeface="Calibri" panose="020F0502020204030204" pitchFamily="34" charset="0"/>
              </a:rPr>
              <a:t>Biểu thức</a:t>
            </a:r>
            <a:r>
              <a:rPr lang="vi-VN" sz="2800" i="1" dirty="0">
                <a:effectLst/>
                <a:latin typeface="Times New Roman" panose="02020603050405020304" pitchFamily="18" charset="0"/>
                <a:ea typeface="Calibri" panose="020F0502020204030204" pitchFamily="34" charset="0"/>
              </a:rPr>
              <a:t>:</a:t>
            </a:r>
            <a:endParaRPr lang="en-US" sz="2800" dirty="0">
              <a:latin typeface="Times New Roman" panose="02020603050405020304" pitchFamily="18" charset="0"/>
              <a:cs typeface="Times New Roman" panose="02020603050405020304" pitchFamily="18" charset="0"/>
            </a:endParaRPr>
          </a:p>
        </p:txBody>
      </p:sp>
      <p:graphicFrame>
        <p:nvGraphicFramePr>
          <p:cNvPr id="9" name="Object 8"/>
          <p:cNvGraphicFramePr>
            <a:graphicFrameLocks noChangeAspect="1"/>
          </p:cNvGraphicFramePr>
          <p:nvPr/>
        </p:nvGraphicFramePr>
        <p:xfrm>
          <a:off x="2521131" y="2577642"/>
          <a:ext cx="1489165" cy="954107"/>
        </p:xfrm>
        <a:graphic>
          <a:graphicData uri="http://schemas.openxmlformats.org/presentationml/2006/ole">
            <mc:AlternateContent xmlns:mc="http://schemas.openxmlformats.org/markup-compatibility/2006">
              <mc:Choice xmlns:v="urn:schemas-microsoft-com:vml" Requires="v">
                <p:oleObj spid="_x0000_s5195" name="Equation" r:id="rId1" imgW="9448800" imgH="9448800" progId="Equation.DSMT4">
                  <p:embed/>
                </p:oleObj>
              </mc:Choice>
              <mc:Fallback>
                <p:oleObj name="Equation" r:id="rId1" imgW="9448800" imgH="9448800" progId="Equation.DSMT4">
                  <p:embed/>
                  <p:pic>
                    <p:nvPicPr>
                      <p:cNvPr id="0" name="Object 1"/>
                      <p:cNvPicPr>
                        <a:picLocks noChangeAspect="1" noChangeArrowheads="1"/>
                      </p:cNvPicPr>
                      <p:nvPr/>
                    </p:nvPicPr>
                    <p:blipFill>
                      <a:blip r:embed="rId2"/>
                      <a:srcRect/>
                      <a:stretch>
                        <a:fillRect/>
                      </a:stretch>
                    </p:blipFill>
                    <p:spPr bwMode="auto">
                      <a:xfrm>
                        <a:off x="2521131" y="2577642"/>
                        <a:ext cx="1489165" cy="954107"/>
                      </a:xfrm>
                      <a:prstGeom prst="rect">
                        <a:avLst/>
                      </a:prstGeom>
                      <a:noFill/>
                    </p:spPr>
                  </p:pic>
                </p:oleObj>
              </mc:Fallback>
            </mc:AlternateContent>
          </a:graphicData>
        </a:graphic>
      </p:graphicFrame>
      <p:sp>
        <p:nvSpPr>
          <p:cNvPr id="10" name="TextBox 9"/>
          <p:cNvSpPr txBox="1"/>
          <p:nvPr/>
        </p:nvSpPr>
        <p:spPr>
          <a:xfrm>
            <a:off x="770709" y="3670663"/>
            <a:ext cx="2155370" cy="523220"/>
          </a:xfrm>
          <a:prstGeom prst="rect">
            <a:avLst/>
          </a:prstGeom>
          <a:noFill/>
        </p:spPr>
        <p:txBody>
          <a:bodyPr wrap="square" rtlCol="0">
            <a:spAutoFit/>
          </a:bodyPr>
          <a:lstStyle/>
          <a:p>
            <a:r>
              <a:rPr lang="vi-VN" sz="2800" i="1" dirty="0">
                <a:effectLst/>
                <a:latin typeface="Times New Roman" panose="02020603050405020304" pitchFamily="18" charset="0"/>
                <a:ea typeface="Calibri" panose="020F0502020204030204" pitchFamily="34" charset="0"/>
              </a:rPr>
              <a:t>Trong đó: </a:t>
            </a:r>
            <a:endParaRPr lang="en-US" sz="2800" dirty="0">
              <a:effectLst/>
              <a:latin typeface="Calibri" panose="020F0502020204030204" pitchFamily="34" charset="0"/>
              <a:ea typeface="Calibri" panose="020F0502020204030204" pitchFamily="34" charset="0"/>
            </a:endParaRPr>
          </a:p>
        </p:txBody>
      </p:sp>
      <p:grpSp>
        <p:nvGrpSpPr>
          <p:cNvPr id="27" name="Group 26"/>
          <p:cNvGrpSpPr/>
          <p:nvPr/>
        </p:nvGrpSpPr>
        <p:grpSpPr>
          <a:xfrm>
            <a:off x="2926079" y="3670663"/>
            <a:ext cx="7511142" cy="1893147"/>
            <a:chOff x="2926079" y="3670663"/>
            <a:chExt cx="7511142" cy="1893147"/>
          </a:xfrm>
        </p:grpSpPr>
        <p:sp>
          <p:nvSpPr>
            <p:cNvPr id="14" name="TextBox 13"/>
            <p:cNvSpPr txBox="1"/>
            <p:nvPr/>
          </p:nvSpPr>
          <p:spPr>
            <a:xfrm>
              <a:off x="2926079" y="3670663"/>
              <a:ext cx="7511142" cy="1893147"/>
            </a:xfrm>
            <a:prstGeom prst="rect">
              <a:avLst/>
            </a:prstGeom>
            <a:noFill/>
          </p:spPr>
          <p:txBody>
            <a:bodyPr wrap="square" rtlCol="0">
              <a:spAutoFit/>
            </a:bodyPr>
            <a:lstStyle/>
            <a:p>
              <a:pPr algn="just">
                <a:lnSpc>
                  <a:spcPct val="150000"/>
                </a:lnSpc>
                <a:spcAft>
                  <a:spcPts val="800"/>
                </a:spcAft>
              </a:pPr>
              <a:r>
                <a:rPr lang="vi-VN" sz="2400" i="1" dirty="0">
                  <a:effectLst/>
                  <a:latin typeface="Times New Roman" panose="02020603050405020304" pitchFamily="18" charset="0"/>
                  <a:ea typeface="Calibri" panose="020F0502020204030204" pitchFamily="34" charset="0"/>
                </a:rPr>
                <a:t>I là cường độ dòng điện chạy qua vật dẫn (A).</a:t>
              </a:r>
              <a:endParaRPr lang="en-US" sz="2400" dirty="0">
                <a:effectLst/>
                <a:latin typeface="Calibri" panose="020F0502020204030204" pitchFamily="34" charset="0"/>
                <a:ea typeface="Calibri" panose="020F0502020204030204" pitchFamily="34" charset="0"/>
              </a:endParaRPr>
            </a:p>
            <a:p>
              <a:pPr algn="just">
                <a:lnSpc>
                  <a:spcPct val="150000"/>
                </a:lnSpc>
                <a:spcAft>
                  <a:spcPts val="800"/>
                </a:spcAft>
              </a:pPr>
              <a:r>
                <a:rPr lang="vi-VN" sz="2400" i="1" dirty="0">
                  <a:effectLst/>
                  <a:latin typeface="Times New Roman" panose="02020603050405020304" pitchFamily="18" charset="0"/>
                  <a:ea typeface="Calibri" panose="020F0502020204030204" pitchFamily="34" charset="0"/>
                </a:rPr>
                <a:t>U là hiệu điện thế giữa hai đầu vật dẫn (V)</a:t>
              </a:r>
              <a:endParaRPr lang="en-US" sz="2400" dirty="0">
                <a:effectLst/>
                <a:latin typeface="Calibri" panose="020F0502020204030204" pitchFamily="34" charset="0"/>
                <a:ea typeface="Calibri" panose="020F0502020204030204" pitchFamily="34" charset="0"/>
              </a:endParaRPr>
            </a:p>
            <a:p>
              <a:pPr>
                <a:lnSpc>
                  <a:spcPct val="150000"/>
                </a:lnSpc>
              </a:pPr>
              <a:r>
                <a:rPr lang="vi-VN" sz="2400" i="1" dirty="0">
                  <a:effectLst/>
                  <a:latin typeface="Times New Roman" panose="02020603050405020304" pitchFamily="18" charset="0"/>
                  <a:ea typeface="Calibri" panose="020F0502020204030204" pitchFamily="34" charset="0"/>
                </a:rPr>
                <a:t>R là điện trở vật dẫn</a:t>
              </a:r>
              <a:r>
                <a:rPr lang="en-US" sz="2400" i="1" dirty="0">
                  <a:effectLst/>
                  <a:latin typeface="Times New Roman" panose="02020603050405020304" pitchFamily="18" charset="0"/>
                  <a:ea typeface="Calibri" panose="020F0502020204030204" pitchFamily="34" charset="0"/>
                </a:rPr>
                <a:t> </a:t>
              </a:r>
              <a:endParaRPr lang="en-US" sz="2400" dirty="0">
                <a:latin typeface="Times New Roman" panose="02020603050405020304" pitchFamily="18" charset="0"/>
                <a:cs typeface="Times New Roman" panose="02020603050405020304" pitchFamily="18" charset="0"/>
              </a:endParaRPr>
            </a:p>
          </p:txBody>
        </p:sp>
        <p:graphicFrame>
          <p:nvGraphicFramePr>
            <p:cNvPr id="25" name="Object 24"/>
            <p:cNvGraphicFramePr>
              <a:graphicFrameLocks noChangeAspect="1"/>
            </p:cNvGraphicFramePr>
            <p:nvPr/>
          </p:nvGraphicFramePr>
          <p:xfrm>
            <a:off x="5607912" y="5081936"/>
            <a:ext cx="566874" cy="443170"/>
          </p:xfrm>
          <a:graphic>
            <a:graphicData uri="http://schemas.openxmlformats.org/presentationml/2006/ole">
              <mc:AlternateContent xmlns:mc="http://schemas.openxmlformats.org/markup-compatibility/2006">
                <mc:Choice xmlns:v="urn:schemas-microsoft-com:vml" Requires="v">
                  <p:oleObj spid="_x0000_s3" name="Equation" r:id="rId3" imgW="161925" imgH="161925" progId="Equation.DSMT4">
                    <p:embed/>
                  </p:oleObj>
                </mc:Choice>
                <mc:Fallback>
                  <p:oleObj name="Equation" r:id="rId3" imgW="161925" imgH="161925" progId="Equation.DSMT4">
                    <p:embed/>
                    <p:pic>
                      <p:nvPicPr>
                        <p:cNvPr id="0" name="Picture 2"/>
                        <p:cNvPicPr/>
                        <p:nvPr/>
                      </p:nvPicPr>
                      <p:blipFill>
                        <a:blip r:embed="rId4"/>
                        <a:stretch>
                          <a:fillRect/>
                        </a:stretch>
                      </p:blipFill>
                      <p:spPr>
                        <a:xfrm>
                          <a:off x="5607912" y="5081936"/>
                          <a:ext cx="566874" cy="443170"/>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10" name="TextBox 9"/>
          <p:cNvSpPr txBox="1"/>
          <p:nvPr/>
        </p:nvSpPr>
        <p:spPr>
          <a:xfrm>
            <a:off x="522513" y="833168"/>
            <a:ext cx="10502537" cy="830997"/>
          </a:xfrm>
          <a:prstGeom prst="rect">
            <a:avLst/>
          </a:prstGeom>
          <a:noFill/>
        </p:spPr>
        <p:txBody>
          <a:bodyPr wrap="square" rtlCol="0">
            <a:spAutoFit/>
          </a:bodyPr>
          <a:lstStyle/>
          <a:p>
            <a:r>
              <a:rPr lang="vi-VN" sz="2400" b="1" dirty="0">
                <a:effectLst/>
                <a:latin typeface="Times New Roman" panose="02020603050405020304" pitchFamily="18" charset="0"/>
                <a:ea typeface="Calibri" panose="020F0502020204030204" pitchFamily="34" charset="0"/>
              </a:rPr>
              <a:t>II</a:t>
            </a:r>
            <a:r>
              <a:rPr lang="en-US" sz="2400" b="1" dirty="0">
                <a:latin typeface="Times New Roman" panose="02020603050405020304" pitchFamily="18" charset="0"/>
                <a:ea typeface="Calibri" panose="020F0502020204030204" pitchFamily="34" charset="0"/>
              </a:rPr>
              <a:t>I. </a:t>
            </a:r>
            <a:r>
              <a:rPr lang="vi-VN" sz="2400" b="1" dirty="0">
                <a:solidFill>
                  <a:srgbClr val="000000"/>
                </a:solidFill>
                <a:effectLst/>
                <a:latin typeface="Times New Roman" panose="02020603050405020304" pitchFamily="18" charset="0"/>
                <a:ea typeface="Times New Roman" panose="02020603050405020304" pitchFamily="18" charset="0"/>
              </a:rPr>
              <a:t>NGUYÊN NHÂN GÂY RA ĐIỆN TRỞ VÀ ẢNH HƯỞNG CỦA NHIỆT ĐỘ LÊN ĐIỆN TRỞ</a:t>
            </a:r>
            <a:endParaRPr lang="en-US" sz="2400" dirty="0">
              <a:effectLst/>
              <a:latin typeface="Calibri" panose="020F0502020204030204" pitchFamily="34" charset="0"/>
              <a:ea typeface="Calibri" panose="020F0502020204030204" pitchFamily="34" charset="0"/>
            </a:endParaRPr>
          </a:p>
        </p:txBody>
      </p:sp>
      <p:sp>
        <p:nvSpPr>
          <p:cNvPr id="3" name="TextBox 2"/>
          <p:cNvSpPr txBox="1"/>
          <p:nvPr/>
        </p:nvSpPr>
        <p:spPr>
          <a:xfrm>
            <a:off x="522513" y="1672663"/>
            <a:ext cx="7302138" cy="461665"/>
          </a:xfrm>
          <a:prstGeom prst="rect">
            <a:avLst/>
          </a:prstGeom>
          <a:noFill/>
        </p:spPr>
        <p:txBody>
          <a:bodyPr wrap="square" rtlCol="0">
            <a:spAutoFit/>
          </a:bodyPr>
          <a:lstStyle/>
          <a:p>
            <a:r>
              <a:rPr lang="vi-VN" sz="2400" b="1" dirty="0">
                <a:solidFill>
                  <a:srgbClr val="000000"/>
                </a:solidFill>
                <a:effectLst/>
                <a:latin typeface="Times New Roman" panose="02020603050405020304" pitchFamily="18" charset="0"/>
                <a:ea typeface="Times New Roman" panose="02020603050405020304" pitchFamily="18" charset="0"/>
              </a:rPr>
              <a:t>1. Nguyên nhân gây ra điện trở trong vật dẫn kim loại. </a:t>
            </a:r>
            <a:endParaRPr lang="en-US" sz="2400" dirty="0">
              <a:effectLst/>
              <a:latin typeface="Calibri" panose="020F0502020204030204" pitchFamily="34" charset="0"/>
              <a:ea typeface="Calibri" panose="020F0502020204030204" pitchFamily="34" charset="0"/>
            </a:endParaRPr>
          </a:p>
        </p:txBody>
      </p:sp>
      <p:sp>
        <p:nvSpPr>
          <p:cNvPr id="5" name="Cloud 4"/>
          <p:cNvSpPr/>
          <p:nvPr/>
        </p:nvSpPr>
        <p:spPr>
          <a:xfrm>
            <a:off x="757981" y="2266015"/>
            <a:ext cx="10397700" cy="4139138"/>
          </a:xfrm>
          <a:prstGeom prst="cloud">
            <a:avLst/>
          </a:prstGeom>
        </p:spPr>
        <p:style>
          <a:lnRef idx="2">
            <a:schemeClr val="accent6"/>
          </a:lnRef>
          <a:fillRef idx="1">
            <a:schemeClr val="lt1"/>
          </a:fillRef>
          <a:effectRef idx="0">
            <a:schemeClr val="accent6"/>
          </a:effectRef>
          <a:fontRef idx="minor">
            <a:schemeClr val="dk1"/>
          </a:fontRef>
        </p:style>
        <p:txBody>
          <a:bodyPr rtlCol="0" anchor="ctr"/>
          <a:lstStyle/>
          <a:p>
            <a:pPr algn="just">
              <a:lnSpc>
                <a:spcPct val="150000"/>
              </a:lnSpc>
            </a:pPr>
            <a:r>
              <a:rPr lang="vi-VN" sz="1800" b="1" dirty="0">
                <a:solidFill>
                  <a:srgbClr val="000000"/>
                </a:solidFill>
                <a:effectLst/>
                <a:latin typeface="Times New Roman" panose="02020603050405020304" pitchFamily="18" charset="0"/>
                <a:ea typeface="Times New Roman" panose="02020603050405020304" pitchFamily="18" charset="0"/>
              </a:rPr>
              <a:t>- </a:t>
            </a:r>
            <a:r>
              <a:rPr lang="vi-VN" sz="2400" dirty="0">
                <a:effectLst/>
                <a:latin typeface="Times New Roman" panose="02020603050405020304" pitchFamily="18" charset="0"/>
                <a:ea typeface="Times New Roman" panose="02020603050405020304" pitchFamily="18" charset="0"/>
              </a:rPr>
              <a:t>HS tìm hiểu mục III SGK. </a:t>
            </a:r>
            <a:endParaRPr lang="en-US" sz="2400" dirty="0">
              <a:effectLst/>
              <a:latin typeface="Calibri" panose="020F0502020204030204" pitchFamily="34" charset="0"/>
              <a:ea typeface="Calibri" panose="020F0502020204030204" pitchFamily="34" charset="0"/>
            </a:endParaRPr>
          </a:p>
          <a:p>
            <a:pPr algn="just">
              <a:lnSpc>
                <a:spcPct val="150000"/>
              </a:lnSpc>
            </a:pPr>
            <a:r>
              <a:rPr lang="vi-VN" sz="24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HS </a:t>
            </a:r>
            <a:r>
              <a:rPr lang="vi-VN" sz="2400" dirty="0">
                <a:effectLst/>
                <a:latin typeface="Times New Roman" panose="02020603050405020304" pitchFamily="18" charset="0"/>
                <a:ea typeface="Times New Roman" panose="02020603050405020304" pitchFamily="18" charset="0"/>
              </a:rPr>
              <a:t>thảo luận theo cặp để tìm ra nguyên nhân gây ra điện trở của vật dẫn kim loại.</a:t>
            </a:r>
            <a:endParaRPr lang="en-US" sz="2400" dirty="0">
              <a:effectLst/>
              <a:latin typeface="Calibri" panose="020F0502020204030204" pitchFamily="34" charset="0"/>
              <a:ea typeface="Calibri" panose="020F0502020204030204" pitchFamily="34" charset="0"/>
            </a:endParaRPr>
          </a:p>
          <a:p>
            <a:pPr algn="just">
              <a:lnSpc>
                <a:spcPct val="150000"/>
              </a:lnSpc>
            </a:pPr>
            <a:r>
              <a:rPr lang="vi-VN" sz="2400" dirty="0">
                <a:effectLst/>
                <a:latin typeface="Times New Roman" panose="02020603050405020304" pitchFamily="18" charset="0"/>
                <a:ea typeface="Times New Roman" panose="02020603050405020304" pitchFamily="18" charset="0"/>
              </a:rPr>
              <a:t>- HS thảo luận theo cặp để mô tả ảnh hưởng của nhiệt độ lên điện trở của sợi đốt trong đồ thị 23.5.</a:t>
            </a:r>
            <a:endParaRPr lang="en-US" sz="2400" dirty="0">
              <a:effectLst/>
              <a:latin typeface="Calibri" panose="020F0502020204030204" pitchFamily="34" charset="0"/>
              <a:ea typeface="Calibri" panose="020F0502020204030204" pitchFamily="34" charset="0"/>
            </a:endParaRPr>
          </a:p>
          <a:p>
            <a:pPr algn="just">
              <a:lnSpc>
                <a:spcPct val="150000"/>
              </a:lnSpc>
            </a:pPr>
            <a:r>
              <a:rPr lang="vi-VN" sz="2400" dirty="0">
                <a:effectLst/>
                <a:latin typeface="Times New Roman" panose="02020603050405020304" pitchFamily="18" charset="0"/>
                <a:ea typeface="Times New Roman" panose="02020603050405020304" pitchFamily="18" charset="0"/>
              </a:rPr>
              <a:t>- HS trả lời các câu hỏi trong mục III. </a:t>
            </a:r>
            <a:endParaRPr lang="en-US" sz="2400" dirty="0">
              <a:effectLst/>
              <a:latin typeface="Calibri" panose="020F0502020204030204" pitchFamily="34" charset="0"/>
              <a:ea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10" name="TextBox 9"/>
          <p:cNvSpPr txBox="1"/>
          <p:nvPr/>
        </p:nvSpPr>
        <p:spPr>
          <a:xfrm>
            <a:off x="522513" y="833168"/>
            <a:ext cx="10502537" cy="830997"/>
          </a:xfrm>
          <a:prstGeom prst="rect">
            <a:avLst/>
          </a:prstGeom>
          <a:noFill/>
        </p:spPr>
        <p:txBody>
          <a:bodyPr wrap="square" rtlCol="0">
            <a:spAutoFit/>
          </a:bodyPr>
          <a:lstStyle/>
          <a:p>
            <a:r>
              <a:rPr lang="vi-VN" sz="2400" b="1" dirty="0">
                <a:effectLst/>
                <a:latin typeface="Times New Roman" panose="02020603050405020304" pitchFamily="18" charset="0"/>
                <a:ea typeface="Calibri" panose="020F0502020204030204" pitchFamily="34" charset="0"/>
              </a:rPr>
              <a:t>II</a:t>
            </a:r>
            <a:r>
              <a:rPr lang="en-US" sz="2400" b="1" dirty="0">
                <a:latin typeface="Times New Roman" panose="02020603050405020304" pitchFamily="18" charset="0"/>
                <a:ea typeface="Calibri" panose="020F0502020204030204" pitchFamily="34" charset="0"/>
              </a:rPr>
              <a:t>I. </a:t>
            </a:r>
            <a:r>
              <a:rPr lang="vi-VN" sz="2400" b="1" dirty="0">
                <a:solidFill>
                  <a:srgbClr val="000000"/>
                </a:solidFill>
                <a:effectLst/>
                <a:latin typeface="Times New Roman" panose="02020603050405020304" pitchFamily="18" charset="0"/>
                <a:ea typeface="Times New Roman" panose="02020603050405020304" pitchFamily="18" charset="0"/>
              </a:rPr>
              <a:t>NGUYÊN NHÂN GÂY RA ĐIỆN TRỞ VÀ ẢNH HƯỞNG CỦA NHIỆT ĐỘ LÊN ĐIỆN TRỞ</a:t>
            </a:r>
            <a:endParaRPr lang="en-US" sz="2400" dirty="0">
              <a:effectLst/>
              <a:latin typeface="Calibri" panose="020F0502020204030204" pitchFamily="34" charset="0"/>
              <a:ea typeface="Calibri" panose="020F0502020204030204" pitchFamily="34" charset="0"/>
            </a:endParaRPr>
          </a:p>
        </p:txBody>
      </p:sp>
      <p:sp>
        <p:nvSpPr>
          <p:cNvPr id="3" name="TextBox 2"/>
          <p:cNvSpPr txBox="1"/>
          <p:nvPr/>
        </p:nvSpPr>
        <p:spPr>
          <a:xfrm>
            <a:off x="537663" y="1657408"/>
            <a:ext cx="7302138" cy="461665"/>
          </a:xfrm>
          <a:prstGeom prst="rect">
            <a:avLst/>
          </a:prstGeom>
          <a:noFill/>
        </p:spPr>
        <p:txBody>
          <a:bodyPr wrap="square" rtlCol="0">
            <a:spAutoFit/>
          </a:bodyPr>
          <a:lstStyle/>
          <a:p>
            <a:r>
              <a:rPr lang="vi-VN" sz="2400" b="1" dirty="0">
                <a:solidFill>
                  <a:srgbClr val="000000"/>
                </a:solidFill>
                <a:effectLst/>
                <a:latin typeface="Times New Roman" panose="02020603050405020304" pitchFamily="18" charset="0"/>
                <a:ea typeface="Times New Roman" panose="02020603050405020304" pitchFamily="18" charset="0"/>
              </a:rPr>
              <a:t>1. Nguyên nhân gây ra điện trở trong vật dẫn kim loại. </a:t>
            </a:r>
            <a:endParaRPr lang="en-US" sz="2400" dirty="0">
              <a:effectLst/>
              <a:latin typeface="Calibri" panose="020F0502020204030204" pitchFamily="34" charset="0"/>
              <a:ea typeface="Calibri" panose="020F0502020204030204" pitchFamily="34" charset="0"/>
            </a:endParaRPr>
          </a:p>
        </p:txBody>
      </p:sp>
      <p:sp>
        <p:nvSpPr>
          <p:cNvPr id="2" name="TextBox 1"/>
          <p:cNvSpPr txBox="1"/>
          <p:nvPr/>
        </p:nvSpPr>
        <p:spPr>
          <a:xfrm>
            <a:off x="420098" y="2163607"/>
            <a:ext cx="11116674" cy="830997"/>
          </a:xfrm>
          <a:prstGeom prst="rect">
            <a:avLst/>
          </a:prstGeom>
          <a:noFill/>
        </p:spPr>
        <p:txBody>
          <a:bodyPr wrap="square" rtlCol="0">
            <a:spAutoFit/>
          </a:bodyPr>
          <a:lstStyle/>
          <a:p>
            <a:pPr algn="just"/>
            <a:r>
              <a:rPr lang="vi-VN" sz="2400" b="1" dirty="0">
                <a:solidFill>
                  <a:srgbClr val="000000"/>
                </a:solidFill>
                <a:effectLst/>
                <a:latin typeface="Times New Roman" panose="02020603050405020304" pitchFamily="18" charset="0"/>
                <a:ea typeface="Times New Roman" panose="02020603050405020304" pitchFamily="18" charset="0"/>
              </a:rPr>
              <a:t>+ </a:t>
            </a:r>
            <a:r>
              <a:rPr lang="vi-VN" sz="2400" dirty="0">
                <a:solidFill>
                  <a:srgbClr val="000000"/>
                </a:solidFill>
                <a:effectLst/>
                <a:latin typeface="Times New Roman" panose="02020603050405020304" pitchFamily="18" charset="0"/>
                <a:ea typeface="Times New Roman" panose="02020603050405020304" pitchFamily="18" charset="0"/>
              </a:rPr>
              <a:t>Trong kim loại, các nguyên tử bị mất electron hóa trị trở thành ion dương. Các ion dương liên kết với nhau một cách trật tự tạo lên mạng tinh thể kim loại.</a:t>
            </a:r>
            <a:endParaRPr lang="en-US" sz="2400" dirty="0">
              <a:effectLst/>
              <a:latin typeface="Calibri" panose="020F0502020204030204" pitchFamily="34" charset="0"/>
              <a:ea typeface="Calibri" panose="020F0502020204030204" pitchFamily="34" charset="0"/>
            </a:endParaRPr>
          </a:p>
        </p:txBody>
      </p:sp>
      <p:sp>
        <p:nvSpPr>
          <p:cNvPr id="4" name="TextBox 3"/>
          <p:cNvSpPr txBox="1"/>
          <p:nvPr/>
        </p:nvSpPr>
        <p:spPr>
          <a:xfrm>
            <a:off x="420098" y="3174880"/>
            <a:ext cx="10787834" cy="830997"/>
          </a:xfrm>
          <a:prstGeom prst="rect">
            <a:avLst/>
          </a:prstGeom>
          <a:noFill/>
        </p:spPr>
        <p:txBody>
          <a:bodyPr wrap="square" rtlCol="0">
            <a:spAutoFit/>
          </a:bodyPr>
          <a:lstStyle/>
          <a:p>
            <a:pPr algn="just">
              <a:spcAft>
                <a:spcPts val="800"/>
              </a:spcAft>
            </a:pPr>
            <a:r>
              <a:rPr lang="vi-VN" sz="2400" dirty="0">
                <a:solidFill>
                  <a:srgbClr val="000000"/>
                </a:solidFill>
                <a:effectLst/>
                <a:latin typeface="Times New Roman" panose="02020603050405020304" pitchFamily="18" charset="0"/>
                <a:ea typeface="Times New Roman" panose="02020603050405020304" pitchFamily="18" charset="0"/>
              </a:rPr>
              <a:t>+ Chuyển động nhiệt của các ion có thể phá vỡ chật tự này. Nhiệt độ càng cao dao động nhiệt càng nhanh, mạng tinh thể càng trở lên mất trật tự.</a:t>
            </a:r>
            <a:endParaRPr lang="en-US" sz="2400" dirty="0">
              <a:effectLst/>
              <a:latin typeface="Calibri" panose="020F0502020204030204" pitchFamily="34" charset="0"/>
              <a:ea typeface="Calibri" panose="020F0502020204030204" pitchFamily="34" charset="0"/>
            </a:endParaRPr>
          </a:p>
        </p:txBody>
      </p:sp>
      <p:sp>
        <p:nvSpPr>
          <p:cNvPr id="6" name="TextBox 5"/>
          <p:cNvSpPr txBox="1"/>
          <p:nvPr/>
        </p:nvSpPr>
        <p:spPr>
          <a:xfrm>
            <a:off x="420098" y="4185443"/>
            <a:ext cx="10787834" cy="830997"/>
          </a:xfrm>
          <a:prstGeom prst="rect">
            <a:avLst/>
          </a:prstGeom>
          <a:noFill/>
        </p:spPr>
        <p:txBody>
          <a:bodyPr wrap="square" rtlCol="0">
            <a:spAutoFit/>
          </a:bodyPr>
          <a:lstStyle/>
          <a:p>
            <a:pPr algn="just">
              <a:spcAft>
                <a:spcPts val="800"/>
              </a:spcAft>
            </a:pPr>
            <a:r>
              <a:rPr lang="vi-VN" sz="2400" dirty="0">
                <a:solidFill>
                  <a:srgbClr val="000000"/>
                </a:solidFill>
                <a:effectLst/>
                <a:latin typeface="Times New Roman" panose="02020603050405020304" pitchFamily="18" charset="0"/>
                <a:ea typeface="Times New Roman" panose="02020603050405020304" pitchFamily="18" charset="0"/>
              </a:rPr>
              <a:t>+ Sự mất trật tự của mạng tinh thể cản trở chuyển động của electron tự do là nguyên nhân gây ra điện trở của kim loại. </a:t>
            </a:r>
            <a:endParaRPr lang="en-US" sz="2400" dirty="0">
              <a:effectLst/>
              <a:latin typeface="Calibri" panose="020F0502020204030204" pitchFamily="34" charset="0"/>
              <a:ea typeface="Calibri" panose="020F0502020204030204" pitchFamily="34" charset="0"/>
            </a:endParaRPr>
          </a:p>
        </p:txBody>
      </p:sp>
      <p:grpSp>
        <p:nvGrpSpPr>
          <p:cNvPr id="15" name="Group 14"/>
          <p:cNvGrpSpPr/>
          <p:nvPr/>
        </p:nvGrpSpPr>
        <p:grpSpPr>
          <a:xfrm>
            <a:off x="651172" y="5170571"/>
            <a:ext cx="10325686" cy="670876"/>
            <a:chOff x="651172" y="5170571"/>
            <a:chExt cx="10325686" cy="670876"/>
          </a:xfrm>
        </p:grpSpPr>
        <p:sp>
          <p:nvSpPr>
            <p:cNvPr id="7" name="TextBox 6"/>
            <p:cNvSpPr txBox="1"/>
            <p:nvPr/>
          </p:nvSpPr>
          <p:spPr>
            <a:xfrm>
              <a:off x="651172" y="5298676"/>
              <a:ext cx="10325686" cy="461665"/>
            </a:xfrm>
            <a:prstGeom prst="rect">
              <a:avLst/>
            </a:prstGeom>
            <a:noFill/>
          </p:spPr>
          <p:txBody>
            <a:bodyPr wrap="square" rtlCol="0">
              <a:spAutoFit/>
            </a:bodyPr>
            <a:lstStyle/>
            <a:p>
              <a:pPr algn="l"/>
              <a:r>
                <a:rPr lang="en-US" sz="2400" dirty="0" err="1">
                  <a:solidFill>
                    <a:srgbClr val="000000"/>
                  </a:solidFill>
                  <a:effectLst/>
                  <a:latin typeface="Times New Roman" panose="02020603050405020304" pitchFamily="18" charset="0"/>
                  <a:ea typeface="Times New Roman" panose="02020603050405020304" pitchFamily="18" charset="0"/>
                </a:rPr>
                <a:t>Câu</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hỏi</a:t>
              </a:r>
              <a:r>
                <a:rPr lang="en-US" sz="2400" dirty="0">
                  <a:solidFill>
                    <a:srgbClr val="000000"/>
                  </a:solidFill>
                  <a:effectLst/>
                  <a:latin typeface="Times New Roman" panose="02020603050405020304" pitchFamily="18" charset="0"/>
                  <a:ea typeface="Times New Roman" panose="02020603050405020304" pitchFamily="18" charset="0"/>
                </a:rPr>
                <a:t>: </a:t>
              </a:r>
              <a:r>
                <a:rPr lang="vi-VN" sz="2400" dirty="0">
                  <a:solidFill>
                    <a:srgbClr val="000000"/>
                  </a:solidFill>
                  <a:effectLst/>
                  <a:latin typeface="Times New Roman" panose="02020603050405020304" pitchFamily="18" charset="0"/>
                  <a:ea typeface="Times New Roman" panose="02020603050405020304" pitchFamily="18" charset="0"/>
                </a:rPr>
                <a:t>Từ công thức</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và</a:t>
              </a:r>
              <a:r>
                <a:rPr lang="en-US" sz="2400" dirty="0">
                  <a:solidFill>
                    <a:srgbClr val="000000"/>
                  </a:solidFill>
                  <a:effectLst/>
                  <a:latin typeface="Times New Roman" panose="02020603050405020304" pitchFamily="18" charset="0"/>
                  <a:ea typeface="Times New Roman" panose="02020603050405020304" pitchFamily="18" charset="0"/>
                </a:rPr>
                <a:t>                     </a:t>
              </a:r>
              <a:r>
                <a:rPr lang="en-US" sz="2400" dirty="0" err="1">
                  <a:solidFill>
                    <a:srgbClr val="000000"/>
                  </a:solidFill>
                  <a:effectLst/>
                  <a:latin typeface="Times New Roman" panose="02020603050405020304" pitchFamily="18" charset="0"/>
                  <a:ea typeface="Times New Roman" panose="02020603050405020304" pitchFamily="18" charset="0"/>
                </a:rPr>
                <a:t>thì</a:t>
              </a:r>
              <a:r>
                <a:rPr lang="en-US" sz="2400" dirty="0">
                  <a:solidFill>
                    <a:srgbClr val="000000"/>
                  </a:solidFill>
                  <a:effectLst/>
                  <a:latin typeface="Times New Roman" panose="02020603050405020304" pitchFamily="18" charset="0"/>
                  <a:ea typeface="Times New Roman" panose="02020603050405020304" pitchFamily="18" charset="0"/>
                </a:rPr>
                <a:t>  </a:t>
              </a:r>
              <a:r>
                <a:rPr lang="vi-VN" sz="2400" dirty="0">
                  <a:solidFill>
                    <a:srgbClr val="000000"/>
                  </a:solidFill>
                  <a:effectLst/>
                  <a:latin typeface="Times New Roman" panose="02020603050405020304" pitchFamily="18" charset="0"/>
                  <a:ea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graphicFrame>
          <p:nvGraphicFramePr>
            <p:cNvPr id="9" name="Object 8"/>
            <p:cNvGraphicFramePr>
              <a:graphicFrameLocks noChangeAspect="1"/>
            </p:cNvGraphicFramePr>
            <p:nvPr/>
          </p:nvGraphicFramePr>
          <p:xfrm>
            <a:off x="3752668" y="5227550"/>
            <a:ext cx="994411" cy="599571"/>
          </p:xfrm>
          <a:graphic>
            <a:graphicData uri="http://schemas.openxmlformats.org/presentationml/2006/ole">
              <mc:AlternateContent xmlns:mc="http://schemas.openxmlformats.org/markup-compatibility/2006">
                <mc:Choice xmlns:v="urn:schemas-microsoft-com:vml" Requires="v">
                  <p:oleObj spid="_x0000_s5195" name="Equation" r:id="rId1" imgW="648970" imgH="390525" progId="Equation.DSMT4">
                    <p:embed/>
                  </p:oleObj>
                </mc:Choice>
                <mc:Fallback>
                  <p:oleObj name="Equation" r:id="rId1" imgW="648970" imgH="390525" progId="Equation.DSMT4">
                    <p:embed/>
                    <p:pic>
                      <p:nvPicPr>
                        <p:cNvPr id="0" name="Picture 5194"/>
                        <p:cNvPicPr/>
                        <p:nvPr/>
                      </p:nvPicPr>
                      <p:blipFill>
                        <a:blip r:embed="rId2"/>
                        <a:stretch>
                          <a:fillRect/>
                        </a:stretch>
                      </p:blipFill>
                      <p:spPr>
                        <a:xfrm>
                          <a:off x="3752668" y="5227550"/>
                          <a:ext cx="994411" cy="599571"/>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5318901" y="5235596"/>
            <a:ext cx="1319068" cy="439690"/>
          </p:xfrm>
          <a:graphic>
            <a:graphicData uri="http://schemas.openxmlformats.org/presentationml/2006/ole">
              <mc:AlternateContent xmlns:mc="http://schemas.openxmlformats.org/markup-compatibility/2006">
                <mc:Choice xmlns:v="urn:schemas-microsoft-com:vml" Requires="v">
                  <p:oleObj spid="_x0000_s5" name="Equation" r:id="rId3" imgW="543560" imgH="181610" progId="Equation.DSMT4">
                    <p:embed/>
                  </p:oleObj>
                </mc:Choice>
                <mc:Fallback>
                  <p:oleObj name="Equation" r:id="rId3" imgW="543560" imgH="181610" progId="Equation.DSMT4">
                    <p:embed/>
                    <p:pic>
                      <p:nvPicPr>
                        <p:cNvPr id="0" name="Picture 4"/>
                        <p:cNvPicPr/>
                        <p:nvPr/>
                      </p:nvPicPr>
                      <p:blipFill>
                        <a:blip r:embed="rId4"/>
                        <a:stretch>
                          <a:fillRect/>
                        </a:stretch>
                      </p:blipFill>
                      <p:spPr>
                        <a:xfrm>
                          <a:off x="5318901" y="5235596"/>
                          <a:ext cx="1319068" cy="439690"/>
                        </a:xfrm>
                        <a:prstGeom prst="rect">
                          <a:avLst/>
                        </a:prstGeom>
                      </p:spPr>
                    </p:pic>
                  </p:oleObj>
                </mc:Fallback>
              </mc:AlternateContent>
            </a:graphicData>
          </a:graphic>
        </p:graphicFrame>
        <p:graphicFrame>
          <p:nvGraphicFramePr>
            <p:cNvPr id="14" name="Object 13"/>
            <p:cNvGraphicFramePr>
              <a:graphicFrameLocks noChangeAspect="1"/>
            </p:cNvGraphicFramePr>
            <p:nvPr/>
          </p:nvGraphicFramePr>
          <p:xfrm>
            <a:off x="7444922" y="5170571"/>
            <a:ext cx="1911721" cy="670876"/>
          </p:xfrm>
          <a:graphic>
            <a:graphicData uri="http://schemas.openxmlformats.org/presentationml/2006/ole">
              <mc:AlternateContent xmlns:mc="http://schemas.openxmlformats.org/markup-compatibility/2006">
                <mc:Choice xmlns:v="urn:schemas-microsoft-com:vml" Requires="v">
                  <p:oleObj spid="_x0000_s8" name="Equation" r:id="rId5" imgW="1115695" imgH="390525" progId="Equation.DSMT4">
                    <p:embed/>
                  </p:oleObj>
                </mc:Choice>
                <mc:Fallback>
                  <p:oleObj name="Equation" r:id="rId5" imgW="1115695" imgH="390525" progId="Equation.DSMT4">
                    <p:embed/>
                    <p:pic>
                      <p:nvPicPr>
                        <p:cNvPr id="0" name="Picture 7"/>
                        <p:cNvPicPr/>
                        <p:nvPr/>
                      </p:nvPicPr>
                      <p:blipFill>
                        <a:blip r:embed="rId6"/>
                        <a:stretch>
                          <a:fillRect/>
                        </a:stretch>
                      </p:blipFill>
                      <p:spPr>
                        <a:xfrm>
                          <a:off x="7444922" y="5170571"/>
                          <a:ext cx="1911721" cy="670876"/>
                        </a:xfrm>
                        <a:prstGeom prst="rect">
                          <a:avLst/>
                        </a:prstGeom>
                      </p:spPr>
                    </p:pic>
                  </p:oleObj>
                </mc:Fallback>
              </mc:AlternateContent>
            </a:graphicData>
          </a:graphic>
        </p:graphicFrame>
      </p:grpSp>
      <p:grpSp>
        <p:nvGrpSpPr>
          <p:cNvPr id="23" name="Group 22"/>
          <p:cNvGrpSpPr/>
          <p:nvPr/>
        </p:nvGrpSpPr>
        <p:grpSpPr>
          <a:xfrm>
            <a:off x="920989" y="5941100"/>
            <a:ext cx="8795823" cy="810966"/>
            <a:chOff x="870691" y="5831990"/>
            <a:chExt cx="8330836" cy="810966"/>
          </a:xfrm>
        </p:grpSpPr>
        <p:sp>
          <p:nvSpPr>
            <p:cNvPr id="16" name="TextBox 15"/>
            <p:cNvSpPr txBox="1"/>
            <p:nvPr/>
          </p:nvSpPr>
          <p:spPr>
            <a:xfrm>
              <a:off x="870691" y="5982516"/>
              <a:ext cx="7282514" cy="461665"/>
            </a:xfrm>
            <a:prstGeom prst="rect">
              <a:avLst/>
            </a:prstGeom>
            <a:noFill/>
          </p:spPr>
          <p:txBody>
            <a:bodyPr wrap="square" rtlCol="0">
              <a:spAutoFit/>
            </a:bodyPr>
            <a:lstStyle/>
            <a:p>
              <a:pPr algn="l"/>
              <a:r>
                <a:rPr lang="vi-VN" sz="2400" dirty="0">
                  <a:solidFill>
                    <a:srgbClr val="000000"/>
                  </a:solidFill>
                  <a:effectLst/>
                  <a:latin typeface="Times New Roman" panose="02020603050405020304" pitchFamily="18" charset="0"/>
                  <a:ea typeface="Times New Roman" panose="02020603050405020304" pitchFamily="18" charset="0"/>
                </a:rPr>
                <a:t>do đó điện trở phụ thuộc vào điện trở suất theo công thức</a:t>
              </a:r>
              <a:endParaRPr lang="en-US" sz="2400" dirty="0">
                <a:latin typeface="Times New Roman" panose="02020603050405020304" pitchFamily="18" charset="0"/>
                <a:cs typeface="Times New Roman" panose="02020603050405020304" pitchFamily="18" charset="0"/>
              </a:endParaRPr>
            </a:p>
          </p:txBody>
        </p:sp>
        <p:graphicFrame>
          <p:nvGraphicFramePr>
            <p:cNvPr id="21" name="Object 20"/>
            <p:cNvGraphicFramePr>
              <a:graphicFrameLocks noChangeAspect="1"/>
            </p:cNvGraphicFramePr>
            <p:nvPr/>
          </p:nvGraphicFramePr>
          <p:xfrm>
            <a:off x="8153205" y="5831990"/>
            <a:ext cx="1048322" cy="810966"/>
          </p:xfrm>
          <a:graphic>
            <a:graphicData uri="http://schemas.openxmlformats.org/presentationml/2006/ole">
              <mc:AlternateContent xmlns:mc="http://schemas.openxmlformats.org/markup-compatibility/2006">
                <mc:Choice xmlns:v="urn:schemas-microsoft-com:vml" Requires="v">
                  <p:oleObj spid="_x0000_s11" name="Equation" r:id="rId7" imgW="505460" imgH="390525" progId="Equation.DSMT4">
                    <p:embed/>
                  </p:oleObj>
                </mc:Choice>
                <mc:Fallback>
                  <p:oleObj name="Equation" r:id="rId7" imgW="505460" imgH="390525" progId="Equation.DSMT4">
                    <p:embed/>
                    <p:pic>
                      <p:nvPicPr>
                        <p:cNvPr id="0" name="Picture 10"/>
                        <p:cNvPicPr/>
                        <p:nvPr/>
                      </p:nvPicPr>
                      <p:blipFill>
                        <a:blip r:embed="rId8"/>
                        <a:stretch>
                          <a:fillRect/>
                        </a:stretch>
                      </p:blipFill>
                      <p:spPr>
                        <a:xfrm>
                          <a:off x="8153205" y="5831990"/>
                          <a:ext cx="1048322" cy="810966"/>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2" grpId="0"/>
      <p:bldP spid="4"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ÔM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10" name="TextBox 9"/>
          <p:cNvSpPr txBox="1"/>
          <p:nvPr/>
        </p:nvSpPr>
        <p:spPr>
          <a:xfrm>
            <a:off x="522513" y="833168"/>
            <a:ext cx="10502537" cy="830997"/>
          </a:xfrm>
          <a:prstGeom prst="rect">
            <a:avLst/>
          </a:prstGeom>
          <a:noFill/>
        </p:spPr>
        <p:txBody>
          <a:bodyPr wrap="square" rtlCol="0">
            <a:spAutoFit/>
          </a:bodyPr>
          <a:lstStyle/>
          <a:p>
            <a:r>
              <a:rPr lang="vi-VN" sz="2400" b="1" dirty="0">
                <a:effectLst/>
                <a:latin typeface="Times New Roman" panose="02020603050405020304" pitchFamily="18" charset="0"/>
                <a:ea typeface="Calibri" panose="020F0502020204030204" pitchFamily="34" charset="0"/>
              </a:rPr>
              <a:t>II</a:t>
            </a:r>
            <a:r>
              <a:rPr lang="en-US" sz="2400" b="1" dirty="0">
                <a:latin typeface="Times New Roman" panose="02020603050405020304" pitchFamily="18" charset="0"/>
                <a:ea typeface="Calibri" panose="020F0502020204030204" pitchFamily="34" charset="0"/>
              </a:rPr>
              <a:t>I. </a:t>
            </a:r>
            <a:r>
              <a:rPr lang="vi-VN" sz="2400" b="1" dirty="0">
                <a:solidFill>
                  <a:srgbClr val="000000"/>
                </a:solidFill>
                <a:effectLst/>
                <a:latin typeface="Times New Roman" panose="02020603050405020304" pitchFamily="18" charset="0"/>
                <a:ea typeface="Times New Roman" panose="02020603050405020304" pitchFamily="18" charset="0"/>
              </a:rPr>
              <a:t>NGUYÊN NHÂN GÂY RA ĐIỆN TRỞ VÀ ẢNH HƯỞNG CỦA NHIỆT ĐỘ LÊN ĐIỆN TRỞ</a:t>
            </a:r>
            <a:endParaRPr lang="en-US" sz="2400" dirty="0">
              <a:effectLst/>
              <a:latin typeface="Calibri" panose="020F0502020204030204" pitchFamily="34" charset="0"/>
              <a:ea typeface="Calibri" panose="020F0502020204030204" pitchFamily="34" charset="0"/>
            </a:endParaRPr>
          </a:p>
        </p:txBody>
      </p:sp>
      <p:sp>
        <p:nvSpPr>
          <p:cNvPr id="13" name="TextBox 12"/>
          <p:cNvSpPr txBox="1"/>
          <p:nvPr/>
        </p:nvSpPr>
        <p:spPr>
          <a:xfrm>
            <a:off x="537663" y="1657408"/>
            <a:ext cx="7302138" cy="461665"/>
          </a:xfrm>
          <a:prstGeom prst="rect">
            <a:avLst/>
          </a:prstGeom>
          <a:noFill/>
        </p:spPr>
        <p:txBody>
          <a:bodyPr wrap="square" rtlCol="0">
            <a:spAutoFit/>
          </a:bodyPr>
          <a:lstStyle/>
          <a:p>
            <a:r>
              <a:rPr lang="vi-VN" sz="2400" b="1" dirty="0">
                <a:solidFill>
                  <a:srgbClr val="000000"/>
                </a:solidFill>
                <a:effectLst/>
                <a:latin typeface="Times New Roman" panose="02020603050405020304" pitchFamily="18" charset="0"/>
                <a:ea typeface="Times New Roman" panose="02020603050405020304" pitchFamily="18" charset="0"/>
              </a:rPr>
              <a:t>1. </a:t>
            </a:r>
            <a:r>
              <a:rPr lang="vi-VN" sz="2400" b="1" dirty="0"/>
              <a:t>Ảnh hưởng của nhiệt độ lên điện trở</a:t>
            </a:r>
            <a:r>
              <a:rPr lang="vi-VN" sz="2400" b="1" dirty="0">
                <a:solidFill>
                  <a:srgbClr val="000000"/>
                </a:solidFill>
                <a:effectLst/>
                <a:latin typeface="Times New Roman" panose="02020603050405020304" pitchFamily="18" charset="0"/>
                <a:ea typeface="Times New Roman" panose="02020603050405020304" pitchFamily="18" charset="0"/>
              </a:rPr>
              <a:t> </a:t>
            </a:r>
            <a:endParaRPr lang="en-US" sz="2400" dirty="0">
              <a:effectLst/>
              <a:latin typeface="Calibri" panose="020F0502020204030204" pitchFamily="34" charset="0"/>
              <a:ea typeface="Calibri" panose="020F0502020204030204" pitchFamily="34" charset="0"/>
            </a:endParaRPr>
          </a:p>
        </p:txBody>
      </p:sp>
      <p:sp>
        <p:nvSpPr>
          <p:cNvPr id="3" name="TextBox 2"/>
          <p:cNvSpPr txBox="1"/>
          <p:nvPr/>
        </p:nvSpPr>
        <p:spPr>
          <a:xfrm>
            <a:off x="523556" y="2964465"/>
            <a:ext cx="10487387" cy="830997"/>
          </a:xfrm>
          <a:prstGeom prst="rect">
            <a:avLst/>
          </a:prstGeom>
          <a:noFill/>
        </p:spPr>
        <p:txBody>
          <a:bodyPr wrap="square" rtlCol="0">
            <a:spAutoFit/>
          </a:bodyPr>
          <a:lstStyle/>
          <a:p>
            <a:r>
              <a:rPr lang="en-US" sz="2400" dirty="0">
                <a:solidFill>
                  <a:srgbClr val="000000"/>
                </a:solidFill>
                <a:effectLst/>
                <a:latin typeface="Times New Roman" panose="02020603050405020304" pitchFamily="18" charset="0"/>
                <a:ea typeface="Times New Roman" panose="02020603050405020304" pitchFamily="18" charset="0"/>
              </a:rPr>
              <a:t>+ </a:t>
            </a:r>
            <a:r>
              <a:rPr lang="vi-VN" sz="2400" dirty="0">
                <a:solidFill>
                  <a:srgbClr val="000000"/>
                </a:solidFill>
                <a:effectLst/>
                <a:latin typeface="Times New Roman" panose="02020603050405020304" pitchFamily="18" charset="0"/>
                <a:ea typeface="Times New Roman" panose="02020603050405020304" pitchFamily="18" charset="0"/>
              </a:rPr>
              <a:t>Dòng điện chạy qua dây tóc bóng đèn sinh ra nhiệt, làm cho dây tóc nóng lên do đó điện trở của dây tóc thay đổi trong quá trình khảo sát.</a:t>
            </a:r>
            <a:endParaRPr lang="en-US" sz="2400" dirty="0">
              <a:effectLst/>
              <a:latin typeface="Calibri" panose="020F0502020204030204" pitchFamily="34" charset="0"/>
              <a:ea typeface="Calibri" panose="020F0502020204030204" pitchFamily="34" charset="0"/>
            </a:endParaRPr>
          </a:p>
        </p:txBody>
      </p:sp>
      <p:sp>
        <p:nvSpPr>
          <p:cNvPr id="5" name="TextBox 4"/>
          <p:cNvSpPr txBox="1"/>
          <p:nvPr/>
        </p:nvSpPr>
        <p:spPr>
          <a:xfrm>
            <a:off x="522513" y="4090990"/>
            <a:ext cx="10761708" cy="461665"/>
          </a:xfrm>
          <a:prstGeom prst="rect">
            <a:avLst/>
          </a:prstGeom>
          <a:noFill/>
        </p:spPr>
        <p:txBody>
          <a:bodyPr wrap="square" rtlCol="0">
            <a:spAutoFit/>
          </a:bodyPr>
          <a:lstStyle/>
          <a:p>
            <a:pPr algn="just">
              <a:spcAft>
                <a:spcPts val="800"/>
              </a:spcAft>
            </a:pPr>
            <a:r>
              <a:rPr lang="vi-VN" sz="2400" dirty="0">
                <a:solidFill>
                  <a:srgbClr val="000000"/>
                </a:solidFill>
                <a:effectLst/>
                <a:latin typeface="Times New Roman" panose="02020603050405020304" pitchFamily="18" charset="0"/>
                <a:ea typeface="Times New Roman" panose="02020603050405020304" pitchFamily="18" charset="0"/>
              </a:rPr>
              <a:t>+ Khi hiệu điện thế nhỏ, đường đặc trưng Vôn-ampe gần đúng là đường thẳng</a:t>
            </a:r>
            <a:endParaRPr lang="en-US" sz="2400" dirty="0">
              <a:effectLst/>
              <a:latin typeface="Calibri" panose="020F0502020204030204" pitchFamily="34" charset="0"/>
              <a:ea typeface="Calibri" panose="020F0502020204030204" pitchFamily="34" charset="0"/>
            </a:endParaRPr>
          </a:p>
        </p:txBody>
      </p:sp>
      <p:grpSp>
        <p:nvGrpSpPr>
          <p:cNvPr id="14" name="Group 13"/>
          <p:cNvGrpSpPr/>
          <p:nvPr/>
        </p:nvGrpSpPr>
        <p:grpSpPr>
          <a:xfrm>
            <a:off x="640080" y="4969759"/>
            <a:ext cx="6648993" cy="461665"/>
            <a:chOff x="640080" y="4323927"/>
            <a:chExt cx="6648993" cy="461665"/>
          </a:xfrm>
        </p:grpSpPr>
        <p:sp>
          <p:nvSpPr>
            <p:cNvPr id="7" name="TextBox 6"/>
            <p:cNvSpPr txBox="1"/>
            <p:nvPr/>
          </p:nvSpPr>
          <p:spPr>
            <a:xfrm>
              <a:off x="640080" y="4323927"/>
              <a:ext cx="6648993" cy="461665"/>
            </a:xfrm>
            <a:prstGeom prst="rect">
              <a:avLst/>
            </a:prstGeom>
            <a:noFill/>
          </p:spPr>
          <p:txBody>
            <a:bodyPr wrap="square" rtlCol="0">
              <a:spAutoFit/>
            </a:bodyPr>
            <a:lstStyle/>
            <a:p>
              <a:r>
                <a:rPr lang="vi-VN" sz="2400" dirty="0">
                  <a:solidFill>
                    <a:srgbClr val="000000"/>
                  </a:solidFill>
                  <a:effectLst/>
                  <a:latin typeface="Times New Roman" panose="02020603050405020304" pitchFamily="18" charset="0"/>
                  <a:ea typeface="Times New Roman" panose="02020603050405020304" pitchFamily="18" charset="0"/>
                </a:rPr>
                <a:t>+ Điện trở phụ thuộc nhiệt độ:</a:t>
              </a:r>
              <a:endParaRPr lang="en-US" sz="2400" dirty="0">
                <a:effectLst/>
                <a:latin typeface="Calibri" panose="020F0502020204030204" pitchFamily="34" charset="0"/>
                <a:ea typeface="Calibri" panose="020F0502020204030204" pitchFamily="34" charset="0"/>
              </a:endParaRPr>
            </a:p>
          </p:txBody>
        </p:sp>
        <p:graphicFrame>
          <p:nvGraphicFramePr>
            <p:cNvPr id="9" name="Object 8"/>
            <p:cNvGraphicFramePr>
              <a:graphicFrameLocks noChangeAspect="1"/>
            </p:cNvGraphicFramePr>
            <p:nvPr/>
          </p:nvGraphicFramePr>
          <p:xfrm>
            <a:off x="4637313" y="4323927"/>
            <a:ext cx="2259875" cy="461665"/>
          </p:xfrm>
          <a:graphic>
            <a:graphicData uri="http://schemas.openxmlformats.org/presentationml/2006/ole">
              <mc:AlternateContent xmlns:mc="http://schemas.openxmlformats.org/markup-compatibility/2006">
                <mc:Choice xmlns:v="urn:schemas-microsoft-com:vml" Requires="v">
                  <p:oleObj spid="_x0000_s5195" name="Equation" r:id="rId1" imgW="1039495" imgH="229235" progId="Equation.DSMT4">
                    <p:embed/>
                  </p:oleObj>
                </mc:Choice>
                <mc:Fallback>
                  <p:oleObj name="Equation" r:id="rId1" imgW="1039495" imgH="229235" progId="Equation.DSMT4">
                    <p:embed/>
                    <p:pic>
                      <p:nvPicPr>
                        <p:cNvPr id="0" name="Picture 5194"/>
                        <p:cNvPicPr/>
                        <p:nvPr/>
                      </p:nvPicPr>
                      <p:blipFill>
                        <a:blip r:embed="rId2"/>
                        <a:stretch>
                          <a:fillRect/>
                        </a:stretch>
                      </p:blipFill>
                      <p:spPr>
                        <a:xfrm>
                          <a:off x="4637313" y="4323927"/>
                          <a:ext cx="2259875" cy="461665"/>
                        </a:xfrm>
                        <a:prstGeom prst="rect">
                          <a:avLst/>
                        </a:prstGeom>
                      </p:spPr>
                    </p:pic>
                  </p:oleObj>
                </mc:Fallback>
              </mc:AlternateContent>
            </a:graphicData>
          </a:graphic>
        </p:graphicFrame>
      </p:grpSp>
      <p:sp>
        <p:nvSpPr>
          <p:cNvPr id="16" name="TextBox 15"/>
          <p:cNvSpPr txBox="1"/>
          <p:nvPr/>
        </p:nvSpPr>
        <p:spPr>
          <a:xfrm>
            <a:off x="614996" y="2234991"/>
            <a:ext cx="5288371"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vi-VN" sz="2400" dirty="0">
                <a:solidFill>
                  <a:srgbClr val="000000"/>
                </a:solidFill>
                <a:effectLst/>
                <a:latin typeface="Times New Roman" panose="02020603050405020304" pitchFamily="18" charset="0"/>
                <a:ea typeface="Times New Roman" panose="02020603050405020304" pitchFamily="18" charset="0"/>
              </a:rPr>
              <a:t>a) Điện trở của đèn sợi đốt</a:t>
            </a:r>
            <a:endParaRPr lang="en-US" sz="2400" dirty="0">
              <a:effectLst/>
              <a:latin typeface="Calibri" panose="020F0502020204030204" pitchFamily="34" charset="0"/>
              <a:ea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ÔM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10" name="TextBox 9"/>
          <p:cNvSpPr txBox="1"/>
          <p:nvPr/>
        </p:nvSpPr>
        <p:spPr>
          <a:xfrm>
            <a:off x="522513" y="833168"/>
            <a:ext cx="10502537" cy="830997"/>
          </a:xfrm>
          <a:prstGeom prst="rect">
            <a:avLst/>
          </a:prstGeom>
          <a:noFill/>
        </p:spPr>
        <p:txBody>
          <a:bodyPr wrap="square" rtlCol="0">
            <a:spAutoFit/>
          </a:bodyPr>
          <a:lstStyle/>
          <a:p>
            <a:r>
              <a:rPr lang="vi-VN" sz="2400" b="1" dirty="0">
                <a:effectLst/>
                <a:latin typeface="Times New Roman" panose="02020603050405020304" pitchFamily="18" charset="0"/>
                <a:ea typeface="Calibri" panose="020F0502020204030204" pitchFamily="34" charset="0"/>
              </a:rPr>
              <a:t>II</a:t>
            </a:r>
            <a:r>
              <a:rPr lang="en-US" sz="2400" b="1" dirty="0">
                <a:latin typeface="Times New Roman" panose="02020603050405020304" pitchFamily="18" charset="0"/>
                <a:ea typeface="Calibri" panose="020F0502020204030204" pitchFamily="34" charset="0"/>
              </a:rPr>
              <a:t>I. </a:t>
            </a:r>
            <a:r>
              <a:rPr lang="vi-VN" sz="2400" b="1" dirty="0">
                <a:solidFill>
                  <a:srgbClr val="000000"/>
                </a:solidFill>
                <a:effectLst/>
                <a:latin typeface="Times New Roman" panose="02020603050405020304" pitchFamily="18" charset="0"/>
                <a:ea typeface="Times New Roman" panose="02020603050405020304" pitchFamily="18" charset="0"/>
              </a:rPr>
              <a:t>NGUYÊN NHÂN GÂY RA ĐIỆN TRỞ VÀ ẢNH HƯỞNG CỦA NHIỆT ĐỘ LÊN ĐIỆN TRỞ</a:t>
            </a:r>
            <a:endParaRPr lang="en-US" sz="2400" dirty="0">
              <a:effectLst/>
              <a:latin typeface="Calibri" panose="020F0502020204030204" pitchFamily="34" charset="0"/>
              <a:ea typeface="Calibri" panose="020F0502020204030204" pitchFamily="34" charset="0"/>
            </a:endParaRPr>
          </a:p>
        </p:txBody>
      </p:sp>
      <p:sp>
        <p:nvSpPr>
          <p:cNvPr id="13" name="TextBox 12"/>
          <p:cNvSpPr txBox="1"/>
          <p:nvPr/>
        </p:nvSpPr>
        <p:spPr>
          <a:xfrm>
            <a:off x="537663" y="1657408"/>
            <a:ext cx="7302138" cy="461665"/>
          </a:xfrm>
          <a:prstGeom prst="rect">
            <a:avLst/>
          </a:prstGeom>
          <a:noFill/>
        </p:spPr>
        <p:txBody>
          <a:bodyPr wrap="square" rtlCol="0">
            <a:spAutoFit/>
          </a:bodyPr>
          <a:lstStyle/>
          <a:p>
            <a:r>
              <a:rPr lang="vi-VN" sz="2400" b="1" dirty="0">
                <a:solidFill>
                  <a:srgbClr val="000000"/>
                </a:solidFill>
                <a:effectLst/>
                <a:latin typeface="Times New Roman" panose="02020603050405020304" pitchFamily="18" charset="0"/>
                <a:ea typeface="Times New Roman" panose="02020603050405020304" pitchFamily="18" charset="0"/>
              </a:rPr>
              <a:t>1. </a:t>
            </a:r>
            <a:r>
              <a:rPr lang="vi-VN" sz="2400" b="1" dirty="0"/>
              <a:t>Ảnh hưởng của nhiệt độ lên điện trở</a:t>
            </a:r>
            <a:r>
              <a:rPr lang="vi-VN" sz="2400" b="1" dirty="0">
                <a:solidFill>
                  <a:srgbClr val="000000"/>
                </a:solidFill>
                <a:effectLst/>
                <a:latin typeface="Times New Roman" panose="02020603050405020304" pitchFamily="18" charset="0"/>
                <a:ea typeface="Times New Roman" panose="02020603050405020304" pitchFamily="18" charset="0"/>
              </a:rPr>
              <a:t> </a:t>
            </a:r>
            <a:endParaRPr lang="en-US" sz="2400" dirty="0">
              <a:effectLst/>
              <a:latin typeface="Calibri" panose="020F0502020204030204" pitchFamily="34" charset="0"/>
              <a:ea typeface="Calibri" panose="020F0502020204030204" pitchFamily="34" charset="0"/>
            </a:endParaRPr>
          </a:p>
        </p:txBody>
      </p:sp>
      <p:sp>
        <p:nvSpPr>
          <p:cNvPr id="2" name="TextBox 1"/>
          <p:cNvSpPr txBox="1"/>
          <p:nvPr/>
        </p:nvSpPr>
        <p:spPr>
          <a:xfrm>
            <a:off x="537664" y="2233749"/>
            <a:ext cx="368164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b. </a:t>
            </a:r>
            <a:r>
              <a:rPr lang="vi-VN" sz="2400" dirty="0">
                <a:solidFill>
                  <a:srgbClr val="000000"/>
                </a:solidFill>
                <a:effectLst/>
                <a:latin typeface="Times New Roman" panose="02020603050405020304" pitchFamily="18" charset="0"/>
                <a:ea typeface="Times New Roman" panose="02020603050405020304" pitchFamily="18" charset="0"/>
              </a:rPr>
              <a:t>Đi</a:t>
            </a:r>
            <a:r>
              <a:rPr lang="en-US" sz="2400" dirty="0">
                <a:solidFill>
                  <a:srgbClr val="000000"/>
                </a:solidFill>
                <a:effectLst/>
                <a:latin typeface="Times New Roman" panose="02020603050405020304" pitchFamily="18" charset="0"/>
                <a:ea typeface="Times New Roman" panose="02020603050405020304" pitchFamily="18" charset="0"/>
              </a:rPr>
              <a:t>ệ</a:t>
            </a:r>
            <a:r>
              <a:rPr lang="vi-VN" sz="2400" dirty="0">
                <a:solidFill>
                  <a:srgbClr val="000000"/>
                </a:solidFill>
                <a:effectLst/>
                <a:latin typeface="Times New Roman" panose="02020603050405020304" pitchFamily="18" charset="0"/>
                <a:ea typeface="Times New Roman" panose="02020603050405020304" pitchFamily="18" charset="0"/>
              </a:rPr>
              <a:t>n trở nhiệt</a:t>
            </a:r>
            <a:endParaRPr lang="en-US" sz="2400" dirty="0">
              <a:effectLst/>
              <a:latin typeface="Calibri" panose="020F0502020204030204" pitchFamily="34" charset="0"/>
              <a:ea typeface="Calibri" panose="020F0502020204030204" pitchFamily="34" charset="0"/>
            </a:endParaRPr>
          </a:p>
        </p:txBody>
      </p:sp>
      <p:sp>
        <p:nvSpPr>
          <p:cNvPr id="4" name="TextBox 3"/>
          <p:cNvSpPr txBox="1"/>
          <p:nvPr/>
        </p:nvSpPr>
        <p:spPr>
          <a:xfrm>
            <a:off x="757980" y="2913017"/>
            <a:ext cx="10619769" cy="954107"/>
          </a:xfrm>
          <a:prstGeom prst="rect">
            <a:avLst/>
          </a:prstGeom>
          <a:noFill/>
        </p:spPr>
        <p:txBody>
          <a:bodyPr wrap="square" rtlCol="0">
            <a:spAutoFit/>
          </a:bodyPr>
          <a:lstStyle/>
          <a:p>
            <a:r>
              <a:rPr lang="vi-VN" sz="2800" dirty="0">
                <a:solidFill>
                  <a:srgbClr val="000000"/>
                </a:solidFill>
                <a:effectLst/>
                <a:latin typeface="Times New Roman" panose="02020603050405020304" pitchFamily="18" charset="0"/>
                <a:ea typeface="Times New Roman" panose="02020603050405020304" pitchFamily="18" charset="0"/>
              </a:rPr>
              <a:t>Điện trở nhiệt (thermistor) là linh kiện có điện trở thay đổi một cách rõ rệt theo nhiệt độ. </a:t>
            </a:r>
            <a:endParaRPr lang="en-US" sz="2800" dirty="0">
              <a:effectLst/>
              <a:latin typeface="Calibri" panose="020F0502020204030204" pitchFamily="34" charset="0"/>
              <a:ea typeface="Calibri" panose="020F0502020204030204" pitchFamily="34" charset="0"/>
            </a:endParaRPr>
          </a:p>
        </p:txBody>
      </p:sp>
      <p:sp>
        <p:nvSpPr>
          <p:cNvPr id="6" name="TextBox 5"/>
          <p:cNvSpPr txBox="1"/>
          <p:nvPr/>
        </p:nvSpPr>
        <p:spPr>
          <a:xfrm>
            <a:off x="757979" y="4013542"/>
            <a:ext cx="10502537" cy="1302921"/>
          </a:xfrm>
          <a:prstGeom prst="rect">
            <a:avLst/>
          </a:prstGeom>
          <a:noFill/>
        </p:spPr>
        <p:txBody>
          <a:bodyPr wrap="square" rtlCol="0">
            <a:spAutoFit/>
          </a:bodyPr>
          <a:lstStyle/>
          <a:p>
            <a:pPr algn="just">
              <a:spcAft>
                <a:spcPts val="800"/>
              </a:spcAft>
            </a:pPr>
            <a:r>
              <a:rPr lang="vi-VN" sz="2400" dirty="0">
                <a:solidFill>
                  <a:srgbClr val="000000"/>
                </a:solidFill>
                <a:effectLst/>
                <a:latin typeface="Times New Roman" panose="02020603050405020304" pitchFamily="18" charset="0"/>
                <a:ea typeface="Times New Roman" panose="02020603050405020304" pitchFamily="18" charset="0"/>
              </a:rPr>
              <a:t>Điện trở nhiệt có thể phân thành 2 loại:</a:t>
            </a:r>
            <a:endParaRPr lang="en-US" sz="2400" dirty="0">
              <a:effectLst/>
              <a:latin typeface="Calibri" panose="020F0502020204030204" pitchFamily="34" charset="0"/>
              <a:ea typeface="Calibri" panose="020F0502020204030204" pitchFamily="34" charset="0"/>
            </a:endParaRPr>
          </a:p>
          <a:p>
            <a:pPr algn="just">
              <a:spcAft>
                <a:spcPts val="800"/>
              </a:spcAft>
            </a:pPr>
            <a:r>
              <a:rPr lang="vi-VN" sz="2400" dirty="0">
                <a:solidFill>
                  <a:srgbClr val="000000"/>
                </a:solidFill>
                <a:effectLst/>
                <a:latin typeface="Times New Roman" panose="02020603050405020304" pitchFamily="18" charset="0"/>
                <a:ea typeface="Times New Roman" panose="02020603050405020304" pitchFamily="18" charset="0"/>
              </a:rPr>
              <a:t>- Điện trở nhiệt thuận (Kí hiệu là PTC: positive temperature coefficent): Điện trở tăng khi nhiệt độ tăng.</a:t>
            </a:r>
            <a:endParaRPr lang="en-US" sz="2400" dirty="0">
              <a:effectLst/>
              <a:latin typeface="Calibri" panose="020F0502020204030204" pitchFamily="34" charset="0"/>
              <a:ea typeface="Calibri" panose="020F0502020204030204" pitchFamily="34" charset="0"/>
            </a:endParaRPr>
          </a:p>
        </p:txBody>
      </p:sp>
      <p:sp>
        <p:nvSpPr>
          <p:cNvPr id="8" name="TextBox 7"/>
          <p:cNvSpPr txBox="1"/>
          <p:nvPr/>
        </p:nvSpPr>
        <p:spPr>
          <a:xfrm>
            <a:off x="757979" y="5579558"/>
            <a:ext cx="10502537" cy="830997"/>
          </a:xfrm>
          <a:prstGeom prst="rect">
            <a:avLst/>
          </a:prstGeom>
          <a:noFill/>
        </p:spPr>
        <p:txBody>
          <a:bodyPr wrap="square" rtlCol="0">
            <a:spAutoFit/>
          </a:bodyPr>
          <a:lstStyle/>
          <a:p>
            <a:pPr algn="l"/>
            <a:r>
              <a:rPr lang="vi-VN" sz="2400" dirty="0">
                <a:solidFill>
                  <a:srgbClr val="000000"/>
                </a:solidFill>
                <a:effectLst/>
                <a:latin typeface="Times New Roman" panose="02020603050405020304" pitchFamily="18" charset="0"/>
                <a:ea typeface="Times New Roman" panose="02020603050405020304" pitchFamily="18" charset="0"/>
              </a:rPr>
              <a:t>- Điện trở nhiệt ngược (Kí hiệu NTC: negative temperature coefficent): Điện trở giảm khi nhiệt độ tăng</a:t>
            </a:r>
            <a:r>
              <a:rPr lang="vi-VN" sz="1800" dirty="0">
                <a:solidFill>
                  <a:srgbClr val="000000"/>
                </a:solidFill>
                <a:effectLst/>
                <a:latin typeface="Times New Roman" panose="02020603050405020304" pitchFamily="18" charset="0"/>
                <a:ea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2" grpId="0"/>
      <p:bldP spid="4" grpId="0"/>
      <p:bldP spid="6"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2" name="TextBox 1"/>
          <p:cNvSpPr txBox="1"/>
          <p:nvPr/>
        </p:nvSpPr>
        <p:spPr>
          <a:xfrm>
            <a:off x="537663" y="781453"/>
            <a:ext cx="3252652" cy="461665"/>
          </a:xfrm>
          <a:prstGeom prst="rect">
            <a:avLst/>
          </a:prstGeom>
          <a:noFill/>
        </p:spPr>
        <p:txBody>
          <a:bodyPr wrap="square" rtlCol="0">
            <a:spAutoFit/>
          </a:bodyPr>
          <a:lstStyle/>
          <a:p>
            <a:pPr algn="l"/>
            <a:r>
              <a:rPr lang="en-US" sz="2400" dirty="0">
                <a:latin typeface="Times New Roman" panose="02020603050405020304" pitchFamily="18" charset="0"/>
                <a:cs typeface="Times New Roman" panose="02020603050405020304" pitchFamily="18" charset="0"/>
              </a:rPr>
              <a:t>IV. </a:t>
            </a:r>
            <a:r>
              <a:rPr lang="en-US" sz="2400" dirty="0" err="1">
                <a:latin typeface="Times New Roman" panose="02020603050405020304" pitchFamily="18" charset="0"/>
                <a:cs typeface="Times New Roman" panose="02020603050405020304" pitchFamily="18" charset="0"/>
              </a:rPr>
              <a:t>LUYỆN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TẬP</a:t>
            </a:r>
            <a:endParaRPr lang="en-US"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37663" y="1504129"/>
            <a:ext cx="10121628" cy="2482026"/>
          </a:xfrm>
          <a:prstGeom prst="rect">
            <a:avLst/>
          </a:prstGeom>
          <a:noFill/>
        </p:spPr>
        <p:txBody>
          <a:bodyPr wrap="square" rtlCol="0">
            <a:spAutoFit/>
          </a:bodyPr>
          <a:lstStyle/>
          <a:p>
            <a:pPr algn="just">
              <a:lnSpc>
                <a:spcPct val="120000"/>
              </a:lnSpc>
              <a:spcBef>
                <a:spcPts val="240"/>
              </a:spcBef>
              <a:spcAft>
                <a:spcPts val="240"/>
              </a:spcAft>
            </a:pPr>
            <a:r>
              <a:rPr lang="vi-VN" sz="2400" b="1" dirty="0">
                <a:effectLst/>
                <a:latin typeface="Times New Roman" panose="02020603050405020304" pitchFamily="18" charset="0"/>
                <a:ea typeface="Calibri" panose="020F0502020204030204" pitchFamily="34" charset="0"/>
              </a:rPr>
              <a:t>Câu 1:</a:t>
            </a:r>
            <a:r>
              <a:rPr lang="vi-VN" sz="2400" dirty="0">
                <a:effectLst/>
                <a:latin typeface="Times New Roman" panose="02020603050405020304" pitchFamily="18" charset="0"/>
                <a:ea typeface="Calibri" panose="020F0502020204030204" pitchFamily="34" charset="0"/>
              </a:rPr>
              <a:t> Điện trở của kim loại phụ thuộc vào nhiệt độ như thế nào:</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A.</a:t>
            </a:r>
            <a:r>
              <a:rPr lang="vi-VN" sz="2400" dirty="0">
                <a:effectLst/>
                <a:latin typeface="Times New Roman" panose="02020603050405020304" pitchFamily="18" charset="0"/>
                <a:ea typeface="Calibri" panose="020F0502020204030204" pitchFamily="34" charset="0"/>
              </a:rPr>
              <a:t> Tăng khi nhiệt độ giảm</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B.</a:t>
            </a:r>
            <a:r>
              <a:rPr lang="vi-VN" sz="2400" dirty="0">
                <a:effectLst/>
                <a:latin typeface="Times New Roman" panose="02020603050405020304" pitchFamily="18" charset="0"/>
                <a:ea typeface="Calibri" panose="020F0502020204030204" pitchFamily="34" charset="0"/>
              </a:rPr>
              <a:t> Tăng khi nhiệt độ tăng</a:t>
            </a:r>
            <a:r>
              <a:rPr lang="vi-VN" sz="2400" b="1" dirty="0">
                <a:effectLst/>
                <a:latin typeface="Times New Roman" panose="02020603050405020304" pitchFamily="18" charset="0"/>
                <a:ea typeface="Calibri" panose="020F0502020204030204" pitchFamily="34" charset="0"/>
              </a:rPr>
              <a:t>	</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C.</a:t>
            </a:r>
            <a:r>
              <a:rPr lang="vi-VN" sz="2400" dirty="0">
                <a:effectLst/>
                <a:latin typeface="Times New Roman" panose="02020603050405020304" pitchFamily="18" charset="0"/>
                <a:ea typeface="Calibri" panose="020F0502020204030204" pitchFamily="34" charset="0"/>
              </a:rPr>
              <a:t> Không đổi theo nhiệt độ</a:t>
            </a:r>
            <a:r>
              <a:rPr lang="vi-VN" sz="2400" b="1" dirty="0">
                <a:effectLst/>
                <a:latin typeface="Times New Roman" panose="02020603050405020304" pitchFamily="18" charset="0"/>
                <a:ea typeface="Calibri" panose="020F0502020204030204" pitchFamily="34" charset="0"/>
              </a:rPr>
              <a:t>	</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D.</a:t>
            </a:r>
            <a:r>
              <a:rPr lang="vi-VN" sz="2400" dirty="0">
                <a:effectLst/>
                <a:latin typeface="Times New Roman" panose="02020603050405020304" pitchFamily="18" charset="0"/>
                <a:ea typeface="Calibri" panose="020F0502020204030204" pitchFamily="34" charset="0"/>
              </a:rPr>
              <a:t> Tăng hay giảm phụ thuộc vào bản chất kim loại</a:t>
            </a:r>
            <a:endParaRPr lang="en-US" sz="2400" dirty="0">
              <a:effectLst/>
              <a:latin typeface="Calibri" panose="020F0502020204030204" pitchFamily="34" charset="0"/>
              <a:ea typeface="Calibri" panose="020F0502020204030204" pitchFamily="34" charset="0"/>
            </a:endParaRPr>
          </a:p>
        </p:txBody>
      </p:sp>
      <p:sp>
        <p:nvSpPr>
          <p:cNvPr id="5" name="Oval 4"/>
          <p:cNvSpPr/>
          <p:nvPr/>
        </p:nvSpPr>
        <p:spPr>
          <a:xfrm>
            <a:off x="666206" y="2519788"/>
            <a:ext cx="457200" cy="450709"/>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 name="TextBox 3"/>
              <p:cNvSpPr txBox="1"/>
              <p:nvPr/>
            </p:nvSpPr>
            <p:spPr>
              <a:xfrm>
                <a:off x="537663" y="3908390"/>
                <a:ext cx="11504282" cy="1441741"/>
              </a:xfrm>
              <a:prstGeom prst="rect">
                <a:avLst/>
              </a:prstGeom>
              <a:noFill/>
            </p:spPr>
            <p:txBody>
              <a:bodyPr wrap="square" rtlCol="0">
                <a:spAutoFit/>
              </a:bodyPr>
              <a:lstStyle/>
              <a:p>
                <a:pPr algn="just">
                  <a:lnSpc>
                    <a:spcPct val="120000"/>
                  </a:lnSpc>
                  <a:spcBef>
                    <a:spcPts val="240"/>
                  </a:spcBef>
                  <a:spcAft>
                    <a:spcPts val="240"/>
                  </a:spcAft>
                </a:pPr>
                <a:r>
                  <a:rPr lang="vi-VN" sz="2400" b="1" dirty="0">
                    <a:effectLst/>
                    <a:latin typeface="Times New Roman" panose="02020603050405020304" pitchFamily="18" charset="0"/>
                    <a:ea typeface="Calibri" panose="020F0502020204030204" pitchFamily="34" charset="0"/>
                  </a:rPr>
                  <a:t>Câu 2:</a:t>
                </a:r>
                <a:r>
                  <a:rPr lang="vi-VN" sz="2400" dirty="0">
                    <a:effectLst/>
                    <a:latin typeface="Times New Roman" panose="02020603050405020304" pitchFamily="18" charset="0"/>
                    <a:ea typeface="Calibri" panose="020F0502020204030204" pitchFamily="34" charset="0"/>
                  </a:rPr>
                  <a:t> Người ta cần một điện trở 100</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vi-VN" sz="2400" dirty="0">
                    <a:effectLst/>
                    <a:latin typeface="Times New Roman" panose="02020603050405020304" pitchFamily="18" charset="0"/>
                    <a:ea typeface="Calibri" panose="020F0502020204030204" pitchFamily="34" charset="0"/>
                  </a:rPr>
                  <a:t> bằng một dây nicrom có đường kính 0,4mm. Điện trở suất nicrom </a:t>
                </a:r>
                <a14:m>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𝜌</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r>
                      <a:rPr lang="en-US" sz="2400" i="1">
                        <a:effectLst/>
                        <a:latin typeface="Cambria Math" panose="02040503050406030204" pitchFamily="18" charset="0"/>
                        <a:ea typeface="Calibri" panose="020F0502020204030204" pitchFamily="34" charset="0"/>
                        <a:cs typeface="Times New Roman" panose="02020603050405020304" pitchFamily="18" charset="0"/>
                      </a:rPr>
                      <m:t>110</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r>
                      <a:rPr lang="en-US" sz="2400"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400" i="1">
                            <a:effectLst/>
                            <a:latin typeface="Cambria Math" panose="02040503050406030204" pitchFamily="18" charset="0"/>
                            <a:ea typeface="Calibri" panose="020F0502020204030204" pitchFamily="34" charset="0"/>
                            <a:cs typeface="Times New Roman" panose="02020603050405020304" pitchFamily="18" charset="0"/>
                          </a:rPr>
                          <m:t>0</m:t>
                        </m:r>
                      </m:e>
                      <m:sup>
                        <m:r>
                          <a:rPr lang="en-US" sz="2400" i="1">
                            <a:effectLst/>
                            <a:latin typeface="Cambria Math" panose="02040503050406030204" pitchFamily="18" charset="0"/>
                            <a:ea typeface="Calibri" panose="020F0502020204030204" pitchFamily="34" charset="0"/>
                          </a:rPr>
                          <m:t>−</m:t>
                        </m:r>
                        <m:r>
                          <a:rPr lang="en-US" sz="2400" i="1">
                            <a:effectLst/>
                            <a:latin typeface="Cambria Math" panose="02040503050406030204" pitchFamily="18" charset="0"/>
                            <a:ea typeface="Calibri" panose="020F0502020204030204" pitchFamily="34" charset="0"/>
                            <a:cs typeface="Times New Roman" panose="02020603050405020304" pitchFamily="18" charset="0"/>
                          </a:rPr>
                          <m:t>8</m:t>
                        </m:r>
                      </m:sup>
                    </m:sSup>
                    <m:r>
                      <a:rPr lang="en-US" sz="2400" i="1">
                        <a:effectLst/>
                        <a:latin typeface="Cambria Math" panose="02040503050406030204" pitchFamily="18" charset="0"/>
                        <a:ea typeface="Calibri" panose="020F0502020204030204" pitchFamily="34" charset="0"/>
                      </a:rPr>
                      <m:t>𝛺</m:t>
                    </m:r>
                    <m:r>
                      <a:rPr lang="en-US" sz="2400" i="1">
                        <a:effectLst/>
                        <a:latin typeface="Cambria Math" panose="02040503050406030204" pitchFamily="18" charset="0"/>
                        <a:ea typeface="Calibri" panose="020F0502020204030204" pitchFamily="34" charset="0"/>
                        <a:cs typeface="Times New Roman" panose="02020603050405020304" pitchFamily="18" charset="0"/>
                      </a:rPr>
                      <m:t>𝑚</m:t>
                    </m:r>
                  </m:oMath>
                </a14:m>
                <a:r>
                  <a:rPr lang="vi-VN" sz="2400" dirty="0">
                    <a:effectLst/>
                    <a:latin typeface="Times New Roman" panose="02020603050405020304" pitchFamily="18" charset="0"/>
                    <a:ea typeface="Calibri" panose="020F0502020204030204" pitchFamily="34" charset="0"/>
                  </a:rPr>
                  <a:t>. Hỏi phải dùng một đoạn dây có chiều dài bao nhiêu:</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A.</a:t>
                </a:r>
                <a:r>
                  <a:rPr lang="vi-VN" sz="2400" dirty="0">
                    <a:effectLst/>
                    <a:latin typeface="Times New Roman" panose="02020603050405020304" pitchFamily="18" charset="0"/>
                    <a:ea typeface="Calibri" panose="020F0502020204030204" pitchFamily="34" charset="0"/>
                  </a:rPr>
                  <a:t> 8,9m. 	</a:t>
                </a:r>
                <a:r>
                  <a:rPr lang="vi-VN" sz="2400" b="1" dirty="0">
                    <a:effectLst/>
                    <a:latin typeface="Times New Roman" panose="02020603050405020304" pitchFamily="18" charset="0"/>
                    <a:ea typeface="Calibri" panose="020F0502020204030204" pitchFamily="34" charset="0"/>
                  </a:rPr>
                  <a:t>B.</a:t>
                </a:r>
                <a:r>
                  <a:rPr lang="vi-VN" sz="2400" dirty="0">
                    <a:effectLst/>
                    <a:latin typeface="Times New Roman" panose="02020603050405020304" pitchFamily="18" charset="0"/>
                    <a:ea typeface="Calibri" panose="020F0502020204030204" pitchFamily="34" charset="0"/>
                  </a:rPr>
                  <a:t> 10,05m. 	</a:t>
                </a:r>
                <a:r>
                  <a:rPr lang="en-US" sz="2400" dirty="0">
                    <a:latin typeface="Calibri" panose="020F0502020204030204" pitchFamily="34" charset="0"/>
                    <a:ea typeface="Calibri" panose="020F0502020204030204" pitchFamily="34" charset="0"/>
                  </a:rPr>
                  <a:t> </a:t>
                </a:r>
                <a:r>
                  <a:rPr lang="vi-VN" sz="2400" b="1" dirty="0">
                    <a:effectLst/>
                    <a:latin typeface="Times New Roman" panose="02020603050405020304" pitchFamily="18" charset="0"/>
                    <a:ea typeface="Calibri" panose="020F0502020204030204" pitchFamily="34" charset="0"/>
                  </a:rPr>
                  <a:t>C.</a:t>
                </a:r>
                <a:r>
                  <a:rPr lang="vi-VN" sz="2400" dirty="0">
                    <a:effectLst/>
                    <a:latin typeface="Times New Roman" panose="02020603050405020304" pitchFamily="18" charset="0"/>
                    <a:ea typeface="Calibri" panose="020F0502020204030204" pitchFamily="34" charset="0"/>
                  </a:rPr>
                  <a:t> 11,4m</a:t>
                </a:r>
                <a:r>
                  <a:rPr lang="vi-VN" sz="2400" b="1" dirty="0">
                    <a:effectLst/>
                    <a:latin typeface="Times New Roman" panose="02020603050405020304" pitchFamily="18" charset="0"/>
                    <a:ea typeface="Calibri" panose="020F0502020204030204" pitchFamily="34" charset="0"/>
                  </a:rPr>
                  <a:t>	D.</a:t>
                </a:r>
                <a:r>
                  <a:rPr lang="vi-VN" sz="2400" dirty="0">
                    <a:effectLst/>
                    <a:latin typeface="Times New Roman" panose="02020603050405020304" pitchFamily="18" charset="0"/>
                    <a:ea typeface="Calibri" panose="020F0502020204030204" pitchFamily="34" charset="0"/>
                  </a:rPr>
                  <a:t> 12,6m. </a:t>
                </a:r>
                <a:endParaRPr lang="en-US" sz="2400" dirty="0">
                  <a:effectLst/>
                  <a:latin typeface="Calibri" panose="020F0502020204030204" pitchFamily="34" charset="0"/>
                  <a:ea typeface="Calibri" panose="020F0502020204030204" pitchFamily="34" charset="0"/>
                </a:endParaRPr>
              </a:p>
            </p:txBody>
          </p:sp>
        </mc:Choice>
        <mc:Fallback>
          <p:sp>
            <p:nvSpPr>
              <p:cNvPr id="4" name="TextBox 3"/>
              <p:cNvSpPr txBox="1">
                <a:spLocks noRot="1" noChangeAspect="1" noMove="1" noResize="1" noEditPoints="1" noAdjustHandles="1" noChangeArrowheads="1" noChangeShapeType="1" noTextEdit="1"/>
              </p:cNvSpPr>
              <p:nvPr/>
            </p:nvSpPr>
            <p:spPr>
              <a:xfrm>
                <a:off x="537663" y="3908390"/>
                <a:ext cx="11504282" cy="1441741"/>
              </a:xfrm>
              <a:prstGeom prst="rect">
                <a:avLst/>
              </a:prstGeom>
              <a:blipFill rotWithShape="1">
                <a:blip r:embed="rId1"/>
                <a:stretch>
                  <a:fillRect l="-4" t="-42" r="4" b="-3902"/>
                </a:stretch>
              </a:blipFill>
            </p:spPr>
            <p:txBody>
              <a:bodyPr/>
              <a:lstStyle/>
              <a:p>
                <a:r>
                  <a:rPr lang="en-US" altLang="en-US">
                    <a:noFill/>
                  </a:rPr>
                  <a:t> </a:t>
                </a:r>
              </a:p>
            </p:txBody>
          </p:sp>
        </mc:Fallback>
      </mc:AlternateContent>
      <p:grpSp>
        <p:nvGrpSpPr>
          <p:cNvPr id="35" name="Group 34"/>
          <p:cNvGrpSpPr/>
          <p:nvPr/>
        </p:nvGrpSpPr>
        <p:grpSpPr>
          <a:xfrm>
            <a:off x="660717" y="5374758"/>
            <a:ext cx="9875520" cy="1152482"/>
            <a:chOff x="666206" y="4952091"/>
            <a:chExt cx="9875520" cy="1152482"/>
          </a:xfrm>
        </p:grpSpPr>
        <p:sp>
          <p:nvSpPr>
            <p:cNvPr id="8" name="TextBox 7"/>
            <p:cNvSpPr txBox="1"/>
            <p:nvPr/>
          </p:nvSpPr>
          <p:spPr>
            <a:xfrm>
              <a:off x="666206" y="5381897"/>
              <a:ext cx="9875520" cy="461665"/>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vi-VN" sz="1800" b="1" dirty="0">
                  <a:solidFill>
                    <a:srgbClr val="000000"/>
                  </a:solidFill>
                  <a:effectLst/>
                  <a:latin typeface="Times New Roman" panose="02020603050405020304" pitchFamily="18" charset="0"/>
                  <a:ea typeface="Calibri" panose="020F0502020204030204" pitchFamily="34" charset="0"/>
                </a:rPr>
                <a:t>Đáp án C</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graphicFrame>
          <p:nvGraphicFramePr>
            <p:cNvPr id="32" name="Object 31"/>
            <p:cNvGraphicFramePr>
              <a:graphicFrameLocks noChangeAspect="1"/>
            </p:cNvGraphicFramePr>
            <p:nvPr/>
          </p:nvGraphicFramePr>
          <p:xfrm>
            <a:off x="2439442" y="5253531"/>
            <a:ext cx="1494512" cy="851042"/>
          </p:xfrm>
          <a:graphic>
            <a:graphicData uri="http://schemas.openxmlformats.org/presentationml/2006/ole">
              <mc:AlternateContent xmlns:mc="http://schemas.openxmlformats.org/markup-compatibility/2006">
                <mc:Choice xmlns:v="urn:schemas-microsoft-com:vml" Requires="v">
                  <p:oleObj spid="_x0000_s5195" name="Equation" r:id="rId2" imgW="687070" imgH="390525" progId="Equation.DSMT4">
                    <p:embed/>
                  </p:oleObj>
                </mc:Choice>
                <mc:Fallback>
                  <p:oleObj name="Equation" r:id="rId2" imgW="687070" imgH="390525" progId="Equation.DSMT4">
                    <p:embed/>
                    <p:pic>
                      <p:nvPicPr>
                        <p:cNvPr id="0" name="Picture 5194"/>
                        <p:cNvPicPr/>
                        <p:nvPr/>
                      </p:nvPicPr>
                      <p:blipFill>
                        <a:blip r:embed="rId3"/>
                        <a:stretch>
                          <a:fillRect/>
                        </a:stretch>
                      </p:blipFill>
                      <p:spPr>
                        <a:xfrm>
                          <a:off x="2439442" y="5253531"/>
                          <a:ext cx="1494512" cy="851042"/>
                        </a:xfrm>
                        <a:prstGeom prst="rect">
                          <a:avLst/>
                        </a:prstGeom>
                      </p:spPr>
                    </p:pic>
                  </p:oleObj>
                </mc:Fallback>
              </mc:AlternateContent>
            </a:graphicData>
          </a:graphic>
        </p:graphicFrame>
        <p:graphicFrame>
          <p:nvGraphicFramePr>
            <p:cNvPr id="33" name="Object 32"/>
            <p:cNvGraphicFramePr>
              <a:graphicFrameLocks noChangeAspect="1"/>
            </p:cNvGraphicFramePr>
            <p:nvPr/>
          </p:nvGraphicFramePr>
          <p:xfrm>
            <a:off x="3933954" y="4952091"/>
            <a:ext cx="3747006" cy="1044808"/>
          </p:xfrm>
          <a:graphic>
            <a:graphicData uri="http://schemas.openxmlformats.org/presentationml/2006/ole">
              <mc:AlternateContent xmlns:mc="http://schemas.openxmlformats.org/markup-compatibility/2006">
                <mc:Choice xmlns:v="urn:schemas-microsoft-com:vml" Requires="v">
                  <p:oleObj spid="_x0000_s6" name="Equation" r:id="rId4" imgW="1915795" imgH="534035" progId="Equation.DSMT4">
                    <p:embed/>
                  </p:oleObj>
                </mc:Choice>
                <mc:Fallback>
                  <p:oleObj name="Equation" r:id="rId4" imgW="1915795" imgH="534035" progId="Equation.DSMT4">
                    <p:embed/>
                    <p:pic>
                      <p:nvPicPr>
                        <p:cNvPr id="0" name="Picture 5"/>
                        <p:cNvPicPr/>
                        <p:nvPr/>
                      </p:nvPicPr>
                      <p:blipFill>
                        <a:blip r:embed="rId5"/>
                        <a:stretch>
                          <a:fillRect/>
                        </a:stretch>
                      </p:blipFill>
                      <p:spPr>
                        <a:xfrm>
                          <a:off x="3933954" y="4952091"/>
                          <a:ext cx="3747006" cy="1044808"/>
                        </a:xfrm>
                        <a:prstGeom prst="rect">
                          <a:avLst/>
                        </a:prstGeom>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2" name="TextBox 1"/>
          <p:cNvSpPr txBox="1"/>
          <p:nvPr/>
        </p:nvSpPr>
        <p:spPr>
          <a:xfrm>
            <a:off x="362450" y="806830"/>
            <a:ext cx="3252652" cy="461665"/>
          </a:xfrm>
          <a:prstGeom prst="rect">
            <a:avLst/>
          </a:prstGeom>
          <a:noFill/>
        </p:spPr>
        <p:txBody>
          <a:bodyPr wrap="square" rtlCol="0">
            <a:spAutoFit/>
          </a:bodyPr>
          <a:lstStyle/>
          <a:p>
            <a:pPr algn="l"/>
            <a:r>
              <a:rPr lang="en-US" sz="2400" b="1" dirty="0">
                <a:latin typeface="Times New Roman" panose="02020603050405020304" pitchFamily="18" charset="0"/>
                <a:cs typeface="Times New Roman" panose="02020603050405020304" pitchFamily="18" charset="0"/>
              </a:rPr>
              <a:t>IV. </a:t>
            </a:r>
            <a:r>
              <a:rPr lang="en-US" sz="2400" b="1" dirty="0" err="1">
                <a:latin typeface="Times New Roman" panose="02020603050405020304" pitchFamily="18" charset="0"/>
                <a:cs typeface="Times New Roman" panose="02020603050405020304" pitchFamily="18" charset="0"/>
              </a:rPr>
              <a:t>LUYỆN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TẬP</a:t>
            </a:r>
            <a:endParaRPr lang="en-US" sz="24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2449" y="1367481"/>
            <a:ext cx="10009459" cy="1441741"/>
          </a:xfrm>
          <a:prstGeom prst="rect">
            <a:avLst/>
          </a:prstGeom>
          <a:noFill/>
        </p:spPr>
        <p:txBody>
          <a:bodyPr wrap="square" rtlCol="0">
            <a:spAutoFit/>
          </a:bodyPr>
          <a:lstStyle/>
          <a:p>
            <a:pPr algn="just">
              <a:lnSpc>
                <a:spcPct val="120000"/>
              </a:lnSpc>
              <a:spcBef>
                <a:spcPts val="240"/>
              </a:spcBef>
              <a:spcAft>
                <a:spcPts val="240"/>
              </a:spcAft>
            </a:pPr>
            <a:r>
              <a:rPr lang="vi-VN" sz="2400" b="1" dirty="0">
                <a:effectLst/>
                <a:latin typeface="Times New Roman" panose="02020603050405020304" pitchFamily="18" charset="0"/>
                <a:ea typeface="Calibri" panose="020F0502020204030204" pitchFamily="34" charset="0"/>
              </a:rPr>
              <a:t>Câu 3:</a:t>
            </a:r>
            <a:r>
              <a:rPr lang="vi-VN" sz="2400" dirty="0">
                <a:effectLst/>
                <a:latin typeface="Times New Roman" panose="02020603050405020304" pitchFamily="18" charset="0"/>
                <a:ea typeface="Calibri" panose="020F0502020204030204" pitchFamily="34" charset="0"/>
              </a:rPr>
              <a:t> Một dây kim loại dài lm, đường kính lmm, có điện trở 0,4</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vi-VN" sz="2400" dirty="0">
                <a:effectLst/>
                <a:latin typeface="Times New Roman" panose="02020603050405020304" pitchFamily="18" charset="0"/>
                <a:ea typeface="Calibri" panose="020F0502020204030204" pitchFamily="34" charset="0"/>
              </a:rPr>
              <a:t>. Tính điện trở của một dây cùng chất đường kính 0,4mm khi dây này có điện trở 12,5</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vi-VN" sz="2400" dirty="0">
                <a:effectLst/>
                <a:latin typeface="Times New Roman" panose="02020603050405020304" pitchFamily="18" charset="0"/>
                <a:ea typeface="Calibri" panose="020F0502020204030204" pitchFamily="34" charset="0"/>
              </a:rPr>
              <a:t>:</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A.</a:t>
            </a:r>
            <a:r>
              <a:rPr lang="vi-VN" sz="2400" dirty="0">
                <a:effectLst/>
                <a:latin typeface="Times New Roman" panose="02020603050405020304" pitchFamily="18" charset="0"/>
                <a:ea typeface="Calibri" panose="020F0502020204030204" pitchFamily="34" charset="0"/>
              </a:rPr>
              <a:t> 4m</a:t>
            </a:r>
            <a:r>
              <a:rPr lang="vi-VN" sz="2400" b="1" dirty="0">
                <a:effectLst/>
                <a:latin typeface="Times New Roman" panose="02020603050405020304" pitchFamily="18" charset="0"/>
                <a:ea typeface="Calibri" panose="020F0502020204030204" pitchFamily="34" charset="0"/>
              </a:rPr>
              <a:t>	B.</a:t>
            </a:r>
            <a:r>
              <a:rPr lang="vi-VN" sz="2400" dirty="0">
                <a:effectLst/>
                <a:latin typeface="Times New Roman" panose="02020603050405020304" pitchFamily="18" charset="0"/>
                <a:ea typeface="Calibri" panose="020F0502020204030204" pitchFamily="34" charset="0"/>
              </a:rPr>
              <a:t> 5</a:t>
            </a:r>
            <a:r>
              <a:rPr lang="en-US" sz="2400" dirty="0">
                <a:effectLst/>
                <a:latin typeface="Times New Roman" panose="02020603050405020304" pitchFamily="18" charset="0"/>
                <a:ea typeface="Calibri" panose="020F0502020204030204" pitchFamily="34" charset="0"/>
              </a:rPr>
              <a:t>m. </a:t>
            </a:r>
            <a:r>
              <a:rPr lang="vi-VN" sz="2400" b="1" dirty="0">
                <a:effectLst/>
                <a:latin typeface="Times New Roman" panose="02020603050405020304" pitchFamily="18" charset="0"/>
                <a:ea typeface="Calibri" panose="020F0502020204030204" pitchFamily="34" charset="0"/>
              </a:rPr>
              <a:t>C.</a:t>
            </a:r>
            <a:r>
              <a:rPr lang="vi-VN" sz="2400" dirty="0">
                <a:effectLst/>
                <a:latin typeface="Times New Roman" panose="02020603050405020304" pitchFamily="18" charset="0"/>
                <a:ea typeface="Calibri" panose="020F0502020204030204" pitchFamily="34" charset="0"/>
              </a:rPr>
              <a:t> 6m</a:t>
            </a:r>
            <a:r>
              <a:rPr lang="vi-VN" sz="2400" b="1" dirty="0">
                <a:effectLst/>
                <a:latin typeface="Times New Roman" panose="02020603050405020304" pitchFamily="18" charset="0"/>
                <a:ea typeface="Calibri" panose="020F0502020204030204" pitchFamily="34" charset="0"/>
              </a:rPr>
              <a:t>	D.</a:t>
            </a:r>
            <a:r>
              <a:rPr lang="vi-VN" sz="2400" dirty="0">
                <a:effectLst/>
                <a:latin typeface="Times New Roman" panose="02020603050405020304" pitchFamily="18" charset="0"/>
                <a:ea typeface="Calibri" panose="020F0502020204030204" pitchFamily="34" charset="0"/>
              </a:rPr>
              <a:t> 7m</a:t>
            </a:r>
            <a:endParaRPr lang="en-US" sz="2400" dirty="0">
              <a:effectLst/>
              <a:latin typeface="Calibri" panose="020F0502020204030204" pitchFamily="34" charset="0"/>
              <a:ea typeface="Calibri" panose="020F0502020204030204" pitchFamily="34" charset="0"/>
            </a:endParaRPr>
          </a:p>
        </p:txBody>
      </p:sp>
      <p:grpSp>
        <p:nvGrpSpPr>
          <p:cNvPr id="10" name="Group 9"/>
          <p:cNvGrpSpPr/>
          <p:nvPr/>
        </p:nvGrpSpPr>
        <p:grpSpPr>
          <a:xfrm>
            <a:off x="362449" y="2830858"/>
            <a:ext cx="9735140" cy="1217921"/>
            <a:chOff x="362449" y="2983158"/>
            <a:chExt cx="9735140" cy="1217921"/>
          </a:xfrm>
        </p:grpSpPr>
        <p:sp>
          <p:nvSpPr>
            <p:cNvPr id="7" name="TextBox 6"/>
            <p:cNvSpPr txBox="1"/>
            <p:nvPr/>
          </p:nvSpPr>
          <p:spPr>
            <a:xfrm>
              <a:off x="362449" y="3331029"/>
              <a:ext cx="9735140" cy="461665"/>
            </a:xfrm>
            <a:prstGeom prst="rect">
              <a:avLst/>
            </a:prstGeom>
            <a:noFill/>
          </p:spPr>
          <p:txBody>
            <a:bodyPr wrap="square" rtlCol="0">
              <a:spAutoFit/>
            </a:bodyPr>
            <a:lstStyle/>
            <a:p>
              <a:pPr algn="l"/>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B. </a:t>
              </a:r>
              <a:endParaRPr lang="en-US" sz="2400" dirty="0">
                <a:latin typeface="Times New Roman" panose="02020603050405020304" pitchFamily="18" charset="0"/>
                <a:cs typeface="Times New Roman" panose="02020603050405020304" pitchFamily="18" charset="0"/>
              </a:endParaRPr>
            </a:p>
          </p:txBody>
        </p:sp>
        <p:graphicFrame>
          <p:nvGraphicFramePr>
            <p:cNvPr id="8" name="Object 7"/>
            <p:cNvGraphicFramePr>
              <a:graphicFrameLocks noChangeAspect="1"/>
            </p:cNvGraphicFramePr>
            <p:nvPr/>
          </p:nvGraphicFramePr>
          <p:xfrm>
            <a:off x="1931475" y="2983158"/>
            <a:ext cx="3114647" cy="1217921"/>
          </p:xfrm>
          <a:graphic>
            <a:graphicData uri="http://schemas.openxmlformats.org/presentationml/2006/ole">
              <mc:AlternateContent xmlns:mc="http://schemas.openxmlformats.org/markup-compatibility/2006">
                <mc:Choice xmlns:v="urn:schemas-microsoft-com:vml" Requires="v">
                  <p:oleObj spid="_x0000_s5195" name="Equation" r:id="rId1" imgW="2268220" imgH="887095" progId="Equation.DSMT4">
                    <p:embed/>
                  </p:oleObj>
                </mc:Choice>
                <mc:Fallback>
                  <p:oleObj name="Equation" r:id="rId1" imgW="2268220" imgH="887095" progId="Equation.DSMT4">
                    <p:embed/>
                    <p:pic>
                      <p:nvPicPr>
                        <p:cNvPr id="0" name="Object 7"/>
                        <p:cNvPicPr/>
                        <p:nvPr/>
                      </p:nvPicPr>
                      <p:blipFill>
                        <a:blip r:embed="rId2"/>
                        <a:stretch>
                          <a:fillRect/>
                        </a:stretch>
                      </p:blipFill>
                      <p:spPr>
                        <a:xfrm>
                          <a:off x="1931475" y="2983158"/>
                          <a:ext cx="3114647" cy="1217921"/>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5261066" y="3356073"/>
            <a:ext cx="2074855" cy="479581"/>
          </p:xfrm>
          <a:graphic>
            <a:graphicData uri="http://schemas.openxmlformats.org/presentationml/2006/ole">
              <mc:AlternateContent xmlns:mc="http://schemas.openxmlformats.org/markup-compatibility/2006">
                <mc:Choice xmlns:v="urn:schemas-microsoft-com:vml" Requires="v">
                  <p:oleObj spid="_x0000_s3" name="Equation" r:id="rId3" imgW="990600" imgH="229235" progId="Equation.DSMT4">
                    <p:embed/>
                  </p:oleObj>
                </mc:Choice>
                <mc:Fallback>
                  <p:oleObj name="Equation" r:id="rId3" imgW="990600" imgH="229235" progId="Equation.DSMT4">
                    <p:embed/>
                    <p:pic>
                      <p:nvPicPr>
                        <p:cNvPr id="0" name="Object 8"/>
                        <p:cNvPicPr/>
                        <p:nvPr/>
                      </p:nvPicPr>
                      <p:blipFill>
                        <a:blip r:embed="rId4"/>
                        <a:stretch>
                          <a:fillRect/>
                        </a:stretch>
                      </p:blipFill>
                      <p:spPr>
                        <a:xfrm>
                          <a:off x="5261066" y="3356073"/>
                          <a:ext cx="2074855" cy="479581"/>
                        </a:xfrm>
                        <a:prstGeom prst="rect">
                          <a:avLst/>
                        </a:prstGeom>
                      </p:spPr>
                    </p:pic>
                  </p:oleObj>
                </mc:Fallback>
              </mc:AlternateContent>
            </a:graphicData>
          </a:graphic>
        </p:graphicFrame>
      </p:grpSp>
      <p:sp>
        <p:nvSpPr>
          <p:cNvPr id="13" name="TextBox 12"/>
          <p:cNvSpPr txBox="1"/>
          <p:nvPr/>
        </p:nvSpPr>
        <p:spPr>
          <a:xfrm>
            <a:off x="362449" y="4009901"/>
            <a:ext cx="11016342" cy="1440523"/>
          </a:xfrm>
          <a:prstGeom prst="rect">
            <a:avLst/>
          </a:prstGeom>
          <a:noFill/>
        </p:spPr>
        <p:txBody>
          <a:bodyPr wrap="square" rtlCol="0">
            <a:spAutoFit/>
          </a:bodyPr>
          <a:lstStyle/>
          <a:p>
            <a:pPr algn="just">
              <a:lnSpc>
                <a:spcPct val="120000"/>
              </a:lnSpc>
              <a:spcBef>
                <a:spcPts val="240"/>
              </a:spcBef>
              <a:spcAft>
                <a:spcPts val="240"/>
              </a:spcAft>
            </a:pPr>
            <a:r>
              <a:rPr lang="vi-VN" sz="2400" b="1" dirty="0">
                <a:effectLst/>
                <a:latin typeface="Times New Roman" panose="02020603050405020304" pitchFamily="18" charset="0"/>
                <a:ea typeface="Calibri" panose="020F0502020204030204" pitchFamily="34" charset="0"/>
              </a:rPr>
              <a:t>Câu</a:t>
            </a:r>
            <a:r>
              <a:rPr lang="en-US" sz="2400" b="1" dirty="0">
                <a:effectLst/>
                <a:latin typeface="Times New Roman" panose="02020603050405020304" pitchFamily="18" charset="0"/>
                <a:ea typeface="Calibri" panose="020F0502020204030204" pitchFamily="34" charset="0"/>
              </a:rPr>
              <a:t> </a:t>
            </a:r>
            <a:r>
              <a:rPr lang="vi-VN" sz="2400" b="1" dirty="0">
                <a:effectLst/>
                <a:latin typeface="Times New Roman" panose="02020603050405020304" pitchFamily="18" charset="0"/>
                <a:ea typeface="Calibri" panose="020F0502020204030204" pitchFamily="34" charset="0"/>
              </a:rPr>
              <a:t>4:</a:t>
            </a:r>
            <a:r>
              <a:rPr lang="vi-VN" sz="2400" dirty="0">
                <a:effectLst/>
                <a:latin typeface="Times New Roman" panose="02020603050405020304" pitchFamily="18" charset="0"/>
                <a:ea typeface="Calibri" panose="020F0502020204030204" pitchFamily="34" charset="0"/>
              </a:rPr>
              <a:t> Một dây kim loại dài lm, tiết diện l,5mm</a:t>
            </a:r>
            <a:r>
              <a:rPr lang="vi-VN" sz="2400" baseline="30000" dirty="0">
                <a:effectLst/>
                <a:latin typeface="Times New Roman" panose="02020603050405020304" pitchFamily="18" charset="0"/>
                <a:ea typeface="Calibri" panose="020F0502020204030204" pitchFamily="34" charset="0"/>
              </a:rPr>
              <a:t>2</a:t>
            </a:r>
            <a:r>
              <a:rPr lang="vi-VN" sz="2400" dirty="0">
                <a:effectLst/>
                <a:latin typeface="Times New Roman" panose="02020603050405020304" pitchFamily="18" charset="0"/>
                <a:ea typeface="Calibri" panose="020F0502020204030204" pitchFamily="34" charset="0"/>
              </a:rPr>
              <a:t> có điện trở 0,3</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vi-VN" sz="2400" dirty="0">
                <a:effectLst/>
                <a:latin typeface="Times New Roman" panose="02020603050405020304" pitchFamily="18" charset="0"/>
                <a:ea typeface="Calibri" panose="020F0502020204030204" pitchFamily="34" charset="0"/>
              </a:rPr>
              <a:t>. Tính điện trở của một dây cùng chất dài 0,4m, tiết diện 0,5mm</a:t>
            </a:r>
            <a:r>
              <a:rPr lang="vi-VN" sz="2400" baseline="30000" dirty="0">
                <a:effectLst/>
                <a:latin typeface="Times New Roman" panose="02020603050405020304" pitchFamily="18" charset="0"/>
                <a:ea typeface="Calibri" panose="020F0502020204030204" pitchFamily="34" charset="0"/>
              </a:rPr>
              <a:t>2</a:t>
            </a:r>
            <a:r>
              <a:rPr lang="vi-VN" sz="2400" dirty="0">
                <a:effectLst/>
                <a:latin typeface="Times New Roman" panose="02020603050405020304" pitchFamily="18" charset="0"/>
                <a:ea typeface="Calibri" panose="020F0502020204030204" pitchFamily="34" charset="0"/>
              </a:rPr>
              <a:t>:</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A.</a:t>
            </a:r>
            <a:r>
              <a:rPr lang="vi-VN" sz="2400" dirty="0">
                <a:effectLst/>
                <a:latin typeface="Times New Roman" panose="02020603050405020304" pitchFamily="18" charset="0"/>
                <a:ea typeface="Calibri" panose="020F0502020204030204" pitchFamily="34" charset="0"/>
              </a:rPr>
              <a:t> 0,1</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vi-VN" sz="2400" b="1" dirty="0">
                <a:effectLst/>
                <a:latin typeface="Times New Roman" panose="02020603050405020304" pitchFamily="18" charset="0"/>
                <a:ea typeface="Calibri" panose="020F0502020204030204" pitchFamily="34" charset="0"/>
              </a:rPr>
              <a:t>	B.</a:t>
            </a:r>
            <a:r>
              <a:rPr lang="vi-VN" sz="2400" dirty="0">
                <a:effectLst/>
                <a:latin typeface="Times New Roman" panose="02020603050405020304" pitchFamily="18" charset="0"/>
                <a:ea typeface="Calibri" panose="020F0502020204030204" pitchFamily="34" charset="0"/>
              </a:rPr>
              <a:t> 0,25</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en-US" sz="2400" b="1" dirty="0">
                <a:effectLst/>
                <a:latin typeface="Times New Roman" panose="02020603050405020304" pitchFamily="18" charset="0"/>
                <a:ea typeface="Calibri" panose="020F0502020204030204" pitchFamily="34" charset="0"/>
              </a:rPr>
              <a:t> </a:t>
            </a:r>
            <a:r>
              <a:rPr lang="vi-VN" sz="2400" b="1" dirty="0">
                <a:effectLst/>
                <a:latin typeface="Times New Roman" panose="02020603050405020304" pitchFamily="18" charset="0"/>
                <a:ea typeface="Calibri" panose="020F0502020204030204" pitchFamily="34" charset="0"/>
              </a:rPr>
              <a:t>C.</a:t>
            </a:r>
            <a:r>
              <a:rPr lang="vi-VN" sz="2400" dirty="0">
                <a:effectLst/>
                <a:latin typeface="Times New Roman" panose="02020603050405020304" pitchFamily="18" charset="0"/>
                <a:ea typeface="Calibri" panose="020F0502020204030204" pitchFamily="34" charset="0"/>
              </a:rPr>
              <a:t> 0,36</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vi-VN" sz="2400" b="1" dirty="0">
                <a:effectLst/>
                <a:latin typeface="Times New Roman" panose="02020603050405020304" pitchFamily="18" charset="0"/>
                <a:ea typeface="Calibri" panose="020F0502020204030204" pitchFamily="34" charset="0"/>
              </a:rPr>
              <a:t>	D.</a:t>
            </a:r>
            <a:r>
              <a:rPr lang="vi-VN" sz="2400" dirty="0">
                <a:effectLst/>
                <a:latin typeface="Times New Roman" panose="02020603050405020304" pitchFamily="18" charset="0"/>
                <a:ea typeface="Calibri" panose="020F0502020204030204" pitchFamily="34" charset="0"/>
              </a:rPr>
              <a:t> 0,4</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endParaRPr lang="en-US" sz="2400" dirty="0">
              <a:effectLst/>
              <a:latin typeface="Calibri" panose="020F0502020204030204" pitchFamily="34" charset="0"/>
              <a:ea typeface="Calibri" panose="020F0502020204030204" pitchFamily="34" charset="0"/>
            </a:endParaRPr>
          </a:p>
        </p:txBody>
      </p:sp>
      <p:graphicFrame>
        <p:nvGraphicFramePr>
          <p:cNvPr id="15" name="Object 14"/>
          <p:cNvGraphicFramePr>
            <a:graphicFrameLocks noChangeAspect="1"/>
          </p:cNvGraphicFramePr>
          <p:nvPr/>
        </p:nvGraphicFramePr>
        <p:xfrm>
          <a:off x="3158418" y="5622700"/>
          <a:ext cx="3791022" cy="517480"/>
        </p:xfrm>
        <a:graphic>
          <a:graphicData uri="http://schemas.openxmlformats.org/presentationml/2006/ole">
            <mc:AlternateContent xmlns:mc="http://schemas.openxmlformats.org/markup-compatibility/2006">
              <mc:Choice xmlns:v="urn:schemas-microsoft-com:vml" Requires="v">
                <p:oleObj spid="_x0000_s5" name="Equation" r:id="rId5" imgW="3146425" imgH="429260" progId="Equation.DSMT4">
                  <p:embed/>
                </p:oleObj>
              </mc:Choice>
              <mc:Fallback>
                <p:oleObj name="Equation" r:id="rId5" imgW="3146425" imgH="429260" progId="Equation.DSMT4">
                  <p:embed/>
                  <p:pic>
                    <p:nvPicPr>
                      <p:cNvPr id="0" name="Object 14"/>
                      <p:cNvPicPr/>
                      <p:nvPr/>
                    </p:nvPicPr>
                    <p:blipFill>
                      <a:blip r:embed="rId6"/>
                      <a:stretch>
                        <a:fillRect/>
                      </a:stretch>
                    </p:blipFill>
                    <p:spPr>
                      <a:xfrm>
                        <a:off x="3158418" y="5622700"/>
                        <a:ext cx="3791022" cy="517480"/>
                      </a:xfrm>
                      <a:prstGeom prst="rect">
                        <a:avLst/>
                      </a:prstGeom>
                    </p:spPr>
                  </p:pic>
                </p:oleObj>
              </mc:Fallback>
            </mc:AlternateContent>
          </a:graphicData>
        </a:graphic>
      </p:graphicFrame>
      <p:sp>
        <p:nvSpPr>
          <p:cNvPr id="23" name="TextBox 22"/>
          <p:cNvSpPr txBox="1"/>
          <p:nvPr/>
        </p:nvSpPr>
        <p:spPr>
          <a:xfrm>
            <a:off x="1003050" y="5587821"/>
            <a:ext cx="8454459" cy="461665"/>
          </a:xfrm>
          <a:prstGeom prst="rect">
            <a:avLst/>
          </a:prstGeom>
          <a:noFill/>
        </p:spPr>
        <p:txBody>
          <a:bodyPr wrap="square" rtlCol="0">
            <a:spAutoFit/>
          </a:bodyPr>
          <a:lstStyle/>
          <a:p>
            <a:pPr algn="l"/>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D</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2" name="TextBox 1"/>
          <p:cNvSpPr txBox="1"/>
          <p:nvPr/>
        </p:nvSpPr>
        <p:spPr>
          <a:xfrm>
            <a:off x="362450" y="970342"/>
            <a:ext cx="3252652" cy="461665"/>
          </a:xfrm>
          <a:prstGeom prst="rect">
            <a:avLst/>
          </a:prstGeom>
          <a:noFill/>
        </p:spPr>
        <p:txBody>
          <a:bodyPr wrap="square" rtlCol="0">
            <a:spAutoFit/>
          </a:bodyPr>
          <a:lstStyle/>
          <a:p>
            <a:pPr algn="l"/>
            <a:r>
              <a:rPr lang="en-US" sz="2400" dirty="0">
                <a:latin typeface="Times New Roman" panose="02020603050405020304" pitchFamily="18" charset="0"/>
                <a:cs typeface="Times New Roman" panose="02020603050405020304" pitchFamily="18" charset="0"/>
              </a:rPr>
              <a:t>IV. </a:t>
            </a:r>
            <a:r>
              <a:rPr lang="en-US" sz="2400" dirty="0" err="1">
                <a:latin typeface="Times New Roman" panose="02020603050405020304" pitchFamily="18" charset="0"/>
                <a:cs typeface="Times New Roman" panose="02020603050405020304" pitchFamily="18" charset="0"/>
              </a:rPr>
              <a:t>LUYỆN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TẬP</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4" name="TextBox 33"/>
              <p:cNvSpPr txBox="1"/>
              <p:nvPr/>
            </p:nvSpPr>
            <p:spPr>
              <a:xfrm>
                <a:off x="439782" y="1720809"/>
                <a:ext cx="11312435" cy="1938992"/>
              </a:xfrm>
              <a:prstGeom prst="rect">
                <a:avLst/>
              </a:prstGeom>
              <a:noFill/>
            </p:spPr>
            <p:txBody>
              <a:bodyPr wrap="square" rtlCol="0">
                <a:spAutoFit/>
              </a:bodyPr>
              <a:lstStyle/>
              <a:p>
                <a:r>
                  <a:rPr lang="en-US" sz="2400" b="1" dirty="0">
                    <a:effectLst/>
                    <a:latin typeface="Times New Roman" panose="02020603050405020304" pitchFamily="18" charset="0"/>
                    <a:ea typeface="Calibri" panose="020F0502020204030204" pitchFamily="34" charset="0"/>
                  </a:rPr>
                  <a:t>Câu 5: </a:t>
                </a:r>
                <a:r>
                  <a:rPr lang="vi-VN" sz="2400" dirty="0">
                    <a:effectLst/>
                    <a:latin typeface="Times New Roman" panose="02020603050405020304" pitchFamily="18" charset="0"/>
                    <a:ea typeface="Calibri" panose="020F0502020204030204" pitchFamily="34" charset="0"/>
                  </a:rPr>
                  <a:t>Một thỏi đồng khối lượng 176g được kéo thành dây dẫn có tiết diện tròn, điện trở dây dẫn bằng 32</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vi-VN" sz="2400" dirty="0">
                    <a:effectLst/>
                    <a:latin typeface="Times New Roman" panose="02020603050405020304" pitchFamily="18" charset="0"/>
                    <a:ea typeface="Calibri" panose="020F0502020204030204" pitchFamily="34" charset="0"/>
                  </a:rPr>
                  <a:t>. Tính chiều dài và đường kính tiết diện của dây dẫn. Biết khối lượng riêng của đồng là</a:t>
                </a:r>
                <a14:m>
                  <m:oMath xmlns:m="http://schemas.openxmlformats.org/officeDocument/2006/math">
                    <m:r>
                      <a:rPr lang="en-US" sz="2400" b="0" i="0" smtClean="0">
                        <a:effectLst/>
                        <a:latin typeface="Cambria Math" panose="02040503050406030204" pitchFamily="18" charset="0"/>
                        <a:ea typeface="Calibri" panose="020F0502020204030204" pitchFamily="34" charset="0"/>
                        <a:cs typeface="Times New Roman" panose="02020603050405020304" pitchFamily="18" charset="0"/>
                      </a:rPr>
                      <m:t> </m:t>
                    </m:r>
                    <m:r>
                      <a:rPr lang="vi-VN" sz="2400" i="1">
                        <a:effectLst/>
                        <a:latin typeface="Cambria Math" panose="02040503050406030204" pitchFamily="18" charset="0"/>
                        <a:ea typeface="Calibri" panose="020F0502020204030204" pitchFamily="34" charset="0"/>
                        <a:cs typeface="Times New Roman" panose="02020603050405020304" pitchFamily="18" charset="0"/>
                      </a:rPr>
                      <m:t>8</m:t>
                    </m:r>
                    <m:r>
                      <a:rPr lang="vi-VN" sz="2400" i="1">
                        <a:effectLst/>
                        <a:latin typeface="Cambria Math" panose="02040503050406030204" pitchFamily="18" charset="0"/>
                        <a:ea typeface="Calibri" panose="020F0502020204030204" pitchFamily="34" charset="0"/>
                        <a:cs typeface="Times New Roman" panose="02020603050405020304" pitchFamily="18" charset="0"/>
                      </a:rPr>
                      <m:t>,</m:t>
                    </m:r>
                    <m:r>
                      <a:rPr lang="vi-VN" sz="2400" i="1">
                        <a:effectLst/>
                        <a:latin typeface="Cambria Math" panose="02040503050406030204" pitchFamily="18" charset="0"/>
                        <a:ea typeface="Calibri" panose="020F0502020204030204" pitchFamily="34" charset="0"/>
                        <a:cs typeface="Times New Roman" panose="02020603050405020304" pitchFamily="18" charset="0"/>
                      </a:rPr>
                      <m:t>8</m:t>
                    </m:r>
                    <m:r>
                      <a:rPr lang="vi-VN" sz="2400" i="1">
                        <a:effectLst/>
                        <a:latin typeface="Cambria Math" panose="02040503050406030204" pitchFamily="18" charset="0"/>
                        <a:ea typeface="Calibri" panose="020F0502020204030204" pitchFamily="34" charset="0"/>
                        <a:cs typeface="Times New Roman" panose="02020603050405020304" pitchFamily="18" charset="0"/>
                      </a:rPr>
                      <m:t>.</m:t>
                    </m:r>
                    <m:r>
                      <a:rPr lang="vi-VN" sz="2400"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vi-VN" sz="2400" i="1">
                            <a:effectLst/>
                            <a:latin typeface="Cambria Math" panose="02040503050406030204" pitchFamily="18" charset="0"/>
                            <a:ea typeface="Calibri" panose="020F0502020204030204" pitchFamily="34" charset="0"/>
                            <a:cs typeface="Times New Roman" panose="02020603050405020304" pitchFamily="18" charset="0"/>
                          </a:rPr>
                          <m:t>0</m:t>
                        </m:r>
                      </m:e>
                      <m:sup>
                        <m:r>
                          <a:rPr lang="vi-VN" sz="2400" i="1">
                            <a:effectLst/>
                            <a:latin typeface="Cambria Math" panose="02040503050406030204" pitchFamily="18" charset="0"/>
                            <a:ea typeface="Calibri" panose="020F0502020204030204" pitchFamily="34" charset="0"/>
                            <a:cs typeface="Times New Roman" panose="02020603050405020304" pitchFamily="18" charset="0"/>
                          </a:rPr>
                          <m:t>3</m:t>
                        </m:r>
                      </m:sup>
                    </m:sSup>
                    <m:r>
                      <a:rPr lang="vi-VN" sz="2400" i="1">
                        <a:effectLst/>
                        <a:latin typeface="Cambria Math" panose="02040503050406030204" pitchFamily="18" charset="0"/>
                        <a:ea typeface="Calibri" panose="020F0502020204030204" pitchFamily="34" charset="0"/>
                        <a:cs typeface="Times New Roman" panose="02020603050405020304" pitchFamily="18" charset="0"/>
                      </a:rPr>
                      <m:t>𝑘𝑔</m:t>
                    </m:r>
                    <m:r>
                      <a:rPr lang="vi-VN" sz="2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vi-VN" sz="2400" i="1">
                            <a:effectLst/>
                            <a:latin typeface="Cambria Math" panose="02040503050406030204" pitchFamily="18" charset="0"/>
                            <a:ea typeface="Calibri" panose="020F0502020204030204" pitchFamily="34" charset="0"/>
                            <a:cs typeface="Times New Roman" panose="02020603050405020304" pitchFamily="18" charset="0"/>
                          </a:rPr>
                          <m:t>𝑚</m:t>
                        </m:r>
                      </m:e>
                      <m:sup>
                        <m:r>
                          <a:rPr lang="vi-VN" sz="2400" i="1">
                            <a:effectLst/>
                            <a:latin typeface="Cambria Math" panose="02040503050406030204" pitchFamily="18" charset="0"/>
                            <a:ea typeface="Calibri" panose="020F0502020204030204" pitchFamily="34" charset="0"/>
                            <a:cs typeface="Times New Roman" panose="02020603050405020304" pitchFamily="18" charset="0"/>
                          </a:rPr>
                          <m:t>3</m:t>
                        </m:r>
                      </m:sup>
                    </m:sSup>
                  </m:oMath>
                </a14:m>
                <a:r>
                  <a:rPr lang="vi-VN" sz="2400" dirty="0">
                    <a:effectLst/>
                    <a:latin typeface="Times New Roman" panose="02020603050405020304" pitchFamily="18" charset="0"/>
                    <a:ea typeface="Calibri" panose="020F0502020204030204" pitchFamily="34" charset="0"/>
                  </a:rPr>
                  <a:t> , điện trở suất của đồng là </a:t>
                </a:r>
                <a:r>
                  <a:rPr lang="en-US" sz="2400" dirty="0">
                    <a:effectLst/>
                    <a:latin typeface="Times New Roman" panose="02020603050405020304" pitchFamily="18" charset="0"/>
                    <a:ea typeface="Calibri" panose="020F0502020204030204" pitchFamily="34" charset="0"/>
                  </a:rPr>
                  <a:t> </a:t>
                </a:r>
                <a14:m>
                  <m:oMath xmlns:m="http://schemas.openxmlformats.org/officeDocument/2006/math">
                    <m:r>
                      <a:rPr lang="vi-VN" sz="2400" i="1">
                        <a:effectLst/>
                        <a:latin typeface="Cambria Math" panose="02040503050406030204" pitchFamily="18" charset="0"/>
                        <a:ea typeface="Calibri" panose="020F0502020204030204" pitchFamily="34" charset="0"/>
                        <a:cs typeface="Times New Roman" panose="02020603050405020304" pitchFamily="18" charset="0"/>
                      </a:rPr>
                      <m:t>1</m:t>
                    </m:r>
                    <m:r>
                      <a:rPr lang="vi-VN" sz="2400" i="1">
                        <a:effectLst/>
                        <a:latin typeface="Cambria Math" panose="02040503050406030204" pitchFamily="18" charset="0"/>
                        <a:ea typeface="Calibri" panose="020F0502020204030204" pitchFamily="34" charset="0"/>
                        <a:cs typeface="Times New Roman" panose="02020603050405020304" pitchFamily="18" charset="0"/>
                      </a:rPr>
                      <m:t>,</m:t>
                    </m:r>
                    <m:r>
                      <a:rPr lang="vi-VN" sz="2400" i="1">
                        <a:effectLst/>
                        <a:latin typeface="Cambria Math" panose="02040503050406030204" pitchFamily="18" charset="0"/>
                        <a:ea typeface="Calibri" panose="020F0502020204030204" pitchFamily="34" charset="0"/>
                        <a:cs typeface="Times New Roman" panose="02020603050405020304" pitchFamily="18" charset="0"/>
                      </a:rPr>
                      <m:t>6</m:t>
                    </m:r>
                    <m:r>
                      <a:rPr lang="vi-VN" sz="2400" i="1">
                        <a:effectLst/>
                        <a:latin typeface="Cambria Math" panose="02040503050406030204" pitchFamily="18" charset="0"/>
                        <a:ea typeface="Calibri" panose="020F0502020204030204" pitchFamily="34" charset="0"/>
                        <a:cs typeface="Times New Roman" panose="02020603050405020304" pitchFamily="18" charset="0"/>
                      </a:rPr>
                      <m:t>.</m:t>
                    </m:r>
                    <m:r>
                      <a:rPr lang="vi-VN" sz="2400"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sz="2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vi-VN" sz="2400" i="1">
                            <a:effectLst/>
                            <a:latin typeface="Cambria Math" panose="02040503050406030204" pitchFamily="18" charset="0"/>
                            <a:ea typeface="Calibri" panose="020F0502020204030204" pitchFamily="34" charset="0"/>
                            <a:cs typeface="Times New Roman" panose="02020603050405020304" pitchFamily="18" charset="0"/>
                          </a:rPr>
                          <m:t>0</m:t>
                        </m:r>
                      </m:e>
                      <m:sup>
                        <m:r>
                          <a:rPr lang="vi-VN" sz="2400" i="1">
                            <a:effectLst/>
                            <a:latin typeface="Cambria Math" panose="02040503050406030204" pitchFamily="18" charset="0"/>
                            <a:ea typeface="Calibri" panose="020F0502020204030204" pitchFamily="34" charset="0"/>
                          </a:rPr>
                          <m:t>−</m:t>
                        </m:r>
                        <m:r>
                          <a:rPr lang="vi-VN" sz="2400" i="1">
                            <a:effectLst/>
                            <a:latin typeface="Cambria Math" panose="02040503050406030204" pitchFamily="18" charset="0"/>
                            <a:ea typeface="Calibri" panose="020F0502020204030204" pitchFamily="34" charset="0"/>
                            <a:cs typeface="Times New Roman" panose="02020603050405020304" pitchFamily="18" charset="0"/>
                          </a:rPr>
                          <m:t>8</m:t>
                        </m:r>
                      </m:sup>
                    </m:sSup>
                    <m:r>
                      <a:rPr lang="en-US" sz="2400" i="1">
                        <a:effectLst/>
                        <a:latin typeface="Cambria Math" panose="02040503050406030204" pitchFamily="18" charset="0"/>
                        <a:ea typeface="Calibri" panose="020F0502020204030204" pitchFamily="34" charset="0"/>
                      </a:rPr>
                      <m:t>𝛺</m:t>
                    </m:r>
                    <m:r>
                      <a:rPr lang="vi-VN" sz="2400" i="1">
                        <a:effectLst/>
                        <a:latin typeface="Cambria Math" panose="02040503050406030204" pitchFamily="18" charset="0"/>
                        <a:ea typeface="Calibri" panose="020F0502020204030204" pitchFamily="34" charset="0"/>
                        <a:cs typeface="Times New Roman" panose="02020603050405020304" pitchFamily="18" charset="0"/>
                      </a:rPr>
                      <m:t>𝑚</m:t>
                    </m:r>
                  </m:oMath>
                </a14:m>
                <a:r>
                  <a:rPr lang="vi-VN" sz="2400" dirty="0">
                    <a:effectLst/>
                    <a:latin typeface="Times New Roman" panose="02020603050405020304" pitchFamily="18" charset="0"/>
                    <a:ea typeface="Calibri" panose="020F0502020204030204" pitchFamily="34" charset="0"/>
                  </a:rPr>
                  <a:t> </a:t>
                </a:r>
                <a:endParaRPr lang="en-US" sz="2400" dirty="0">
                  <a:effectLst/>
                  <a:latin typeface="Times New Roman" panose="02020603050405020304" pitchFamily="18" charset="0"/>
                  <a:ea typeface="Calibri" panose="020F0502020204030204" pitchFamily="34" charset="0"/>
                </a:endParaRPr>
              </a:p>
              <a:p>
                <a:r>
                  <a:rPr lang="vi-VN" sz="1800" b="1" dirty="0">
                    <a:effectLst/>
                    <a:latin typeface="Times New Roman" panose="02020603050405020304" pitchFamily="18" charset="0"/>
                    <a:ea typeface="Calibri" panose="020F0502020204030204" pitchFamily="34" charset="0"/>
                  </a:rPr>
                  <a:t>A.</a:t>
                </a:r>
                <a:r>
                  <a:rPr lang="vi-VN" sz="1800" dirty="0">
                    <a:effectLst/>
                    <a:latin typeface="Times New Roman" panose="02020603050405020304" pitchFamily="18" charset="0"/>
                    <a:ea typeface="Calibri" panose="020F0502020204030204" pitchFamily="34" charset="0"/>
                  </a:rPr>
                  <a:t>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𝑙</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100</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𝑚</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𝑑</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72</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𝑚𝑚</m:t>
                    </m:r>
                  </m:oMath>
                </a14:m>
                <a:r>
                  <a:rPr lang="en-US" sz="2400" dirty="0">
                    <a:effectLst/>
                    <a:latin typeface="Calibri" panose="020F0502020204030204" pitchFamily="34" charset="0"/>
                    <a:ea typeface="Calibri" panose="020F0502020204030204" pitchFamily="34" charset="0"/>
                  </a:rPr>
                  <a:t>.     </a:t>
                </a:r>
                <a:r>
                  <a:rPr lang="vi-VN" b="1" dirty="0"/>
                  <a:t>B.</a:t>
                </a:r>
                <a:r>
                  <a:rPr lang="vi-VN" dirty="0"/>
                  <a:t> </a:t>
                </a:r>
                <a14:m>
                  <m:oMath xmlns:m="http://schemas.openxmlformats.org/officeDocument/2006/math">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200</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36</m:t>
                    </m:r>
                    <m:r>
                      <a:rPr lang="en-US" i="1">
                        <a:latin typeface="Cambria Math" panose="02040503050406030204" pitchFamily="18" charset="0"/>
                      </a:rPr>
                      <m:t>𝑚𝑚</m:t>
                    </m:r>
                  </m:oMath>
                </a14:m>
                <a:endParaRPr lang="en-US" sz="2400" dirty="0">
                  <a:effectLst/>
                  <a:latin typeface="Calibri" panose="020F0502020204030204" pitchFamily="34" charset="0"/>
                  <a:ea typeface="Calibri" panose="020F0502020204030204" pitchFamily="34" charset="0"/>
                </a:endParaRPr>
              </a:p>
              <a:p>
                <a:r>
                  <a:rPr lang="vi-VN" sz="1800" b="1" dirty="0">
                    <a:effectLst/>
                    <a:latin typeface="Times New Roman" panose="02020603050405020304" pitchFamily="18" charset="0"/>
                    <a:ea typeface="Calibri" panose="020F0502020204030204" pitchFamily="34" charset="0"/>
                  </a:rPr>
                  <a:t>C.</a:t>
                </a:r>
                <a:r>
                  <a:rPr lang="vi-VN" sz="1800" dirty="0">
                    <a:effectLst/>
                    <a:latin typeface="Times New Roman" panose="02020603050405020304" pitchFamily="18" charset="0"/>
                    <a:ea typeface="Calibri" panose="020F0502020204030204" pitchFamily="34" charset="0"/>
                  </a:rPr>
                  <a:t> </a:t>
                </a:r>
                <a14:m>
                  <m:oMath xmlns:m="http://schemas.openxmlformats.org/officeDocument/2006/math">
                    <m:r>
                      <a:rPr lang="en-US" sz="1800" i="1">
                        <a:effectLst/>
                        <a:latin typeface="Cambria Math" panose="02040503050406030204" pitchFamily="18" charset="0"/>
                        <a:ea typeface="Calibri" panose="020F0502020204030204" pitchFamily="34" charset="0"/>
                        <a:cs typeface="Times New Roman" panose="02020603050405020304" pitchFamily="18" charset="0"/>
                      </a:rPr>
                      <m:t>𝑙</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200</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𝑚</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𝑑</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b="0" i="0" smtClean="0">
                        <a:effectLst/>
                        <a:latin typeface="Cambria Math" panose="02040503050406030204" pitchFamily="18" charset="0"/>
                        <a:ea typeface="Calibri" panose="020F0502020204030204" pitchFamily="34" charset="0"/>
                        <a:cs typeface="Times New Roman" panose="02020603050405020304" pitchFamily="18" charset="0"/>
                      </a:rPr>
                      <m:t>18</m:t>
                    </m:r>
                    <m:r>
                      <m:rPr>
                        <m:sty m:val="p"/>
                      </m:rPr>
                      <a:rPr lang="en-US" sz="1800" b="0" i="0" smtClean="0">
                        <a:effectLst/>
                        <a:latin typeface="Cambria Math" panose="02040503050406030204" pitchFamily="18" charset="0"/>
                        <a:ea typeface="Calibri" panose="020F0502020204030204" pitchFamily="34" charset="0"/>
                        <a:cs typeface="Times New Roman" panose="02020603050405020304" pitchFamily="18" charset="0"/>
                      </a:rPr>
                      <m:t>mm</m:t>
                    </m:r>
                  </m:oMath>
                </a14:m>
                <a:r>
                  <a:rPr lang="en-US" sz="2400" dirty="0">
                    <a:effectLst/>
                    <a:latin typeface="Calibri" panose="020F0502020204030204" pitchFamily="34" charset="0"/>
                    <a:ea typeface="Calibri" panose="020F0502020204030204" pitchFamily="34" charset="0"/>
                  </a:rPr>
                  <a:t>      </a:t>
                </a:r>
                <a:r>
                  <a:rPr lang="vi-VN" b="1" dirty="0"/>
                  <a:t>D.</a:t>
                </a:r>
                <a:r>
                  <a:rPr lang="vi-VN" dirty="0"/>
                  <a:t> </a:t>
                </a:r>
                <a14:m>
                  <m:oMath xmlns:m="http://schemas.openxmlformats.org/officeDocument/2006/math">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250</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72</m:t>
                    </m:r>
                    <m:r>
                      <a:rPr lang="en-US" i="1">
                        <a:latin typeface="Cambria Math" panose="02040503050406030204" pitchFamily="18" charset="0"/>
                      </a:rPr>
                      <m:t>𝑚𝑚</m:t>
                    </m:r>
                  </m:oMath>
                </a14:m>
                <a:endParaRPr lang="en-US" sz="2400" dirty="0">
                  <a:effectLst/>
                  <a:latin typeface="Calibri" panose="020F0502020204030204" pitchFamily="34" charset="0"/>
                  <a:ea typeface="Calibri" panose="020F0502020204030204" pitchFamily="34" charset="0"/>
                </a:endParaRPr>
              </a:p>
            </p:txBody>
          </p:sp>
        </mc:Choice>
        <mc:Fallback>
          <p:sp>
            <p:nvSpPr>
              <p:cNvPr id="34" name="TextBox 33"/>
              <p:cNvSpPr txBox="1">
                <a:spLocks noRot="1" noChangeAspect="1" noMove="1" noResize="1" noEditPoints="1" noAdjustHandles="1" noChangeArrowheads="1" noChangeShapeType="1" noTextEdit="1"/>
              </p:cNvSpPr>
              <p:nvPr/>
            </p:nvSpPr>
            <p:spPr>
              <a:xfrm>
                <a:off x="439782" y="1720809"/>
                <a:ext cx="11312435" cy="1938992"/>
              </a:xfrm>
              <a:prstGeom prst="rect">
                <a:avLst/>
              </a:prstGeom>
              <a:blipFill rotWithShape="1">
                <a:blip r:embed="rId1"/>
                <a:stretch>
                  <a:fillRect l="-3" t="-31" r="2" b="15"/>
                </a:stretch>
              </a:blipFill>
            </p:spPr>
            <p:txBody>
              <a:bodyPr/>
              <a:lstStyle/>
              <a:p>
                <a:r>
                  <a:rPr lang="en-US" altLang="en-US">
                    <a:noFill/>
                  </a:rPr>
                  <a:t> </a:t>
                </a:r>
              </a:p>
            </p:txBody>
          </p:sp>
        </mc:Fallback>
      </mc:AlternateContent>
      <p:sp>
        <p:nvSpPr>
          <p:cNvPr id="9" name="Rectangle 2"/>
          <p:cNvSpPr>
            <a:spLocks noChangeArrowheads="1"/>
          </p:cNvSpPr>
          <p:nvPr/>
        </p:nvSpPr>
        <p:spPr bwMode="auto">
          <a:xfrm>
            <a:off x="2117997" y="3216235"/>
            <a:ext cx="22282566" cy="60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US"/>
          </a:p>
        </p:txBody>
      </p:sp>
      <p:grpSp>
        <p:nvGrpSpPr>
          <p:cNvPr id="15" name="Group 14"/>
          <p:cNvGrpSpPr/>
          <p:nvPr/>
        </p:nvGrpSpPr>
        <p:grpSpPr>
          <a:xfrm>
            <a:off x="596899" y="3828575"/>
            <a:ext cx="8899797" cy="1384373"/>
            <a:chOff x="596899" y="3828575"/>
            <a:chExt cx="8899797" cy="1384373"/>
          </a:xfrm>
        </p:grpSpPr>
        <p:sp>
          <p:nvSpPr>
            <p:cNvPr id="8" name="TextBox 7"/>
            <p:cNvSpPr txBox="1"/>
            <p:nvPr/>
          </p:nvSpPr>
          <p:spPr>
            <a:xfrm>
              <a:off x="596899" y="3949700"/>
              <a:ext cx="8899797" cy="461665"/>
            </a:xfrm>
            <a:prstGeom prst="rect">
              <a:avLst/>
            </a:prstGeom>
            <a:noFill/>
          </p:spPr>
          <p:txBody>
            <a:bodyPr wrap="square" rtlCol="0">
              <a:spAutoFit/>
            </a:bodyPr>
            <a:lstStyle/>
            <a:p>
              <a:pPr algn="l"/>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graphicFrame>
          <p:nvGraphicFramePr>
            <p:cNvPr id="10" name="Object 9"/>
            <p:cNvGraphicFramePr>
              <a:graphicFrameLocks noChangeAspect="1"/>
            </p:cNvGraphicFramePr>
            <p:nvPr/>
          </p:nvGraphicFramePr>
          <p:xfrm>
            <a:off x="2274750" y="3828575"/>
            <a:ext cx="3303090" cy="703914"/>
          </p:xfrm>
          <a:graphic>
            <a:graphicData uri="http://schemas.openxmlformats.org/presentationml/2006/ole">
              <mc:AlternateContent xmlns:mc="http://schemas.openxmlformats.org/markup-compatibility/2006">
                <mc:Choice xmlns:v="urn:schemas-microsoft-com:vml" Requires="v">
                  <p:oleObj spid="_x0000_s5195" name="Equation" r:id="rId2" imgW="1943100" imgH="444500" progId="Equation.DSMT4">
                    <p:embed/>
                  </p:oleObj>
                </mc:Choice>
                <mc:Fallback>
                  <p:oleObj name="Equation" r:id="rId2" imgW="1943100" imgH="4445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4750" y="3828575"/>
                          <a:ext cx="3303090" cy="703914"/>
                        </a:xfrm>
                        <a:prstGeom prst="rect">
                          <a:avLst/>
                        </a:prstGeom>
                        <a:noFill/>
                      </p:spPr>
                    </p:pic>
                  </p:oleObj>
                </mc:Fallback>
              </mc:AlternateContent>
            </a:graphicData>
          </a:graphic>
        </p:graphicFrame>
        <p:graphicFrame>
          <p:nvGraphicFramePr>
            <p:cNvPr id="11" name="Object 10"/>
            <p:cNvGraphicFramePr>
              <a:graphicFrameLocks noChangeAspect="1"/>
            </p:cNvGraphicFramePr>
            <p:nvPr/>
          </p:nvGraphicFramePr>
          <p:xfrm>
            <a:off x="5831861" y="3870749"/>
            <a:ext cx="1862162" cy="619566"/>
          </p:xfrm>
          <a:graphic>
            <a:graphicData uri="http://schemas.openxmlformats.org/presentationml/2006/ole">
              <mc:AlternateContent xmlns:mc="http://schemas.openxmlformats.org/markup-compatibility/2006">
                <mc:Choice xmlns:v="urn:schemas-microsoft-com:vml" Requires="v">
                  <p:oleObj spid="_x0000_s3" name="Equation" r:id="rId4" imgW="1105535" imgH="390525" progId="Equation.DSMT4">
                    <p:embed/>
                  </p:oleObj>
                </mc:Choice>
                <mc:Fallback>
                  <p:oleObj name="Equation" r:id="rId4" imgW="1105535" imgH="390525" progId="Equation.DSMT4">
                    <p:embed/>
                    <p:pic>
                      <p:nvPicPr>
                        <p:cNvPr id="0" name="Picture 2"/>
                        <p:cNvPicPr/>
                        <p:nvPr/>
                      </p:nvPicPr>
                      <p:blipFill>
                        <a:blip r:embed="rId5"/>
                        <a:stretch>
                          <a:fillRect/>
                        </a:stretch>
                      </p:blipFill>
                      <p:spPr>
                        <a:xfrm>
                          <a:off x="5831861" y="3870749"/>
                          <a:ext cx="1862162" cy="619566"/>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1673262" y="4490315"/>
            <a:ext cx="3904578" cy="722633"/>
          </p:xfrm>
          <a:graphic>
            <a:graphicData uri="http://schemas.openxmlformats.org/presentationml/2006/ole">
              <mc:AlternateContent xmlns:mc="http://schemas.openxmlformats.org/markup-compatibility/2006">
                <mc:Choice xmlns:v="urn:schemas-microsoft-com:vml" Requires="v">
                  <p:oleObj spid="_x0000_s4" name="Equation" r:id="rId6" imgW="1839595" imgH="285750" progId="Equation.DSMT4">
                    <p:embed/>
                  </p:oleObj>
                </mc:Choice>
                <mc:Fallback>
                  <p:oleObj name="Equation" r:id="rId6" imgW="1839595" imgH="285750" progId="Equation.DSMT4">
                    <p:embed/>
                    <p:pic>
                      <p:nvPicPr>
                        <p:cNvPr id="0" name="Picture 3"/>
                        <p:cNvPicPr/>
                        <p:nvPr/>
                      </p:nvPicPr>
                      <p:blipFill>
                        <a:blip r:embed="rId7"/>
                        <a:stretch>
                          <a:fillRect/>
                        </a:stretch>
                      </p:blipFill>
                      <p:spPr>
                        <a:xfrm>
                          <a:off x="1673262" y="4490315"/>
                          <a:ext cx="3904578" cy="722633"/>
                        </a:xfrm>
                        <a:prstGeom prst="rect">
                          <a:avLst/>
                        </a:prstGeom>
                      </p:spPr>
                    </p:pic>
                  </p:oleObj>
                </mc:Fallback>
              </mc:AlternateContent>
            </a:graphicData>
          </a:graphic>
        </p:graphicFrame>
        <p:graphicFrame>
          <p:nvGraphicFramePr>
            <p:cNvPr id="13" name="Object 12"/>
            <p:cNvGraphicFramePr>
              <a:graphicFrameLocks noChangeAspect="1"/>
            </p:cNvGraphicFramePr>
            <p:nvPr/>
          </p:nvGraphicFramePr>
          <p:xfrm>
            <a:off x="5577840" y="4582077"/>
            <a:ext cx="3303090" cy="619566"/>
          </p:xfrm>
          <a:graphic>
            <a:graphicData uri="http://schemas.openxmlformats.org/presentationml/2006/ole">
              <mc:AlternateContent xmlns:mc="http://schemas.openxmlformats.org/markup-compatibility/2006">
                <mc:Choice xmlns:v="urn:schemas-microsoft-com:vml" Requires="v">
                  <p:oleObj spid="_x0000_s5" name="Equation" r:id="rId8" imgW="1583055" imgH="257810" progId="Equation.DSMT4">
                    <p:embed/>
                  </p:oleObj>
                </mc:Choice>
                <mc:Fallback>
                  <p:oleObj name="Equation" r:id="rId8" imgW="1583055" imgH="257810" progId="Equation.DSMT4">
                    <p:embed/>
                    <p:pic>
                      <p:nvPicPr>
                        <p:cNvPr id="0" name="Picture 4"/>
                        <p:cNvPicPr/>
                        <p:nvPr/>
                      </p:nvPicPr>
                      <p:blipFill>
                        <a:blip r:embed="rId9"/>
                        <a:stretch>
                          <a:fillRect/>
                        </a:stretch>
                      </p:blipFill>
                      <p:spPr>
                        <a:xfrm>
                          <a:off x="5577840" y="4582077"/>
                          <a:ext cx="3303090" cy="619566"/>
                        </a:xfrm>
                        <a:prstGeom prst="rect">
                          <a:avLst/>
                        </a:prstGeom>
                      </p:spPr>
                    </p:pic>
                  </p:oleObj>
                </mc:Fallback>
              </mc:AlternateContent>
            </a:graphicData>
          </a:graphic>
        </p:graphicFrame>
      </p:grpSp>
      <p:sp>
        <p:nvSpPr>
          <p:cNvPr id="21" name="TextBox 20"/>
          <p:cNvSpPr txBox="1"/>
          <p:nvPr/>
        </p:nvSpPr>
        <p:spPr>
          <a:xfrm>
            <a:off x="9170126" y="4620798"/>
            <a:ext cx="1828800" cy="461665"/>
          </a:xfrm>
          <a:prstGeom prst="rect">
            <a:avLst/>
          </a:prstGeom>
          <a:noFill/>
        </p:spPr>
        <p:txBody>
          <a:bodyPr wrap="square" rtlCol="0">
            <a:spAutoFit/>
          </a:bodyPr>
          <a:lstStyle/>
          <a:p>
            <a:pPr algn="l"/>
            <a:r>
              <a:rPr lang="en-US" sz="2400" dirty="0" err="1">
                <a:latin typeface="Times New Roman" panose="02020603050405020304" pitchFamily="18" charset="0"/>
                <a:cs typeface="Times New Roman" panose="02020603050405020304" pitchFamily="18" charset="0"/>
              </a:rPr>
              <a:t>Đáp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a:t>
            </a:r>
            <a:r>
              <a:rPr lang="en-US" sz="2400" dirty="0">
                <a:latin typeface="Times New Roman" panose="02020603050405020304" pitchFamily="18" charset="0"/>
                <a:cs typeface="Times New Roman" panose="02020603050405020304" pitchFamily="18" charset="0"/>
              </a:rPr>
              <a:t> B.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2" name="TextBox 1"/>
          <p:cNvSpPr txBox="1"/>
          <p:nvPr/>
        </p:nvSpPr>
        <p:spPr>
          <a:xfrm>
            <a:off x="571695" y="725931"/>
            <a:ext cx="3252652" cy="461665"/>
          </a:xfrm>
          <a:prstGeom prst="rect">
            <a:avLst/>
          </a:prstGeom>
          <a:noFill/>
        </p:spPr>
        <p:txBody>
          <a:bodyPr wrap="square" rtlCol="0">
            <a:spAutoFit/>
          </a:bodyPr>
          <a:lstStyle/>
          <a:p>
            <a:pPr algn="l"/>
            <a:r>
              <a:rPr lang="en-US" sz="2400" b="1" dirty="0">
                <a:latin typeface="Times New Roman" panose="02020603050405020304" pitchFamily="18" charset="0"/>
                <a:cs typeface="Times New Roman" panose="02020603050405020304" pitchFamily="18" charset="0"/>
              </a:rPr>
              <a:t>IV. </a:t>
            </a:r>
            <a:r>
              <a:rPr lang="en-US" sz="2400" b="1" dirty="0" err="1">
                <a:latin typeface="Times New Roman" panose="02020603050405020304" pitchFamily="18" charset="0"/>
                <a:cs typeface="Times New Roman" panose="02020603050405020304" pitchFamily="18" charset="0"/>
              </a:rPr>
              <a:t>LUYỆN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TẬP</a:t>
            </a:r>
            <a:endParaRPr lang="en-US" sz="24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4" name="TextBox 33"/>
              <p:cNvSpPr txBox="1"/>
              <p:nvPr/>
            </p:nvSpPr>
            <p:spPr>
              <a:xfrm>
                <a:off x="439782" y="1336733"/>
                <a:ext cx="11312435" cy="1206741"/>
              </a:xfrm>
              <a:prstGeom prst="rect">
                <a:avLst/>
              </a:prstGeom>
              <a:noFill/>
            </p:spPr>
            <p:txBody>
              <a:bodyPr wrap="square" rtlCol="0">
                <a:spAutoFit/>
              </a:bodyPr>
              <a:lstStyle/>
              <a:p>
                <a:r>
                  <a:rPr lang="en-US" sz="2400" b="1" dirty="0">
                    <a:effectLst/>
                    <a:latin typeface="Times New Roman" panose="02020603050405020304" pitchFamily="18" charset="0"/>
                    <a:ea typeface="Calibri" panose="020F0502020204030204" pitchFamily="34" charset="0"/>
                  </a:rPr>
                  <a:t>Câu 6: </a:t>
                </a:r>
                <a:r>
                  <a:rPr lang="vi-VN" sz="2400" dirty="0">
                    <a:effectLst/>
                    <a:latin typeface="Times New Roman" panose="02020603050405020304" pitchFamily="18" charset="0"/>
                    <a:ea typeface="Calibri" panose="020F0502020204030204" pitchFamily="34" charset="0"/>
                  </a:rPr>
                  <a:t>Dây tóc của bóng đèn 220 V - 200 W khi sáng bình thường ở nhiệt độ 2500°C có điện trở lớn gấp 10,8 lần so với điện trở ở 100°C. Tìm điện trở R</a:t>
                </a:r>
                <a:r>
                  <a:rPr lang="vi-VN" sz="2400" baseline="-25000" dirty="0">
                    <a:effectLst/>
                    <a:latin typeface="Times New Roman" panose="02020603050405020304" pitchFamily="18" charset="0"/>
                    <a:ea typeface="Calibri" panose="020F0502020204030204" pitchFamily="34" charset="0"/>
                  </a:rPr>
                  <a:t>0</a:t>
                </a:r>
                <a:r>
                  <a:rPr lang="vi-VN" sz="2400" dirty="0">
                    <a:effectLst/>
                    <a:latin typeface="Times New Roman" panose="02020603050405020304" pitchFamily="18" charset="0"/>
                    <a:ea typeface="Calibri" panose="020F0502020204030204" pitchFamily="34" charset="0"/>
                  </a:rPr>
                  <a:t> của dây tóc ở 100°C.</a:t>
                </a:r>
                <a:endParaRPr lang="en-US" sz="2400" dirty="0">
                  <a:effectLst/>
                  <a:latin typeface="Times New Roman" panose="02020603050405020304" pitchFamily="18" charset="0"/>
                  <a:ea typeface="Calibri" panose="020F0502020204030204" pitchFamily="34" charset="0"/>
                </a:endParaRPr>
              </a:p>
              <a:p>
                <a:pPr>
                  <a:lnSpc>
                    <a:spcPct val="107000"/>
                  </a:lnSpc>
                  <a:spcAft>
                    <a:spcPts val="800"/>
                  </a:spcAft>
                </a:pPr>
                <a:r>
                  <a:rPr lang="vi-VN" sz="2400" b="1" dirty="0">
                    <a:effectLst/>
                    <a:latin typeface="Times New Roman" panose="02020603050405020304" pitchFamily="18" charset="0"/>
                    <a:ea typeface="Calibri" panose="020F0502020204030204" pitchFamily="34" charset="0"/>
                  </a:rPr>
                  <a:t>A.</a:t>
                </a:r>
                <a:r>
                  <a:rPr lang="vi-VN" sz="2400" dirty="0">
                    <a:effectLst/>
                    <a:latin typeface="Times New Roman" panose="02020603050405020304" pitchFamily="18" charset="0"/>
                    <a:ea typeface="Calibri" panose="020F0502020204030204" pitchFamily="34" charset="0"/>
                  </a:rPr>
                  <a:t> </a:t>
                </a:r>
                <a14:m>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22</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r>
                      <a:rPr lang="en-US" sz="2400" i="1">
                        <a:effectLst/>
                        <a:latin typeface="Cambria Math" panose="02040503050406030204" pitchFamily="18" charset="0"/>
                        <a:ea typeface="Calibri" panose="020F0502020204030204" pitchFamily="34" charset="0"/>
                        <a:cs typeface="Times New Roman" panose="02020603050405020304" pitchFamily="18" charset="0"/>
                      </a:rPr>
                      <m:t>4</m:t>
                    </m:r>
                    <m:r>
                      <a:rPr lang="en-US" sz="2400" i="1">
                        <a:effectLst/>
                        <a:latin typeface="Cambria Math" panose="02040503050406030204" pitchFamily="18" charset="0"/>
                        <a:ea typeface="Calibri" panose="020F0502020204030204" pitchFamily="34" charset="0"/>
                      </a:rPr>
                      <m:t>𝛺</m:t>
                    </m:r>
                  </m:oMath>
                </a14:m>
                <a:r>
                  <a:rPr lang="en-US" sz="2400" b="1" dirty="0">
                    <a:effectLst/>
                    <a:latin typeface="Times New Roman" panose="02020603050405020304" pitchFamily="18" charset="0"/>
                    <a:ea typeface="Calibri" panose="020F0502020204030204" pitchFamily="34" charset="0"/>
                  </a:rPr>
                  <a:t>                    </a:t>
                </a:r>
                <a:r>
                  <a:rPr lang="vi-VN" sz="2400" b="1" dirty="0">
                    <a:effectLst/>
                    <a:latin typeface="Times New Roman" panose="02020603050405020304" pitchFamily="18" charset="0"/>
                    <a:ea typeface="Calibri" panose="020F0502020204030204" pitchFamily="34" charset="0"/>
                  </a:rPr>
                  <a:t>B.</a:t>
                </a:r>
                <a:r>
                  <a:rPr lang="vi-VN" sz="2400" dirty="0">
                    <a:effectLst/>
                    <a:latin typeface="Times New Roman" panose="02020603050405020304" pitchFamily="18" charset="0"/>
                    <a:ea typeface="Calibri" panose="020F0502020204030204" pitchFamily="34" charset="0"/>
                  </a:rPr>
                  <a:t>  </a:t>
                </a:r>
                <a14:m>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224</m:t>
                    </m:r>
                    <m:r>
                      <a:rPr lang="en-US" sz="2400" i="1">
                        <a:effectLst/>
                        <a:latin typeface="Cambria Math" panose="02040503050406030204" pitchFamily="18" charset="0"/>
                        <a:ea typeface="Calibri" panose="020F0502020204030204" pitchFamily="34" charset="0"/>
                      </a:rPr>
                      <m:t>𝛺</m:t>
                    </m:r>
                  </m:oMath>
                </a14:m>
                <a:r>
                  <a:rPr lang="en-US" sz="2400" b="1" dirty="0">
                    <a:effectLst/>
                    <a:latin typeface="Times New Roman" panose="02020603050405020304" pitchFamily="18" charset="0"/>
                    <a:ea typeface="Calibri" panose="020F0502020204030204" pitchFamily="34" charset="0"/>
                  </a:rPr>
                  <a:t>                                </a:t>
                </a:r>
                <a:r>
                  <a:rPr lang="vi-VN" sz="2400" b="1" dirty="0">
                    <a:effectLst/>
                    <a:latin typeface="Times New Roman" panose="02020603050405020304" pitchFamily="18" charset="0"/>
                    <a:ea typeface="Calibri" panose="020F0502020204030204" pitchFamily="34" charset="0"/>
                  </a:rPr>
                  <a:t>C.</a:t>
                </a:r>
                <a:r>
                  <a:rPr lang="vi-VN" sz="2400" dirty="0">
                    <a:effectLst/>
                    <a:latin typeface="Times New Roman" panose="02020603050405020304" pitchFamily="18" charset="0"/>
                    <a:ea typeface="Calibri" panose="020F0502020204030204" pitchFamily="34" charset="0"/>
                  </a:rPr>
                  <a:t> </a:t>
                </a:r>
                <a14:m>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2</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r>
                      <a:rPr lang="en-US" sz="2400" i="1">
                        <a:effectLst/>
                        <a:latin typeface="Cambria Math" panose="02040503050406030204" pitchFamily="18" charset="0"/>
                        <a:ea typeface="Calibri" panose="020F0502020204030204" pitchFamily="34" charset="0"/>
                        <a:cs typeface="Times New Roman" panose="02020603050405020304" pitchFamily="18" charset="0"/>
                      </a:rPr>
                      <m:t>24</m:t>
                    </m:r>
                    <m:r>
                      <a:rPr lang="en-US" sz="2400" i="1">
                        <a:effectLst/>
                        <a:latin typeface="Cambria Math" panose="02040503050406030204" pitchFamily="18" charset="0"/>
                        <a:ea typeface="Calibri" panose="020F0502020204030204" pitchFamily="34" charset="0"/>
                      </a:rPr>
                      <m:t>𝛺</m:t>
                    </m:r>
                  </m:oMath>
                </a14:m>
                <a:r>
                  <a:rPr lang="en-US" sz="2400" b="1" dirty="0">
                    <a:effectLst/>
                    <a:latin typeface="Times New Roman" panose="02020603050405020304" pitchFamily="18" charset="0"/>
                    <a:ea typeface="Calibri" panose="020F0502020204030204" pitchFamily="34" charset="0"/>
                  </a:rPr>
                  <a:t>                           </a:t>
                </a:r>
                <a:r>
                  <a:rPr lang="vi-VN" sz="2400" b="1" dirty="0">
                    <a:effectLst/>
                    <a:latin typeface="Times New Roman" panose="02020603050405020304" pitchFamily="18" charset="0"/>
                    <a:ea typeface="Calibri" panose="020F0502020204030204" pitchFamily="34" charset="0"/>
                  </a:rPr>
                  <a:t>D.</a:t>
                </a:r>
                <a:r>
                  <a:rPr lang="vi-VN" sz="2400" dirty="0">
                    <a:effectLst/>
                    <a:latin typeface="Times New Roman" panose="02020603050405020304" pitchFamily="18" charset="0"/>
                    <a:ea typeface="Calibri" panose="020F0502020204030204" pitchFamily="34" charset="0"/>
                  </a:rPr>
                  <a:t>  </a:t>
                </a:r>
                <a14:m>
                  <m:oMath xmlns:m="http://schemas.openxmlformats.org/officeDocument/2006/math">
                    <m:r>
                      <a:rPr lang="en-US" sz="2400" i="1">
                        <a:effectLst/>
                        <a:latin typeface="Cambria Math" panose="02040503050406030204" pitchFamily="18" charset="0"/>
                        <a:ea typeface="Calibri" panose="020F0502020204030204" pitchFamily="34" charset="0"/>
                        <a:cs typeface="Times New Roman" panose="02020603050405020304" pitchFamily="18" charset="0"/>
                      </a:rPr>
                      <m:t>0</m:t>
                    </m:r>
                    <m:r>
                      <a:rPr lang="en-US" sz="2400" i="1">
                        <a:effectLst/>
                        <a:latin typeface="Cambria Math" panose="02040503050406030204" pitchFamily="18" charset="0"/>
                        <a:ea typeface="Calibri" panose="020F0502020204030204" pitchFamily="34" charset="0"/>
                        <a:cs typeface="Times New Roman" panose="02020603050405020304" pitchFamily="18" charset="0"/>
                      </a:rPr>
                      <m:t>,</m:t>
                    </m:r>
                    <m:r>
                      <a:rPr lang="en-US" sz="2400" i="1">
                        <a:effectLst/>
                        <a:latin typeface="Cambria Math" panose="02040503050406030204" pitchFamily="18" charset="0"/>
                        <a:ea typeface="Calibri" panose="020F0502020204030204" pitchFamily="34" charset="0"/>
                        <a:cs typeface="Times New Roman" panose="02020603050405020304" pitchFamily="18" charset="0"/>
                      </a:rPr>
                      <m:t>224</m:t>
                    </m:r>
                    <m:r>
                      <a:rPr lang="en-US" sz="2400" i="1">
                        <a:effectLst/>
                        <a:latin typeface="Cambria Math" panose="02040503050406030204" pitchFamily="18" charset="0"/>
                        <a:ea typeface="Calibri" panose="020F0502020204030204" pitchFamily="34" charset="0"/>
                      </a:rPr>
                      <m:t>𝛺</m:t>
                    </m:r>
                  </m:oMath>
                </a14:m>
                <a:endParaRPr lang="en-US" sz="2400" dirty="0">
                  <a:effectLst/>
                  <a:latin typeface="Calibri" panose="020F0502020204030204" pitchFamily="34" charset="0"/>
                  <a:ea typeface="Calibri" panose="020F0502020204030204" pitchFamily="34" charset="0"/>
                </a:endParaRPr>
              </a:p>
            </p:txBody>
          </p:sp>
        </mc:Choice>
        <mc:Fallback>
          <p:sp>
            <p:nvSpPr>
              <p:cNvPr id="34" name="TextBox 33"/>
              <p:cNvSpPr txBox="1">
                <a:spLocks noRot="1" noChangeAspect="1" noMove="1" noResize="1" noEditPoints="1" noAdjustHandles="1" noChangeArrowheads="1" noChangeShapeType="1" noTextEdit="1"/>
              </p:cNvSpPr>
              <p:nvPr/>
            </p:nvSpPr>
            <p:spPr>
              <a:xfrm>
                <a:off x="439782" y="1336733"/>
                <a:ext cx="11312435" cy="1206741"/>
              </a:xfrm>
              <a:prstGeom prst="rect">
                <a:avLst/>
              </a:prstGeom>
              <a:blipFill rotWithShape="1">
                <a:blip r:embed="rId1"/>
                <a:stretch>
                  <a:fillRect l="-3" t="-5" r="2" b="-2396"/>
                </a:stretch>
              </a:blipFill>
            </p:spPr>
            <p:txBody>
              <a:bodyPr/>
              <a:lstStyle/>
              <a:p>
                <a:r>
                  <a:rPr lang="en-US" altLang="en-US">
                    <a:noFill/>
                  </a:rPr>
                  <a:t> </a:t>
                </a:r>
              </a:p>
            </p:txBody>
          </p:sp>
        </mc:Fallback>
      </mc:AlternateContent>
      <p:grpSp>
        <p:nvGrpSpPr>
          <p:cNvPr id="30" name="Group 29"/>
          <p:cNvGrpSpPr/>
          <p:nvPr/>
        </p:nvGrpSpPr>
        <p:grpSpPr>
          <a:xfrm>
            <a:off x="439781" y="2637883"/>
            <a:ext cx="10926410" cy="927153"/>
            <a:chOff x="439782" y="3216352"/>
            <a:chExt cx="10926410" cy="927153"/>
          </a:xfrm>
        </p:grpSpPr>
        <p:sp>
          <p:nvSpPr>
            <p:cNvPr id="24" name="TextBox 23"/>
            <p:cNvSpPr txBox="1"/>
            <p:nvPr/>
          </p:nvSpPr>
          <p:spPr>
            <a:xfrm>
              <a:off x="439782" y="3312508"/>
              <a:ext cx="10850518" cy="830997"/>
            </a:xfrm>
            <a:prstGeom prst="rect">
              <a:avLst/>
            </a:prstGeom>
            <a:noFill/>
          </p:spPr>
          <p:txBody>
            <a:bodyPr wrap="square" rtlCol="0">
              <a:spAutoFit/>
            </a:bodyPr>
            <a:lstStyle/>
            <a:p>
              <a:pPr algn="l"/>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vi-VN" sz="2400" dirty="0">
                  <a:effectLst/>
                  <a:latin typeface="Times New Roman" panose="02020603050405020304" pitchFamily="18" charset="0"/>
                  <a:ea typeface="Calibri" panose="020F0502020204030204" pitchFamily="34" charset="0"/>
                </a:rPr>
                <a:t>Khi sáng bình thường</a:t>
              </a:r>
              <a:r>
                <a:rPr lang="en-US" sz="2400" dirty="0">
                  <a:effectLst/>
                  <a:latin typeface="Times New Roman" panose="02020603050405020304" pitchFamily="18" charset="0"/>
                  <a:ea typeface="Calibri" panose="020F0502020204030204" pitchFamily="34" charset="0"/>
                </a:rPr>
                <a:t>                        </a:t>
              </a:r>
              <a:r>
                <a:rPr lang="vi-VN" sz="2400" dirty="0">
                  <a:effectLst/>
                  <a:latin typeface="Times New Roman" panose="02020603050405020304" pitchFamily="18" charset="0"/>
                  <a:ea typeface="Calibri" panose="020F0502020204030204" pitchFamily="34" charset="0"/>
                </a:rPr>
                <a:t>Ở nhiệt độ 100°C</a:t>
              </a:r>
              <a:endParaRPr lang="en-US" sz="2400" dirty="0">
                <a:effectLst/>
                <a:latin typeface="Times New Roman" panose="02020603050405020304" pitchFamily="18" charset="0"/>
                <a:ea typeface="Calibri" panose="020F0502020204030204" pitchFamily="34" charset="0"/>
              </a:endParaRPr>
            </a:p>
            <a:p>
              <a:pPr algn="l"/>
              <a:r>
                <a:rPr lang="en-US" sz="2400" dirty="0">
                  <a:latin typeface="Times New Roman" panose="02020603050405020304" pitchFamily="18" charset="0"/>
                  <a:ea typeface="Calibri" panose="020F0502020204030204" pitchFamily="34" charset="0"/>
                </a:rPr>
                <a:t>          </a:t>
              </a:r>
              <a:r>
                <a:rPr lang="en-US" sz="2400" dirty="0" err="1">
                  <a:latin typeface="Times New Roman" panose="02020603050405020304" pitchFamily="18" charset="0"/>
                  <a:ea typeface="Calibri" panose="020F0502020204030204" pitchFamily="34" charset="0"/>
                </a:rPr>
                <a:t>Đáp</a:t>
              </a:r>
              <a:r>
                <a:rPr lang="en-US" sz="2400" dirty="0">
                  <a:latin typeface="Times New Roman" panose="02020603050405020304" pitchFamily="18" charset="0"/>
                  <a:ea typeface="Calibri" panose="020F0502020204030204" pitchFamily="34" charset="0"/>
                </a:rPr>
                <a:t> </a:t>
              </a:r>
              <a:r>
                <a:rPr lang="en-US" sz="2400" dirty="0" err="1">
                  <a:latin typeface="Times New Roman" panose="02020603050405020304" pitchFamily="18" charset="0"/>
                  <a:ea typeface="Calibri" panose="020F0502020204030204" pitchFamily="34" charset="0"/>
                </a:rPr>
                <a:t>án</a:t>
              </a:r>
              <a:r>
                <a:rPr lang="en-US" sz="2400" dirty="0">
                  <a:latin typeface="Times New Roman" panose="02020603050405020304" pitchFamily="18" charset="0"/>
                  <a:ea typeface="Calibri" panose="020F0502020204030204" pitchFamily="34" charset="0"/>
                </a:rPr>
                <a:t> A. </a:t>
              </a:r>
              <a:r>
                <a:rPr lang="vi-VN" sz="2400" dirty="0">
                  <a:effectLst/>
                  <a:latin typeface="Times New Roman" panose="02020603050405020304" pitchFamily="18" charset="0"/>
                  <a:ea typeface="Calibri" panose="020F0502020204030204" pitchFamily="34" charset="0"/>
                </a:rPr>
                <a:t>  </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graphicFrame>
          <p:nvGraphicFramePr>
            <p:cNvPr id="26" name="Object 25"/>
            <p:cNvGraphicFramePr>
              <a:graphicFrameLocks noChangeAspect="1"/>
            </p:cNvGraphicFramePr>
            <p:nvPr/>
          </p:nvGraphicFramePr>
          <p:xfrm>
            <a:off x="4844509" y="3216352"/>
            <a:ext cx="1495425" cy="764185"/>
          </p:xfrm>
          <a:graphic>
            <a:graphicData uri="http://schemas.openxmlformats.org/presentationml/2006/ole">
              <mc:AlternateContent xmlns:mc="http://schemas.openxmlformats.org/markup-compatibility/2006">
                <mc:Choice xmlns:v="urn:schemas-microsoft-com:vml" Requires="v">
                  <p:oleObj spid="_x0000_s5195" name="Equation" r:id="rId2" imgW="1087120" imgH="457835" progId="Equation.DSMT4">
                    <p:embed/>
                  </p:oleObj>
                </mc:Choice>
                <mc:Fallback>
                  <p:oleObj name="Equation" r:id="rId2" imgW="1087120" imgH="457835" progId="Equation.DSMT4">
                    <p:embed/>
                    <p:pic>
                      <p:nvPicPr>
                        <p:cNvPr id="0" name="Picture 5194"/>
                        <p:cNvPicPr/>
                        <p:nvPr/>
                      </p:nvPicPr>
                      <p:blipFill>
                        <a:blip r:embed="rId3"/>
                        <a:stretch>
                          <a:fillRect/>
                        </a:stretch>
                      </p:blipFill>
                      <p:spPr>
                        <a:xfrm>
                          <a:off x="4844509" y="3216352"/>
                          <a:ext cx="1495425" cy="764185"/>
                        </a:xfrm>
                        <a:prstGeom prst="rect">
                          <a:avLst/>
                        </a:prstGeom>
                      </p:spPr>
                    </p:pic>
                  </p:oleObj>
                </mc:Fallback>
              </mc:AlternateContent>
            </a:graphicData>
          </a:graphic>
        </p:graphicFrame>
        <p:graphicFrame>
          <p:nvGraphicFramePr>
            <p:cNvPr id="29" name="Object 28"/>
            <p:cNvGraphicFramePr>
              <a:graphicFrameLocks noChangeAspect="1"/>
            </p:cNvGraphicFramePr>
            <p:nvPr/>
          </p:nvGraphicFramePr>
          <p:xfrm>
            <a:off x="8780463" y="3255587"/>
            <a:ext cx="2585729" cy="674864"/>
          </p:xfrm>
          <a:graphic>
            <a:graphicData uri="http://schemas.openxmlformats.org/presentationml/2006/ole">
              <mc:AlternateContent xmlns:mc="http://schemas.openxmlformats.org/markup-compatibility/2006">
                <mc:Choice xmlns:v="urn:schemas-microsoft-com:vml" Requires="v">
                  <p:oleObj spid="_x0000_s3" name="Equation" r:id="rId4" imgW="1210310" imgH="419735" progId="Equation.DSMT4">
                    <p:embed/>
                  </p:oleObj>
                </mc:Choice>
                <mc:Fallback>
                  <p:oleObj name="Equation" r:id="rId4" imgW="1210310" imgH="419735" progId="Equation.DSMT4">
                    <p:embed/>
                    <p:pic>
                      <p:nvPicPr>
                        <p:cNvPr id="0" name="Picture 2"/>
                        <p:cNvPicPr/>
                        <p:nvPr/>
                      </p:nvPicPr>
                      <p:blipFill>
                        <a:blip r:embed="rId5"/>
                        <a:stretch>
                          <a:fillRect/>
                        </a:stretch>
                      </p:blipFill>
                      <p:spPr>
                        <a:xfrm>
                          <a:off x="8780463" y="3255587"/>
                          <a:ext cx="2585729" cy="674864"/>
                        </a:xfrm>
                        <a:prstGeom prst="rect">
                          <a:avLst/>
                        </a:prstGeom>
                      </p:spPr>
                    </p:pic>
                  </p:oleObj>
                </mc:Fallback>
              </mc:AlternateContent>
            </a:graphicData>
          </a:graphic>
        </p:graphicFrame>
      </p:grpSp>
      <p:sp>
        <p:nvSpPr>
          <p:cNvPr id="31" name="TextBox 30"/>
          <p:cNvSpPr txBox="1"/>
          <p:nvPr/>
        </p:nvSpPr>
        <p:spPr>
          <a:xfrm>
            <a:off x="342899" y="3592633"/>
            <a:ext cx="11409317" cy="2925224"/>
          </a:xfrm>
          <a:prstGeom prst="rect">
            <a:avLst/>
          </a:prstGeom>
          <a:noFill/>
        </p:spPr>
        <p:txBody>
          <a:bodyPr wrap="square" rtlCol="0">
            <a:spAutoFit/>
          </a:bodyPr>
          <a:lstStyle/>
          <a:p>
            <a:pPr algn="just">
              <a:lnSpc>
                <a:spcPct val="120000"/>
              </a:lnSpc>
              <a:spcBef>
                <a:spcPts val="240"/>
              </a:spcBef>
              <a:spcAft>
                <a:spcPts val="240"/>
              </a:spcAft>
            </a:pPr>
            <a:r>
              <a:rPr lang="vi-VN" sz="2400" b="1" dirty="0">
                <a:effectLst/>
                <a:latin typeface="Times New Roman" panose="02020603050405020304" pitchFamily="18" charset="0"/>
                <a:ea typeface="Calibri" panose="020F0502020204030204" pitchFamily="34" charset="0"/>
              </a:rPr>
              <a:t>Câu 7:</a:t>
            </a:r>
            <a:r>
              <a:rPr lang="vi-VN" sz="2400" dirty="0">
                <a:effectLst/>
                <a:latin typeface="Times New Roman" panose="02020603050405020304" pitchFamily="18" charset="0"/>
                <a:ea typeface="Calibri" panose="020F0502020204030204" pitchFamily="34" charset="0"/>
              </a:rPr>
              <a:t> Nguyên nhân gây ra điện trở của kim loại là sự va chạm của:</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A.</a:t>
            </a:r>
            <a:r>
              <a:rPr lang="vi-VN" sz="2400" dirty="0">
                <a:effectLst/>
                <a:latin typeface="Times New Roman" panose="02020603050405020304" pitchFamily="18" charset="0"/>
                <a:ea typeface="Calibri" panose="020F0502020204030204" pitchFamily="34" charset="0"/>
              </a:rPr>
              <a:t> Các electron tự do với chỗ mất trật tự của ion dương nút mạ</a:t>
            </a:r>
            <a:r>
              <a:rPr lang="vi-VN" sz="2400" b="1" dirty="0">
                <a:effectLst/>
                <a:latin typeface="Times New Roman" panose="02020603050405020304" pitchFamily="18" charset="0"/>
                <a:ea typeface="Calibri" panose="020F0502020204030204" pitchFamily="34" charset="0"/>
              </a:rPr>
              <a:t>	</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B.</a:t>
            </a:r>
            <a:r>
              <a:rPr lang="vi-VN" sz="2400" dirty="0">
                <a:effectLst/>
                <a:latin typeface="Times New Roman" panose="02020603050405020304" pitchFamily="18" charset="0"/>
                <a:ea typeface="Calibri" panose="020F0502020204030204" pitchFamily="34" charset="0"/>
              </a:rPr>
              <a:t> Các electron tự do với nhau trong quá trình chuyển động nhiệt hỗn loạ</a:t>
            </a:r>
            <a:r>
              <a:rPr lang="vi-VN" sz="2400" b="1" dirty="0">
                <a:effectLst/>
                <a:latin typeface="Times New Roman" panose="02020603050405020304" pitchFamily="18" charset="0"/>
                <a:ea typeface="Calibri" panose="020F0502020204030204" pitchFamily="34" charset="0"/>
              </a:rPr>
              <a:t>	</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C.</a:t>
            </a:r>
            <a:r>
              <a:rPr lang="vi-VN" sz="2400" dirty="0">
                <a:effectLst/>
                <a:latin typeface="Times New Roman" panose="02020603050405020304" pitchFamily="18" charset="0"/>
                <a:ea typeface="Calibri" panose="020F0502020204030204" pitchFamily="34" charset="0"/>
              </a:rPr>
              <a:t> Các ion dương nút mạng với nhau trong quá trình chuyển động nhiệt hỗn loạn</a:t>
            </a:r>
            <a:r>
              <a:rPr lang="vi-VN" sz="2400" b="1" dirty="0">
                <a:effectLst/>
                <a:latin typeface="Times New Roman" panose="02020603050405020304" pitchFamily="18" charset="0"/>
                <a:ea typeface="Calibri" panose="020F0502020204030204" pitchFamily="34" charset="0"/>
              </a:rPr>
              <a:t>	</a:t>
            </a:r>
            <a:endParaRPr lang="en-US" sz="2400" dirty="0">
              <a:effectLst/>
              <a:latin typeface="Calibri" panose="020F0502020204030204" pitchFamily="34" charset="0"/>
              <a:ea typeface="Calibri" panose="020F0502020204030204" pitchFamily="34" charset="0"/>
            </a:endParaRPr>
          </a:p>
          <a:p>
            <a:pPr indent="180340" algn="just">
              <a:lnSpc>
                <a:spcPct val="120000"/>
              </a:lnSpc>
              <a:spcBef>
                <a:spcPts val="240"/>
              </a:spcBef>
              <a:spcAft>
                <a:spcPts val="240"/>
              </a:spcAft>
              <a:tabLst>
                <a:tab pos="1620520" algn="l"/>
                <a:tab pos="4860925" algn="l"/>
              </a:tabLst>
            </a:pPr>
            <a:r>
              <a:rPr lang="vi-VN" sz="2400" b="1" dirty="0">
                <a:effectLst/>
                <a:latin typeface="Times New Roman" panose="02020603050405020304" pitchFamily="18" charset="0"/>
                <a:ea typeface="Calibri" panose="020F0502020204030204" pitchFamily="34" charset="0"/>
              </a:rPr>
              <a:t>D.</a:t>
            </a:r>
            <a:r>
              <a:rPr lang="vi-VN" sz="2400" dirty="0">
                <a:effectLst/>
                <a:latin typeface="Times New Roman" panose="02020603050405020304" pitchFamily="18" charset="0"/>
                <a:ea typeface="Calibri" panose="020F0502020204030204" pitchFamily="34" charset="0"/>
              </a:rPr>
              <a:t> Các ion dương chuyển động định hướng dưới tác dụng của điện trường với các electron</a:t>
            </a:r>
            <a:endParaRPr lang="en-US" sz="2400" dirty="0">
              <a:effectLst/>
              <a:latin typeface="Calibri" panose="020F0502020204030204" pitchFamily="34" charset="0"/>
              <a:ea typeface="Calibri" panose="020F0502020204030204" pitchFamily="34" charset="0"/>
            </a:endParaRPr>
          </a:p>
        </p:txBody>
      </p:sp>
      <p:sp>
        <p:nvSpPr>
          <p:cNvPr id="33" name="Oval 32"/>
          <p:cNvSpPr/>
          <p:nvPr/>
        </p:nvSpPr>
        <p:spPr>
          <a:xfrm>
            <a:off x="546100" y="4098689"/>
            <a:ext cx="419100" cy="499395"/>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no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1" grpId="0"/>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13" name="TextBox 12"/>
          <p:cNvSpPr txBox="1"/>
          <p:nvPr/>
        </p:nvSpPr>
        <p:spPr>
          <a:xfrm>
            <a:off x="439781" y="780659"/>
            <a:ext cx="2646319" cy="461665"/>
          </a:xfrm>
          <a:prstGeom prst="rect">
            <a:avLst/>
          </a:prstGeom>
          <a:noFill/>
        </p:spPr>
        <p:txBody>
          <a:bodyPr wrap="square" rtlCol="0">
            <a:spAutoFit/>
          </a:bodyPr>
          <a:lstStyle/>
          <a:p>
            <a:pPr algn="l"/>
            <a:r>
              <a:rPr lang="en-US" sz="2400" b="1" dirty="0">
                <a:latin typeface="Times New Roman" panose="02020603050405020304" pitchFamily="18" charset="0"/>
                <a:cs typeface="Times New Roman" panose="02020603050405020304" pitchFamily="18" charset="0"/>
              </a:rPr>
              <a:t>IV. </a:t>
            </a:r>
            <a:r>
              <a:rPr lang="en-US" sz="2400" b="1" dirty="0" err="1">
                <a:latin typeface="Times New Roman" panose="02020603050405020304" pitchFamily="18" charset="0"/>
                <a:cs typeface="Times New Roman" panose="02020603050405020304" pitchFamily="18" charset="0"/>
              </a:rPr>
              <a:t>LUYỆN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TẬP</a:t>
            </a:r>
            <a:endParaRPr lang="en-US" sz="2400" b="1"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439781" y="1341443"/>
            <a:ext cx="10545719" cy="830997"/>
          </a:xfrm>
          <a:prstGeom prst="rect">
            <a:avLst/>
          </a:prstGeom>
          <a:noFill/>
        </p:spPr>
        <p:txBody>
          <a:bodyPr wrap="square" rtlCol="0">
            <a:spAutoFit/>
          </a:bodyPr>
          <a:lstStyle/>
          <a:p>
            <a:r>
              <a:rPr lang="vi-VN" sz="2400" b="1" dirty="0">
                <a:effectLst/>
                <a:latin typeface="Times New Roman" panose="02020603050405020304" pitchFamily="18" charset="0"/>
                <a:ea typeface="Calibri" panose="020F0502020204030204" pitchFamily="34" charset="0"/>
              </a:rPr>
              <a:t>Câu 8:</a:t>
            </a:r>
            <a:r>
              <a:rPr lang="vi-VN" sz="2400" dirty="0">
                <a:effectLst/>
                <a:latin typeface="Times New Roman" panose="02020603050405020304" pitchFamily="18" charset="0"/>
                <a:ea typeface="Calibri" panose="020F0502020204030204" pitchFamily="34" charset="0"/>
              </a:rPr>
              <a:t> Điện dẫn suất </a:t>
            </a:r>
            <a:r>
              <a:rPr lang="en-US" sz="2400" dirty="0">
                <a:effectLst/>
                <a:latin typeface="Cambria Math" panose="02040503050406030204" pitchFamily="18" charset="0"/>
                <a:ea typeface="Calibri" panose="020F0502020204030204" pitchFamily="34" charset="0"/>
                <a:cs typeface="Times New Roman" panose="02020603050405020304" pitchFamily="18" charset="0"/>
              </a:rPr>
              <a:t>σ</a:t>
            </a:r>
            <a:r>
              <a:rPr lang="vi-VN" sz="2400" dirty="0">
                <a:effectLst/>
                <a:latin typeface="Times New Roman" panose="02020603050405020304" pitchFamily="18" charset="0"/>
                <a:ea typeface="Calibri" panose="020F0502020204030204" pitchFamily="34" charset="0"/>
              </a:rPr>
              <a:t> của kim loại và điện trở suất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sym typeface="Symbol" panose="05050102010706020507" pitchFamily="18" charset="2"/>
              </a:rPr>
              <a:t></a:t>
            </a:r>
            <a:r>
              <a:rPr lang="vi-VN" sz="2400" dirty="0">
                <a:effectLst/>
                <a:latin typeface="Times New Roman" panose="02020603050405020304" pitchFamily="18" charset="0"/>
                <a:ea typeface="Calibri" panose="020F0502020204030204" pitchFamily="34" charset="0"/>
              </a:rPr>
              <a:t> của nó có mối liên hệ mô tả bởi đồ thị:</a:t>
            </a:r>
            <a:r>
              <a:rPr lang="en-US" sz="2400" dirty="0">
                <a:effectLst/>
                <a:latin typeface="Times New Roman" panose="02020603050405020304" pitchFamily="18" charset="0"/>
                <a:ea typeface="Calibri" panose="020F0502020204030204" pitchFamily="34" charset="0"/>
              </a:rPr>
              <a:t> </a:t>
            </a:r>
            <a:endParaRPr lang="en-US" sz="2400" dirty="0">
              <a:effectLst/>
              <a:latin typeface="Calibri" panose="020F0502020204030204" pitchFamily="34" charset="0"/>
              <a:ea typeface="Calibri" panose="020F0502020204030204" pitchFamily="34" charset="0"/>
            </a:endParaRPr>
          </a:p>
        </p:txBody>
      </p:sp>
      <p:grpSp>
        <p:nvGrpSpPr>
          <p:cNvPr id="27" name="Group 26"/>
          <p:cNvGrpSpPr/>
          <p:nvPr/>
        </p:nvGrpSpPr>
        <p:grpSpPr>
          <a:xfrm>
            <a:off x="471456" y="2413348"/>
            <a:ext cx="10542408" cy="1336624"/>
            <a:chOff x="471456" y="2413348"/>
            <a:chExt cx="10542408" cy="1336624"/>
          </a:xfrm>
        </p:grpSpPr>
        <p:grpSp>
          <p:nvGrpSpPr>
            <p:cNvPr id="23" name="Group 22"/>
            <p:cNvGrpSpPr/>
            <p:nvPr/>
          </p:nvGrpSpPr>
          <p:grpSpPr>
            <a:xfrm>
              <a:off x="471456" y="2422525"/>
              <a:ext cx="2477210" cy="1263829"/>
              <a:chOff x="471456" y="2422525"/>
              <a:chExt cx="2477210" cy="1263829"/>
            </a:xfrm>
          </p:grpSpPr>
          <p:sp>
            <p:nvSpPr>
              <p:cNvPr id="15" name="TextBox 14"/>
              <p:cNvSpPr txBox="1"/>
              <p:nvPr/>
            </p:nvSpPr>
            <p:spPr>
              <a:xfrm>
                <a:off x="471456" y="2486025"/>
                <a:ext cx="2477210"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pic>
            <p:nvPicPr>
              <p:cNvPr id="19" name="Picture 18"/>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086665" y="2422525"/>
                <a:ext cx="1580336" cy="1118791"/>
              </a:xfrm>
              <a:prstGeom prst="rect">
                <a:avLst/>
              </a:prstGeom>
              <a:noFill/>
              <a:ln>
                <a:noFill/>
              </a:ln>
            </p:spPr>
          </p:pic>
        </p:grpSp>
        <p:grpSp>
          <p:nvGrpSpPr>
            <p:cNvPr id="24" name="Group 23"/>
            <p:cNvGrpSpPr/>
            <p:nvPr/>
          </p:nvGrpSpPr>
          <p:grpSpPr>
            <a:xfrm>
              <a:off x="3461717" y="2413348"/>
              <a:ext cx="2277536" cy="1336624"/>
              <a:chOff x="3461717" y="2413348"/>
              <a:chExt cx="2277536" cy="1336624"/>
            </a:xfrm>
          </p:grpSpPr>
          <p:sp>
            <p:nvSpPr>
              <p:cNvPr id="16" name="TextBox 15"/>
              <p:cNvSpPr txBox="1"/>
              <p:nvPr/>
            </p:nvSpPr>
            <p:spPr>
              <a:xfrm>
                <a:off x="3461717" y="2549643"/>
                <a:ext cx="2277536"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B.</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20" name="Picture 1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06443" y="2413348"/>
                <a:ext cx="1434282" cy="1200329"/>
              </a:xfrm>
              <a:prstGeom prst="rect">
                <a:avLst/>
              </a:prstGeom>
              <a:noFill/>
              <a:ln>
                <a:noFill/>
              </a:ln>
            </p:spPr>
          </p:pic>
        </p:grpSp>
        <p:grpSp>
          <p:nvGrpSpPr>
            <p:cNvPr id="25" name="Group 24"/>
            <p:cNvGrpSpPr/>
            <p:nvPr/>
          </p:nvGrpSpPr>
          <p:grpSpPr>
            <a:xfrm>
              <a:off x="5985451" y="2480193"/>
              <a:ext cx="2142549" cy="1266698"/>
              <a:chOff x="5985451" y="2480193"/>
              <a:chExt cx="2142549" cy="1266698"/>
            </a:xfrm>
          </p:grpSpPr>
          <p:sp>
            <p:nvSpPr>
              <p:cNvPr id="17" name="TextBox 16"/>
              <p:cNvSpPr txBox="1"/>
              <p:nvPr/>
            </p:nvSpPr>
            <p:spPr>
              <a:xfrm>
                <a:off x="5985451" y="2546562"/>
                <a:ext cx="2142549"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11122" y="2480193"/>
                <a:ext cx="1453337" cy="1133484"/>
              </a:xfrm>
              <a:prstGeom prst="rect">
                <a:avLst/>
              </a:prstGeom>
              <a:noFill/>
              <a:ln>
                <a:noFill/>
              </a:ln>
            </p:spPr>
          </p:pic>
        </p:grpSp>
        <p:grpSp>
          <p:nvGrpSpPr>
            <p:cNvPr id="26" name="Group 25"/>
            <p:cNvGrpSpPr/>
            <p:nvPr/>
          </p:nvGrpSpPr>
          <p:grpSpPr>
            <a:xfrm>
              <a:off x="8374198" y="2438400"/>
              <a:ext cx="2639666" cy="1209854"/>
              <a:chOff x="8374198" y="2438400"/>
              <a:chExt cx="2639666" cy="1209854"/>
            </a:xfrm>
          </p:grpSpPr>
          <p:sp>
            <p:nvSpPr>
              <p:cNvPr id="18" name="TextBox 17"/>
              <p:cNvSpPr txBox="1"/>
              <p:nvPr/>
            </p:nvSpPr>
            <p:spPr>
              <a:xfrm>
                <a:off x="8374198" y="2447925"/>
                <a:ext cx="2639666"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D.</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22" name="Picture 2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844382" y="2438400"/>
                <a:ext cx="1371600" cy="1102916"/>
              </a:xfrm>
              <a:prstGeom prst="rect">
                <a:avLst/>
              </a:prstGeom>
              <a:noFill/>
              <a:ln>
                <a:noFill/>
              </a:ln>
            </p:spPr>
          </p:pic>
        </p:grpSp>
      </p:grpSp>
      <p:grpSp>
        <p:nvGrpSpPr>
          <p:cNvPr id="31" name="Group 30"/>
          <p:cNvGrpSpPr/>
          <p:nvPr/>
        </p:nvGrpSpPr>
        <p:grpSpPr>
          <a:xfrm>
            <a:off x="622300" y="3854901"/>
            <a:ext cx="9804400" cy="830997"/>
            <a:chOff x="622300" y="3854901"/>
            <a:chExt cx="9804400" cy="830997"/>
          </a:xfrm>
        </p:grpSpPr>
        <p:sp>
          <p:nvSpPr>
            <p:cNvPr id="28" name="TextBox 27"/>
            <p:cNvSpPr txBox="1"/>
            <p:nvPr/>
          </p:nvSpPr>
          <p:spPr>
            <a:xfrm>
              <a:off x="622300" y="4000500"/>
              <a:ext cx="9804400" cy="461665"/>
            </a:xfrm>
            <a:prstGeom prst="rect">
              <a:avLst/>
            </a:prstGeom>
            <a:noFill/>
          </p:spPr>
          <p:txBody>
            <a:bodyPr wrap="square" rtlCol="0">
              <a:spAutoFit/>
            </a:bodyPr>
            <a:lstStyle/>
            <a:p>
              <a:pPr algn="l"/>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vi-VN" sz="2400" dirty="0">
                  <a:solidFill>
                    <a:srgbClr val="000000"/>
                  </a:solidFill>
                  <a:effectLst/>
                  <a:latin typeface="Times New Roman" panose="02020603050405020304" pitchFamily="18" charset="0"/>
                  <a:ea typeface="Calibri" panose="020F0502020204030204" pitchFamily="34" charset="0"/>
                </a:rPr>
                <a:t>nên đồ thị của nó là đồ thị nghịch biến nên </a:t>
              </a:r>
              <a:r>
                <a:rPr lang="vi-VN" sz="2400" b="1" dirty="0">
                  <a:solidFill>
                    <a:srgbClr val="000000"/>
                  </a:solidFill>
                  <a:effectLst/>
                  <a:latin typeface="Times New Roman" panose="02020603050405020304" pitchFamily="18" charset="0"/>
                  <a:ea typeface="Calibri" panose="020F0502020204030204" pitchFamily="34" charset="0"/>
                </a:rPr>
                <a:t>chọn D</a:t>
              </a:r>
              <a:r>
                <a:rPr lang="en-US"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p:txBody>
        </p:sp>
        <p:graphicFrame>
          <p:nvGraphicFramePr>
            <p:cNvPr id="29" name="Object 28"/>
            <p:cNvGraphicFramePr>
              <a:graphicFrameLocks noChangeAspect="1"/>
            </p:cNvGraphicFramePr>
            <p:nvPr/>
          </p:nvGraphicFramePr>
          <p:xfrm>
            <a:off x="2449648" y="3854901"/>
            <a:ext cx="948569" cy="830997"/>
          </p:xfrm>
          <a:graphic>
            <a:graphicData uri="http://schemas.openxmlformats.org/presentationml/2006/ole">
              <mc:AlternateContent xmlns:mc="http://schemas.openxmlformats.org/markup-compatibility/2006">
                <mc:Choice xmlns:v="urn:schemas-microsoft-com:vml" Requires="v">
                  <p:oleObj spid="_x0000_s5195" name="Equation" r:id="rId5" imgW="400050" imgH="419735" progId="Equation.DSMT4">
                    <p:embed/>
                  </p:oleObj>
                </mc:Choice>
                <mc:Fallback>
                  <p:oleObj name="Equation" r:id="rId5" imgW="400050" imgH="419735" progId="Equation.DSMT4">
                    <p:embed/>
                    <p:pic>
                      <p:nvPicPr>
                        <p:cNvPr id="0" name="Picture 5194"/>
                        <p:cNvPicPr/>
                        <p:nvPr/>
                      </p:nvPicPr>
                      <p:blipFill>
                        <a:blip r:embed="rId6"/>
                        <a:stretch>
                          <a:fillRect/>
                        </a:stretch>
                      </p:blipFill>
                      <p:spPr>
                        <a:xfrm>
                          <a:off x="2449648" y="3854901"/>
                          <a:ext cx="948569" cy="830997"/>
                        </a:xfrm>
                        <a:prstGeom prst="rect">
                          <a:avLst/>
                        </a:prstGeom>
                      </p:spPr>
                    </p:pic>
                  </p:oleObj>
                </mc:Fallback>
              </mc:AlternateContent>
            </a:graphicData>
          </a:graphic>
        </p:graphicFrame>
      </p:grpSp>
      <p:sp>
        <p:nvSpPr>
          <p:cNvPr id="3" name="TextBox 2"/>
          <p:cNvSpPr txBox="1"/>
          <p:nvPr/>
        </p:nvSpPr>
        <p:spPr>
          <a:xfrm>
            <a:off x="622300" y="4812897"/>
            <a:ext cx="6096000" cy="1477328"/>
          </a:xfrm>
          <a:prstGeom prst="rect">
            <a:avLst/>
          </a:prstGeom>
          <a:noFill/>
        </p:spPr>
        <p:txBody>
          <a:bodyPr wrap="square">
            <a:spAutoFit/>
          </a:bodyPr>
          <a:lstStyle/>
          <a:p>
            <a:r>
              <a:rPr lang="en-US"/>
              <a:t>Tài liệu được chia sẻ bởi Website VnTeach.Com</a:t>
            </a:r>
            <a:endParaRPr lang="en-US"/>
          </a:p>
          <a:p>
            <a:r>
              <a:rPr lang="en-US"/>
              <a:t>https://www.vnteach.com</a:t>
            </a:r>
            <a:endParaRPr lang="en-US"/>
          </a:p>
          <a:p>
            <a:r>
              <a:rPr lang="en-US"/>
              <a:t>Một sản phẩm của cộng đồng facebook Thư Viện VnTeach.Com</a:t>
            </a:r>
            <a:endParaRPr lang="en-US"/>
          </a:p>
          <a:p>
            <a:r>
              <a:rPr lang="en-US"/>
              <a:t>https://www.facebook.com/groups/vnteach/</a:t>
            </a:r>
            <a:endParaRPr lang="en-US"/>
          </a:p>
          <a:p>
            <a:r>
              <a:rPr lang="en-US"/>
              <a:t>https://www.facebook.com/groups/thuvienvnteach/</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13" name="TextBox 12"/>
          <p:cNvSpPr txBox="1"/>
          <p:nvPr/>
        </p:nvSpPr>
        <p:spPr>
          <a:xfrm>
            <a:off x="439781" y="780659"/>
            <a:ext cx="7650119" cy="461665"/>
          </a:xfrm>
          <a:prstGeom prst="rect">
            <a:avLst/>
          </a:prstGeom>
          <a:noFill/>
        </p:spPr>
        <p:txBody>
          <a:bodyPr wrap="square" rtlCol="0">
            <a:spAutoFit/>
          </a:bodyPr>
          <a:lstStyle/>
          <a:p>
            <a:pPr algn="l"/>
            <a:r>
              <a:rPr lang="en-US" sz="2400" b="1" dirty="0">
                <a:latin typeface="Times New Roman" panose="02020603050405020304" pitchFamily="18" charset="0"/>
                <a:cs typeface="Times New Roman" panose="02020603050405020304" pitchFamily="18" charset="0"/>
              </a:rPr>
              <a:t>IV. </a:t>
            </a:r>
            <a:r>
              <a:rPr lang="en-US" sz="2400" b="1" dirty="0" err="1">
                <a:latin typeface="Times New Roman" panose="02020603050405020304" pitchFamily="18" charset="0"/>
                <a:cs typeface="Times New Roman" panose="02020603050405020304" pitchFamily="18" charset="0"/>
              </a:rPr>
              <a:t>VẬN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DỤNG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HƯỚNG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DẪN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NHÀ</a:t>
            </a:r>
            <a:endParaRPr lang="en-US" sz="24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797972" y="1439565"/>
            <a:ext cx="10111328" cy="463777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p:nvPr/>
        </p:nvSpPr>
        <p:spPr>
          <a:xfrm>
            <a:off x="1673262" y="0"/>
            <a:ext cx="6745721" cy="6815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200"/>
              </a:spcBef>
            </a:pP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BÀI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23</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ĐIỆN TRỞ. ĐỊNH LUẬT </a:t>
            </a:r>
            <a:r>
              <a:rPr lang="en-US"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OHM</a:t>
            </a:r>
            <a:r>
              <a:rPr lang="vi-VN" sz="2800" b="1" dirty="0">
                <a:solidFill>
                  <a:schemeClr val="accent2"/>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accent2"/>
              </a:solidFill>
              <a:latin typeface="Calibri" panose="020F0502020204030204" pitchFamily="34" charset="0"/>
              <a:ea typeface="Yu Gothic Light" panose="020B0300000000000000" pitchFamily="34" charset="-128"/>
              <a:cs typeface="Times New Roman" panose="02020603050405020304" pitchFamily="18" charset="0"/>
            </a:endParaRPr>
          </a:p>
        </p:txBody>
      </p:sp>
      <p:sp>
        <p:nvSpPr>
          <p:cNvPr id="13" name="TextBox 12"/>
          <p:cNvSpPr txBox="1"/>
          <p:nvPr/>
        </p:nvSpPr>
        <p:spPr>
          <a:xfrm>
            <a:off x="439781" y="780659"/>
            <a:ext cx="7650119" cy="461665"/>
          </a:xfrm>
          <a:prstGeom prst="rect">
            <a:avLst/>
          </a:prstGeom>
          <a:noFill/>
        </p:spPr>
        <p:txBody>
          <a:bodyPr wrap="square" rtlCol="0">
            <a:spAutoFit/>
          </a:bodyPr>
          <a:lstStyle/>
          <a:p>
            <a:pPr algn="l"/>
            <a:r>
              <a:rPr lang="en-US" sz="2400" dirty="0">
                <a:latin typeface="Times New Roman" panose="02020603050405020304" pitchFamily="18" charset="0"/>
                <a:cs typeface="Times New Roman" panose="02020603050405020304" pitchFamily="18" charset="0"/>
              </a:rPr>
              <a:t>IV. </a:t>
            </a:r>
            <a:r>
              <a:rPr lang="en-US" sz="2400" dirty="0" err="1">
                <a:latin typeface="Times New Roman" panose="02020603050405020304" pitchFamily="18" charset="0"/>
                <a:cs typeface="Times New Roman" panose="02020603050405020304" pitchFamily="18" charset="0"/>
              </a:rPr>
              <a:t>VẬN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DẪN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endParaRPr lang="en-US"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439781" y="1512887"/>
            <a:ext cx="10397538" cy="45644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ma:contentTypeDescription="Create a new document." ma:contentTypeID="0x01010079F111ED35F8CC479449609E8A0923A6" ma:contentTypeVersion="12" ma:contentTypeScope="" ct:_="" ma:_="" ma:contentTypeName="Document" ma:versionID="93813dd7ca6ad654711aa0ab317e03a3">
  <xsd:schema xmlns:ns3="16c05727-aa75-4e4a-9b5f-8a80a1165891" xmlns:xsd="http://www.w3.org/2001/XMLSchema" xmlns:xs="http://www.w3.org/2001/XMLSchema" xmlns:p="http://schemas.microsoft.com/office/2006/metadata/properties" xmlns:ns2="71af3243-3dd4-4a8d-8c0d-dd76da1f02a5" ns3:_="" targetNamespace="http://schemas.microsoft.com/office/2006/metadata/properties" ma:fieldsID="f11dc0ce689dd3925e84e4e35398c6e7" ns2:_="" ma:root="true">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ma:hidden="true" ma:internalName="MediaServiceMetadata" ma:displayName="MediaServiceMetadata" ma:readOnly="true" name="MediaServiceMetadata" nillable="true" ma:index="8">
      <xsd:simpleType>
        <xsd:restriction base="dms:Note"/>
      </xsd:simpleType>
    </xsd:element>
    <xsd:element ma:hidden="true" ma:internalName="MediaServiceFastMetadata" ma:displayName="MediaServiceFastMetadata" ma:readOnly="true" name="MediaServiceFastMetadata" nillable="true" ma:index="9">
      <xsd:simpleType>
        <xsd:restriction base="dms:Note"/>
      </xsd:simpleType>
    </xsd:element>
    <xsd:element ma:internalName="MediaServiceOCR" ma:displayName="MediaServiceOCR" ma:readOnly="true" name="MediaServiceOCR" nillable="true" ma:index="10">
      <xsd:simpleType>
        <xsd:restriction base="dms:Note">
          <xsd:maxLength value="255"/>
        </xsd:restriction>
      </xsd:simpleType>
    </xsd:element>
    <xsd:element ma:internalName="MediaServiceAutoTags" ma:displayName="MediaServiceAutoTags" ma:readOnly="true" name="MediaServiceAutoTags" nillable="true" ma:index="11">
      <xsd:simpleType>
        <xsd:restriction base="dms:Text"/>
      </xsd:simpleType>
    </xsd:element>
    <xsd:element ma:hidden="true" ma:internalName="MediaServiceEventHashCode" ma:displayName="MediaServiceEventHashCode" ma:readOnly="true" name="MediaServiceEventHashCode" nillable="true" ma:index="12">
      <xsd:simpleType>
        <xsd:restriction base="dms:Text"/>
      </xsd:simpleType>
    </xsd:element>
    <xsd:element ma:hidden="true" ma:internalName="MediaServiceGenerationTime" ma:displayName="MediaServiceGenerationTime" ma:readOnly="true" name="MediaServiceGenerationTime" nillable="true" ma:index="13">
      <xsd:simpleType>
        <xsd:restriction base="dms:Text"/>
      </xsd:simpleType>
    </xsd:element>
    <xsd:element ma:hidden="true" ma:internalName="MediaServiceAutoKeyPoints" ma:displayName="MediaServiceAutoKeyPoints" ma:readOnly="true" name="MediaServiceAutoKeyPoints" nillable="true" ma:index="16">
      <xsd:simpleType>
        <xsd:restriction base="dms:Note"/>
      </xsd:simpleType>
    </xsd:element>
    <xsd:element ma:internalName="MediaServiceKeyPoints" ma:displayName="KeyPoints" ma:readOnly="false" name="MediaServiceKeyPoints" nillable="true" ma:index="17">
      <xsd:simpleType>
        <xsd:restriction base="dms:Note">
          <xsd:maxLength value="255"/>
        </xsd:restriction>
      </xsd:simpleType>
    </xsd:element>
    <xsd:element ma:hidden="true" ma:internalName="MediaServiceDateTaken" ma:displayName="MediaServiceDateTaken" ma:readOnly="true" name="MediaServiceDateTaken" nillable="true" ma:index="18">
      <xsd:simpleType>
        <xsd:restriction base="dms:Text"/>
      </xsd:simpleType>
    </xsd:element>
    <xsd:element ma:internalName="Status" ma:displayName="Status" name="Status" nillable="true" ma:format="Dropdown" ma:index="19" ma:default="Not started">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ma:internalName="SharedWithUsers" ma:displayName="Shared With" ma:readOnly="true" name="SharedWithUsers" nillable="true" ma:index="14">
      <xsd:complexType>
        <xsd:complexContent>
          <xsd:extension base="dms:UserMulti">
            <xsd:sequence>
              <xsd:element maxOccurs="unbounded" minOccurs="0" name="UserInfo">
                <xsd:complexType>
                  <xsd:sequence>
                    <xsd:element type="xsd:string" minOccurs="0" name="DisplayName"/>
                    <xsd:element type="dms:UserId" minOccurs="0" name="AccountId" nillable="true"/>
                    <xsd:element type="xsd:string" minOccurs="0" name="AccountType"/>
                  </xsd:sequence>
                </xsd:complexType>
              </xsd:element>
            </xsd:sequence>
          </xsd:extension>
        </xsd:complexContent>
      </xsd:complexType>
    </xsd:element>
    <xsd:element ma:internalName="SharedWithDetails" ma:displayName="Shared With Details" ma:readOnly="true" name="SharedWithDetails" nillable="true" ma:index="15">
      <xsd:simpleType>
        <xsd:restriction base="dms:Note">
          <xsd:maxLength value="255"/>
        </xsd:restriction>
      </xsd:simpleType>
    </xsd:element>
  </xsd:schema>
  <xsd:schema xmlns:xsd="http://www.w3.org/2001/XMLSchema" xmlns="http://schemas.openxmlformats.org/package/2006/metadata/core-properties" xmlns:xsi="http://www.w3.org/2001/XMLSchema-instance" xmlns:dcterms="http://purl.org/dc/terms/" xmlns:odoc="http://schemas.microsoft.com/internal/obd" xmlns:dc="http://purl.org/dc/elements/1.1/" blockDefault="#all" targetNamespace="http://schemas.openxmlformats.org/package/2006/metadata/core-properties" attributeFormDefault="unqualified" elementFormDefault="qualified">
    <xsd:import schemaLocation="http://dublincore.org/schemas/xmls/qdc/2003/04/02/dc.xsd" namespace="http://purl.org/dc/elements/1.1/"/>
    <xsd:import schemaLocation="http://dublincore.org/schemas/xmls/qdc/2003/04/02/dcterms.xsd" namespace="http://purl.org/dc/terms/"/>
    <xsd:element type="CT_coreProperties" name="coreProperties"/>
    <xsd:complexType name="CT_coreProperties">
      <xsd:all>
        <xsd:element ref="dc:creator" maxOccurs="1" minOccurs="0"/>
        <xsd:element ref="dcterms:created" maxOccurs="1" minOccurs="0"/>
        <xsd:element ref="dc:identifier" maxOccurs="1" minOccurs="0"/>
        <xsd:element type="xsd:string" maxOccurs="1" minOccurs="0" ma:displayName="Content Type" name="contentType" ma:index="0"/>
        <xsd:element ref="dc:title" maxOccurs="1" minOccurs="0" ma:displayName="Title" ma:index="4"/>
        <xsd:element ref="dc:subject" maxOccurs="1" minOccurs="0"/>
        <xsd:element ref="dc:description" maxOccurs="1" minOccurs="0"/>
        <xsd:element type="xsd:string" maxOccurs="1" minOccurs="0" name="keywords"/>
        <xsd:element ref="dc:language" maxOccurs="1" minOccurs="0"/>
        <xsd:element type="xsd:string" maxOccurs="1" minOccurs="0" name="category"/>
        <xsd:element type="xsd:string" maxOccurs="1" minOccurs="0" name="version"/>
        <xsd:element type="xsd:string" maxOccurs="1" minOccurs="0" name="revision">
          <xsd:annotation>
            <xsd:documentation>
                        This value indicates the number of saves or revisions. The application is responsible for updating this value after each revision.
                    </xsd:documentation>
          </xsd:annotation>
        </xsd:element>
        <xsd:element type="xsd:string" maxOccurs="1" minOccurs="0" name="lastModifiedBy"/>
        <xsd:element ref="dcterms:modified" maxOccurs="1" minOccurs="0"/>
        <xsd:element type="xsd:string" maxOccurs="1" minOccurs="0" name="contentStatus"/>
      </xsd:all>
    </xsd:complexType>
  </xsd:schema>
  <xs:schema xmlns:xs="http://www.w3.org/2001/XMLSchema" xmlns:pc="http://schemas.microsoft.com/office/infopath/2007/PartnerControls" targetNamespace="http://schemas.microsoft.com/office/infopath/2007/PartnerControls" attributeFormDefault="unqualified" elementFormDefault="qualified">
    <xs:element name="Person">
      <xs:complexType>
        <xs:sequence>
          <xs:element ref="pc:DisplayName" minOccurs="0"/>
          <xs:element ref="pc:AccountId" minOccurs="0"/>
          <xs:element ref="pc:AccountType" minOccurs="0"/>
        </xs:sequence>
      </xs:complexType>
    </xs:element>
    <xs:element type="xs:string" name="DisplayName"/>
    <xs:element type="xs:string" name="AccountId"/>
    <xs:element type="xs:string" name="AccountType"/>
    <xs:element name="BDCAssociatedEntity">
      <xs:complexType>
        <xs:sequence>
          <xs:element ref="pc:BDCEntity" maxOccurs="unbounded" minOccurs="0"/>
        </xs:sequence>
        <xs:attribute ref="pc:EntityNamespace"/>
        <xs:attribute ref="pc:EntityName"/>
        <xs:attribute ref="pc:SystemInstanceName"/>
        <xs:attribute ref="pc:AssociationName"/>
      </xs:complexType>
    </xs:element>
    <xs:attribute type="xs:string" name="EntityNamespace"/>
    <xs:attribute type="xs:string" name="EntityName"/>
    <xs:attribute type="xs:string" name="SystemInstanceName"/>
    <xs:attribute type="xs:string" name="AssociationName"/>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type="xs:string" name="EntityDisplayName"/>
    <xs:element type="xs:string" name="EntityInstanceReference"/>
    <xs:element type="xs:string" name="EntityId1"/>
    <xs:element type="xs:string" name="EntityId2"/>
    <xs:element type="xs:string" name="EntityId3"/>
    <xs:element type="xs:string" name="EntityId4"/>
    <xs:element type="xs:string" name="EntityId5"/>
    <xs:element name="Terms">
      <xs:complexType>
        <xs:sequence>
          <xs:element ref="pc:TermInfo" maxOccurs="unbounded" minOccurs="0"/>
        </xs:sequence>
      </xs:complexType>
    </xs:element>
    <xs:element name="TermInfo">
      <xs:complexType>
        <xs:sequence>
          <xs:element ref="pc:TermName" minOccurs="0"/>
          <xs:element ref="pc:TermId" minOccurs="0"/>
        </xs:sequence>
      </xs:complexType>
    </xs:element>
    <xs:element type="xs:string" name="TermName"/>
    <xs:element type="xs:string" name="TermId"/>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38E52988-C458-4121-9BF8-864CDB291D44}">
  <ds:schemaRefs/>
</ds:datastoreItem>
</file>

<file path=customXml/itemProps2.xml><?xml version="1.0" encoding="utf-8"?>
<ds:datastoreItem xmlns:ds="http://schemas.openxmlformats.org/officeDocument/2006/customXml" ds:itemID="{19C9275B-1E7E-409A-9467-302622C468D2}">
  <ds:schemaRefs/>
</ds:datastoreItem>
</file>

<file path=customXml/itemProps3.xml><?xml version="1.0" encoding="utf-8"?>
<ds:datastoreItem xmlns:ds="http://schemas.openxmlformats.org/officeDocument/2006/customXml" ds:itemID="{AABA7D41-7EBD-45D7-AFB8-22EF4BFA6BA2}">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6871</Words>
  <Application>WPS Spreadsheets</Application>
  <PresentationFormat>Widescreen</PresentationFormat>
  <Paragraphs>290</Paragraphs>
  <Slides>20</Slides>
  <Notes>20</Notes>
  <HiddenSlides>0</HiddenSlides>
  <MMClips>1</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27</vt:i4>
      </vt:variant>
      <vt:variant>
        <vt:lpstr>幻灯片标题</vt:lpstr>
      </vt:variant>
      <vt:variant>
        <vt:i4>20</vt:i4>
      </vt:variant>
    </vt:vector>
  </HeadingPairs>
  <TitlesOfParts>
    <vt:vector size="69" baseType="lpstr">
      <vt:lpstr>Arial</vt:lpstr>
      <vt:lpstr>SimSun</vt:lpstr>
      <vt:lpstr>Wingdings</vt:lpstr>
      <vt:lpstr>Tahoma</vt:lpstr>
      <vt:lpstr>Times New Roman</vt:lpstr>
      <vt:lpstr>Calibri</vt:lpstr>
      <vt:lpstr>Helvetica Neue</vt:lpstr>
      <vt:lpstr>Yu Gothic Light</vt:lpstr>
      <vt:lpstr>Microsoft YaHei</vt:lpstr>
      <vt:lpstr>汉仪旗黑</vt:lpstr>
      <vt:lpstr>Arial Unicode MS</vt:lpstr>
      <vt:lpstr>宋体-简</vt:lpstr>
      <vt:lpstr>冬青黑体简体中文</vt:lpstr>
      <vt:lpstr>Calibri Light</vt:lpstr>
      <vt:lpstr>Symbol</vt:lpstr>
      <vt:lpstr>Cambria Math</vt:lpstr>
      <vt:lpstr>Kingsoft Sign</vt:lpstr>
      <vt:lpstr>Kingsoft Math</vt:lpstr>
      <vt:lpstr>Symbol</vt:lpstr>
      <vt:lpstr>Yu Gothic Light</vt:lpstr>
      <vt:lpstr>苹方-简</vt:lpstr>
      <vt:lpstr>Office Theme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BÀI 23: ĐIỆN TRỞ. ĐỊNH LUẬT OHM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VnTeach.Com</dc:creator>
  <cp:keywords>VnTeach.Com</cp:keywords>
  <cp:lastModifiedBy>vietchung</cp:lastModifiedBy>
  <cp:revision>3</cp:revision>
  <dcterms:created xsi:type="dcterms:W3CDTF">2025-09-17T08:08:27Z</dcterms:created>
  <dcterms:modified xsi:type="dcterms:W3CDTF">2025-09-17T08:08:27Z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E7EB5EDE25A073C89765CA68D8CABCEE_42</vt:lpwstr>
  </property>
  <property fmtid="{D5CDD505-2E9C-101B-9397-08002B2CF9AE}" pid="4" name="KSOProductBuildVer">
    <vt:lpwstr>1033-12.1.22553.22553</vt:lpwstr>
  </property>
</Properties>
</file>