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embeddedFontLst>
    <p:embeddedFont>
      <p:font typeface="Century Gothic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DDF078-DF0E-4B21-8501-ABDB14361831}" styleName="Table_0">
    <a:wholeTbl>
      <a:tcTxStyle>
        <a:font>
          <a:latin typeface="Century Gothic"/>
          <a:ea typeface="Century Gothic"/>
          <a:cs typeface="Century Gothic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2E7E6"/>
          </a:solidFill>
        </a:fill>
      </a:tcStyle>
    </a:wholeTbl>
    <a:band1H>
      <a:tcStyle>
        <a:tcBdr/>
        <a:fill>
          <a:solidFill>
            <a:srgbClr val="E3CAC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3CACA"/>
          </a:solidFill>
        </a:fill>
      </a:tcStyle>
    </a:band1V>
    <a:band2V>
      <a:tcStyle>
        <a:tcBdr/>
      </a:tcStyle>
    </a:band2V>
    <a:lastCol>
      <a:tcTxStyle b="on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entury Gothic"/>
          <a:ea typeface="Century Gothic"/>
          <a:cs typeface="Century Gothic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entury Gothic"/>
          <a:ea typeface="Century Gothic"/>
          <a:cs typeface="Century Gothic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entury Gothic"/>
          <a:ea typeface="Century Gothic"/>
          <a:cs typeface="Century Gothic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0" name="Google Shape;170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7" name="Google Shape;177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1" name="Google Shape;191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8" name="Google Shape;198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6" name="Google Shape;206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9" name="Google Shape;219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1" name="Google Shape;231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8" name="Google Shape;248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êu đề và Nội dung">
  <p:cSld name="OBJEC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0"/>
          <p:cNvSpPr txBox="1"/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58" name="Google Shape;158;p20"/>
          <p:cNvSpPr txBox="1"/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0"/>
          <p:cNvSpPr txBox="1"/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2256367" y="4411663"/>
            <a:ext cx="24892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3043767" y="2293938"/>
            <a:ext cx="9196917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529167" y="2133600"/>
            <a:ext cx="11231033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/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/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/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/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/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slideLayout" Target="../slideLayouts/slideLayout9.xml"/><Relationship Id="rId7" Type="http://schemas.openxmlformats.org/officeDocument/2006/relationships/slideLayout" Target="../slideLayouts/slideLayout8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 rotWithShape="1">
          <a:blip r:embed="rId3"/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/>
          <p:cNvPicPr preferRelativeResize="0"/>
          <p:nvPr/>
        </p:nvPicPr>
        <p:blipFill rotWithShape="1">
          <a:blip r:embed="rId4"/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F3F3F3">
                  <a:alpha val="6666"/>
                </a:srgbClr>
              </a:gs>
              <a:gs pos="36000">
                <a:srgbClr val="F3F3F3">
                  <a:alpha val="5882"/>
                </a:srgbClr>
              </a:gs>
              <a:gs pos="69000">
                <a:srgbClr val="F3F3F3">
                  <a:alpha val="0"/>
                </a:srgbClr>
              </a:gs>
              <a:gs pos="100000">
                <a:srgbClr val="F3F3F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47" name="Google Shape;147;p19"/>
          <p:cNvPicPr preferRelativeResize="0"/>
          <p:nvPr/>
        </p:nvPicPr>
        <p:blipFill rotWithShape="1">
          <a:blip r:embed="rId5"/>
          <a:srcRect t="28812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 rotWithShape="1">
          <a:blip r:embed="rId6"/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0" name="Google Shape;150;p1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Century Gothic"/>
              <a:buNone/>
              <a:defRPr sz="42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1" name="Google Shape;151;p19"/>
          <p:cNvSpPr txBox="1"/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0200" algn="l" rtl="0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600"/>
              <a:buFont typeface="Noto Sans Symbols"/>
              <a:buChar char="►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20040" algn="l" rtl="0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09880" algn="l" rtl="0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99720" algn="l" rtl="0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99720" algn="l" rtl="0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99720" algn="l" rtl="0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99720" algn="l" rtl="0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99720" algn="l" rtl="0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99720" algn="l" rtl="0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2" name="Google Shape;152;p19"/>
          <p:cNvSpPr txBox="1"/>
          <p:nvPr>
            <p:ph type="dt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3" name="Google Shape;153;p19"/>
          <p:cNvSpPr txBox="1"/>
          <p:nvPr>
            <p:ph type="ft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4" name="Google Shape;154;p19"/>
          <p:cNvSpPr txBox="1"/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7016751" y="4076700"/>
            <a:ext cx="1862667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840567" y="4749800"/>
            <a:ext cx="9351433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/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/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title"/>
          </p:nvPr>
        </p:nvSpPr>
        <p:spPr>
          <a:xfrm>
            <a:off x="838200" y="744909"/>
            <a:ext cx="4785546" cy="315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entury Gothic"/>
              <a:buNone/>
            </a:pPr>
            <a:r>
              <a:rPr lang="en-US">
                <a:solidFill>
                  <a:srgbClr val="FFFFFF"/>
                </a:solidFill>
              </a:rPr>
              <a:t>BÀI 10: ĐO TẦN SỐ CỦA SÓNG ÂM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73" name="Google Shape;173;p22" descr="Lý thuyết Thực hành: Đo tần số của sóng âm - Vật Lí 11 Kết nối tri thức |  SGK Vật Lí 11 - Kết nối tri thức"/>
          <p:cNvPicPr preferRelativeResize="0"/>
          <p:nvPr/>
        </p:nvPicPr>
        <p:blipFill rotWithShape="1">
          <a:blip r:embed="rId1"/>
          <a:srcRect l="837" r="-1" b="-1"/>
          <a:stretch>
            <a:fillRect/>
          </a:stretch>
        </p:blipFill>
        <p:spPr>
          <a:xfrm>
            <a:off x="6143776" y="10"/>
            <a:ext cx="6069006" cy="3438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2" descr="Sóng Âm Là Gì? Lý Thuyết Sóng Âm Và Các Bài Tập Minh Họa"/>
          <p:cNvPicPr preferRelativeResize="0"/>
          <p:nvPr/>
        </p:nvPicPr>
        <p:blipFill rotWithShape="1">
          <a:blip r:embed="rId2"/>
          <a:srcRect t="421" r="-2" b="-1"/>
          <a:stretch>
            <a:fillRect/>
          </a:stretch>
        </p:blipFill>
        <p:spPr>
          <a:xfrm>
            <a:off x="6143776" y="3419179"/>
            <a:ext cx="6069006" cy="3438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FEFED"/>
            </a:gs>
            <a:gs pos="74000">
              <a:srgbClr val="F17F7D"/>
            </a:gs>
            <a:gs pos="83000">
              <a:srgbClr val="F17F7D"/>
            </a:gs>
            <a:gs pos="100000">
              <a:srgbClr val="F6A9A7"/>
            </a:gs>
          </a:gsLst>
          <a:lin ang="5400000" scaled="0"/>
        </a:gradFill>
        <a:effectLst/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/>
          <p:nvPr>
            <p:ph type="title"/>
          </p:nvPr>
        </p:nvSpPr>
        <p:spPr>
          <a:xfrm>
            <a:off x="1092867" y="152400"/>
            <a:ext cx="10003218" cy="1143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entury Gothic"/>
              <a:buNone/>
            </a:pPr>
            <a:r>
              <a:rPr lang="en-US" b="1">
                <a:solidFill>
                  <a:schemeClr val="dk1"/>
                </a:solidFill>
              </a:rPr>
              <a:t>I. Giới thiệu về dao động kí điện tử</a:t>
            </a:r>
            <a:endParaRPr b="1">
              <a:solidFill>
                <a:schemeClr val="dk1"/>
              </a:solidFill>
            </a:endParaRPr>
          </a:p>
        </p:txBody>
      </p:sp>
      <p:grpSp>
        <p:nvGrpSpPr>
          <p:cNvPr id="180" name="Google Shape;180;p23"/>
          <p:cNvGrpSpPr/>
          <p:nvPr/>
        </p:nvGrpSpPr>
        <p:grpSpPr>
          <a:xfrm>
            <a:off x="239094" y="1295407"/>
            <a:ext cx="11712279" cy="5409604"/>
            <a:chOff x="0" y="5"/>
            <a:chExt cx="11712279" cy="5409604"/>
          </a:xfrm>
        </p:grpSpPr>
        <p:sp>
          <p:nvSpPr>
            <p:cNvPr id="181" name="Google Shape;181;p23"/>
            <p:cNvSpPr/>
            <p:nvPr/>
          </p:nvSpPr>
          <p:spPr>
            <a:xfrm rot="5400000">
              <a:off x="6673880" y="-3639204"/>
              <a:ext cx="1111626" cy="866912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E3CACA">
                <a:alpha val="89803"/>
              </a:srgbClr>
            </a:solidFill>
            <a:ln w="19050" cap="rnd" cmpd="sng">
              <a:solidFill>
                <a:srgbClr val="E3CACA">
                  <a:alpha val="89803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182;p23"/>
            <p:cNvSpPr txBox="1"/>
            <p:nvPr/>
          </p:nvSpPr>
          <p:spPr>
            <a:xfrm>
              <a:off x="2895134" y="193807"/>
              <a:ext cx="8614855" cy="10030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7650" tIns="123825" rIns="247650" bIns="123825" anchor="ctr" anchorCtr="0">
              <a:noAutofit/>
            </a:bodyPr>
            <a:lstStyle/>
            <a:p>
              <a:pPr marL="228600" marR="0" lvl="1" indent="-228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entury Gothic"/>
                <a:buChar char="•"/>
              </a:pPr>
              <a:r>
                <a:rPr lang="en-US" sz="22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Đo cường độ tín hiệu dao động điện.</a:t>
              </a:r>
              <a:endParaRPr lang="en-US" sz="2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228600" marR="0" lvl="1" indent="-228600" algn="l" rtl="0">
                <a:lnSpc>
                  <a:spcPct val="10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entury Gothic"/>
                <a:buChar char="•"/>
              </a:pPr>
              <a:r>
                <a:rPr lang="en-US" sz="22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Đo tần số, chu kì, khoảng thời gian của tín hiêụ dao động điện.</a:t>
              </a:r>
              <a:endParaRPr lang="en-US" sz="2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3" name="Google Shape;183;p23"/>
            <p:cNvSpPr/>
            <p:nvPr/>
          </p:nvSpPr>
          <p:spPr>
            <a:xfrm>
              <a:off x="0" y="5"/>
              <a:ext cx="2893602" cy="1389533"/>
            </a:xfrm>
            <a:prstGeom prst="roundRect">
              <a:avLst>
                <a:gd name="adj" fmla="val 16667"/>
              </a:avLst>
            </a:prstGeom>
            <a:solidFill>
              <a:srgbClr val="B01210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4" name="Google Shape;184;p23"/>
            <p:cNvSpPr txBox="1"/>
            <p:nvPr/>
          </p:nvSpPr>
          <p:spPr>
            <a:xfrm>
              <a:off x="67831" y="67836"/>
              <a:ext cx="2757940" cy="12538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43800" rIns="87625" bIns="43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entury Gothic"/>
                <a:buNone/>
              </a:pPr>
              <a:r>
                <a:rPr lang="en-US" sz="23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- Các chức năng cơ bản:</a:t>
              </a:r>
              <a:endParaRPr lang="en-US" sz="23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5" name="Google Shape;185;p23"/>
            <p:cNvSpPr/>
            <p:nvPr/>
          </p:nvSpPr>
          <p:spPr>
            <a:xfrm rot="5400000">
              <a:off x="5302433" y="-1000237"/>
              <a:ext cx="3950009" cy="8869683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E3CACA">
                <a:alpha val="89803"/>
              </a:srgbClr>
            </a:solidFill>
            <a:ln w="19050" cap="rnd" cmpd="sng">
              <a:solidFill>
                <a:srgbClr val="E3CACA">
                  <a:alpha val="89803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6" name="Google Shape;186;p23"/>
            <p:cNvSpPr txBox="1"/>
            <p:nvPr/>
          </p:nvSpPr>
          <p:spPr>
            <a:xfrm>
              <a:off x="2842596" y="1652424"/>
              <a:ext cx="8676859" cy="35643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47650" tIns="123825" rIns="247650" bIns="123825" anchor="ctr" anchorCtr="0">
              <a:noAutofit/>
            </a:bodyPr>
            <a:lstStyle/>
            <a:p>
              <a:pPr marL="228600" marR="0" lvl="1" indent="-228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entury Gothic"/>
                <a:buChar char="•"/>
              </a:pPr>
              <a:r>
                <a:rPr lang="en-US" sz="22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Nối que đo vào châm cắm tín hiệu.</a:t>
              </a:r>
              <a:endParaRPr lang="en-US" sz="2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228600" marR="0" lvl="1" indent="-228600" algn="l" rtl="0">
                <a:lnSpc>
                  <a:spcPct val="10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entury Gothic"/>
                <a:buChar char="•"/>
              </a:pPr>
              <a:r>
                <a:rPr lang="en-US" sz="22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Chọn dạng tín hiệu đô AC hoặc DC.</a:t>
              </a:r>
              <a:endParaRPr lang="en-US" sz="2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228600" marR="0" lvl="1" indent="-228600" algn="l" rtl="0">
                <a:lnSpc>
                  <a:spcPct val="10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entury Gothic"/>
                <a:buChar char="•"/>
              </a:pPr>
              <a:r>
                <a:rPr lang="en-US" sz="22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Nối dao động kí vào nguồn và bật công tắc.</a:t>
              </a:r>
              <a:endParaRPr lang="en-US" sz="2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228600" marR="0" lvl="1" indent="-228600" algn="l" rtl="0">
                <a:lnSpc>
                  <a:spcPct val="10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entury Gothic"/>
                <a:buChar char="•"/>
              </a:pPr>
              <a:r>
                <a:rPr lang="en-US" sz="22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Sử dụng dây đo nối với tín hiệu cần đo.</a:t>
              </a:r>
              <a:endParaRPr lang="en-US" sz="2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228600" marR="0" lvl="1" indent="-228600" algn="l" rtl="0">
                <a:lnSpc>
                  <a:spcPct val="10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entury Gothic"/>
                <a:buChar char="•"/>
              </a:pPr>
              <a:r>
                <a:rPr lang="en-US" sz="22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Nhấn nút TRIGGER để chế độ đo là Auto.</a:t>
              </a:r>
              <a:endParaRPr lang="en-US" sz="2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228600" marR="0" lvl="1" indent="-228600" algn="l" rtl="0">
                <a:lnSpc>
                  <a:spcPct val="10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entury Gothic"/>
                <a:buChar char="•"/>
              </a:pPr>
              <a:r>
                <a:rPr lang="en-US" sz="22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Nhấn nút VONTS/DIV để điều chỉnh biên độ dao động.</a:t>
              </a:r>
              <a:endParaRPr lang="en-US" sz="2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228600" marR="0" lvl="1" indent="-228600" algn="l" rtl="0">
                <a:lnSpc>
                  <a:spcPct val="10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entury Gothic"/>
                <a:buChar char="•"/>
              </a:pPr>
              <a:r>
                <a:rPr lang="en-US" sz="22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Nhấn nút SEC/DIV để điều chỉnh giá trị tương ứng với một ô trên màn hình.</a:t>
              </a:r>
              <a:endParaRPr lang="en-US" sz="2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  <a:p>
              <a:pPr marL="228600" marR="0" lvl="1" indent="-228600" algn="l" rtl="0">
                <a:lnSpc>
                  <a:spcPct val="100000"/>
                </a:lnSpc>
                <a:spcBef>
                  <a:spcPts val="33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entury Gothic"/>
                <a:buChar char="•"/>
              </a:pPr>
              <a:r>
                <a:rPr lang="en-US" sz="22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sử dụng nút lên xuống để điều chỉnh đồ thị tín hiệu.</a:t>
              </a:r>
              <a:endParaRPr lang="en-US" sz="2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7" name="Google Shape;187;p23"/>
            <p:cNvSpPr/>
            <p:nvPr/>
          </p:nvSpPr>
          <p:spPr>
            <a:xfrm>
              <a:off x="0" y="2720786"/>
              <a:ext cx="2841065" cy="1389533"/>
            </a:xfrm>
            <a:prstGeom prst="roundRect">
              <a:avLst>
                <a:gd name="adj" fmla="val 16667"/>
              </a:avLst>
            </a:prstGeom>
            <a:solidFill>
              <a:srgbClr val="B01210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8" name="Google Shape;188;p23"/>
            <p:cNvSpPr txBox="1"/>
            <p:nvPr/>
          </p:nvSpPr>
          <p:spPr>
            <a:xfrm>
              <a:off x="67831" y="2788617"/>
              <a:ext cx="2705403" cy="12538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43800" rIns="87625" bIns="43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entury Gothic"/>
                <a:buNone/>
              </a:pPr>
              <a:r>
                <a:rPr lang="en-US" sz="2300" b="0" i="0" u="none" strike="noStrike" cap="non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- Cách sử dụng dao động kí điện tử để đo tín hiệu</a:t>
              </a:r>
              <a:endParaRPr sz="23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362075" y="1136848"/>
            <a:ext cx="9467850" cy="532566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4"/>
          <p:cNvSpPr txBox="1"/>
          <p:nvPr/>
        </p:nvSpPr>
        <p:spPr>
          <a:xfrm>
            <a:off x="1092867" y="38100"/>
            <a:ext cx="10003218" cy="1143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Gothic"/>
              <a:buNone/>
            </a:pPr>
            <a:r>
              <a:rPr lang="en-US" sz="44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I. Giới thiệu về dao động kí điện tử</a:t>
            </a:r>
            <a:endParaRPr sz="4400" b="1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5" name="Google Shape;195;p24" descr="MỚI 2023] Máy Oscilloscope là gì? Cách sử dụng máy hiện sóng"/>
          <p:cNvPicPr preferRelativeResize="0"/>
          <p:nvPr/>
        </p:nvPicPr>
        <p:blipFill rotWithShape="1">
          <a:blip r:embed="rId2"/>
          <a:srcRect t="11124" b="10689"/>
          <a:stretch>
            <a:fillRect/>
          </a:stretch>
        </p:blipFill>
        <p:spPr>
          <a:xfrm>
            <a:off x="2169994" y="1373305"/>
            <a:ext cx="6619875" cy="34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58999"/>
          </a:blip>
          <a:stretch>
            <a:fillRect/>
          </a:stretch>
        </a:blipFill>
        <a:effectLst/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145207" y="1133474"/>
            <a:ext cx="6910588" cy="300460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5"/>
          <p:cNvSpPr/>
          <p:nvPr/>
        </p:nvSpPr>
        <p:spPr>
          <a:xfrm>
            <a:off x="0" y="69920"/>
            <a:ext cx="1086802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II. Thực hành đo tần số của sóng âm</a:t>
            </a:r>
            <a:endParaRPr sz="40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136206" y="767343"/>
            <a:ext cx="4359595" cy="310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Dụng cụ thí nghiệm</a:t>
            </a:r>
            <a:endParaRPr sz="2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 Dao động k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í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điện tử v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à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dây đo (1).</a:t>
            </a:r>
            <a:endParaRPr sz="2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 Micro (2).</a:t>
            </a:r>
            <a:endParaRPr sz="2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 Bộ khuếch đại t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í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 hiệu (3).</a:t>
            </a:r>
            <a:endParaRPr sz="2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 Âm thoa v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à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b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ú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cao su (4).</a:t>
            </a:r>
            <a:endParaRPr sz="2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- Gi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á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đỡ v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à</a:t>
            </a:r>
            <a:r>
              <a:rPr lang="en-US" sz="28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kẹp giữ âm thoa.</a:t>
            </a:r>
            <a:endParaRPr sz="2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857250" y="5781675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/>
          <p:nvPr/>
        </p:nvSpPr>
        <p:spPr>
          <a:xfrm>
            <a:off x="1" y="1762067"/>
            <a:ext cx="12192417" cy="5095933"/>
          </a:xfrm>
          <a:custGeom>
            <a:avLst/>
            <a:gdLst/>
            <a:ahLst/>
            <a:cxnLst/>
            <a:rect l="l" t="t" r="r" b="b"/>
            <a:pathLst>
              <a:path w="12192417" h="5095933" extrusionOk="0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9" name="Google Shape;209;p26"/>
          <p:cNvSpPr/>
          <p:nvPr/>
        </p:nvSpPr>
        <p:spPr>
          <a:xfrm>
            <a:off x="8719939" y="1460230"/>
            <a:ext cx="3472060" cy="825932"/>
          </a:xfrm>
          <a:custGeom>
            <a:avLst/>
            <a:gdLst/>
            <a:ahLst/>
            <a:cxnLst/>
            <a:rect l="l" t="t" r="r" b="b"/>
            <a:pathLst>
              <a:path w="3472060" h="825932" extrusionOk="0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0" name="Google Shape;210;p26"/>
          <p:cNvSpPr txBox="1"/>
          <p:nvPr/>
        </p:nvSpPr>
        <p:spPr>
          <a:xfrm>
            <a:off x="-418" y="900279"/>
            <a:ext cx="9404723" cy="88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 Thiết kế phương án thí nghiệm</a:t>
            </a:r>
            <a:endParaRPr sz="4000" b="1" u="none" strike="noStrike" cap="none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1" name="Google Shape;211;p26" descr="Câu hỏi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33593" y="1976059"/>
            <a:ext cx="1585090" cy="1585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862688" y="5098091"/>
            <a:ext cx="6202906" cy="181735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6"/>
          <p:cNvSpPr txBox="1"/>
          <p:nvPr/>
        </p:nvSpPr>
        <p:spPr>
          <a:xfrm>
            <a:off x="6686188" y="3176348"/>
            <a:ext cx="5114093" cy="1919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-1219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D1D8"/>
              </a:buClr>
              <a:buSzPts val="1920"/>
              <a:buFont typeface="Noto Sans Symbols"/>
              <a:buChar char="►"/>
            </a:pPr>
            <a:r>
              <a:rPr lang="en-US" sz="2400">
                <a:solidFill>
                  <a:schemeClr val="dk1"/>
                </a:solidFill>
                <a:latin typeface="Tahoma" panose="020B0804030504040204"/>
                <a:ea typeface="Tahoma" panose="020B0804030504040204"/>
                <a:cs typeface="Tahoma" panose="020B0804030504040204"/>
                <a:sym typeface="Tahoma" panose="020B0804030504040204"/>
              </a:rPr>
              <a:t>	Sóng âm truyền tới dao động kí điện tử như thế nào? </a:t>
            </a:r>
            <a:endParaRPr lang="en-US" sz="2400">
              <a:solidFill>
                <a:schemeClr val="dk1"/>
              </a:solidFill>
              <a:latin typeface="Tahoma" panose="020B0804030504040204"/>
              <a:ea typeface="Tahoma" panose="020B0804030504040204"/>
              <a:cs typeface="Tahoma" panose="020B0804030504040204"/>
              <a:sym typeface="Tahoma" panose="020B0804030504040204"/>
            </a:endParaRPr>
          </a:p>
          <a:p>
            <a:pPr marL="0" marR="0" lvl="0" indent="-12192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920"/>
              <a:buFont typeface="Noto Sans Symbols"/>
              <a:buChar char="►"/>
            </a:pPr>
            <a:r>
              <a:rPr lang="en-US" sz="2400">
                <a:solidFill>
                  <a:schemeClr val="dk1"/>
                </a:solidFill>
                <a:latin typeface="Tahoma" panose="020B0804030504040204"/>
                <a:ea typeface="Tahoma" panose="020B0804030504040204"/>
                <a:cs typeface="Tahoma" panose="020B0804030504040204"/>
                <a:sym typeface="Tahoma" panose="020B0804030504040204"/>
              </a:rPr>
              <a:t>	Tại sao tần số của dao động của tín hiệu đưa vào dao động kí lại bằng tần số của âm thoa?</a:t>
            </a:r>
            <a:endParaRPr lang="en-US" sz="2400">
              <a:solidFill>
                <a:schemeClr val="dk1"/>
              </a:solidFill>
              <a:latin typeface="Tahoma" panose="020B0804030504040204"/>
              <a:ea typeface="Tahoma" panose="020B0804030504040204"/>
              <a:cs typeface="Tahoma" panose="020B0804030504040204"/>
              <a:sym typeface="Tahoma" panose="020B0804030504040204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0" y="0"/>
            <a:ext cx="1086802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II. Thực hành đo tần số của sóng âm</a:t>
            </a:r>
            <a:endParaRPr sz="40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5" name="Google Shape;215;p26"/>
          <p:cNvSpPr txBox="1"/>
          <p:nvPr/>
        </p:nvSpPr>
        <p:spPr>
          <a:xfrm>
            <a:off x="1852275" y="2438692"/>
            <a:ext cx="10206132" cy="757130"/>
          </a:xfrm>
          <a:prstGeom prst="rect">
            <a:avLst/>
          </a:prstGeom>
          <a:solidFill>
            <a:srgbClr val="C2DDD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ahoma" panose="020B0804030504040204"/>
                <a:ea typeface="Tahoma" panose="020B0804030504040204"/>
                <a:cs typeface="Tahoma" panose="020B0804030504040204"/>
                <a:sym typeface="Tahoma" panose="020B0804030504040204"/>
              </a:rPr>
              <a:t>Yêu cầu các nhóm quan sát hình thảo luận nhóm và trả lời các câu hỏi: </a:t>
            </a:r>
            <a:endParaRPr lang="en-US" sz="2400" b="1">
              <a:solidFill>
                <a:schemeClr val="dk1"/>
              </a:solidFill>
              <a:latin typeface="Tahoma" panose="020B0804030504040204"/>
              <a:ea typeface="Tahoma" panose="020B0804030504040204"/>
              <a:cs typeface="Tahoma" panose="020B0804030504040204"/>
              <a:sym typeface="Tahoma" panose="020B0804030504040204"/>
            </a:endParaRPr>
          </a:p>
        </p:txBody>
      </p:sp>
      <p:sp>
        <p:nvSpPr>
          <p:cNvPr id="216" name="Google Shape;216;p26"/>
          <p:cNvSpPr txBox="1"/>
          <p:nvPr/>
        </p:nvSpPr>
        <p:spPr>
          <a:xfrm>
            <a:off x="391719" y="3474919"/>
            <a:ext cx="6202906" cy="1550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219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D1D8"/>
              </a:buClr>
              <a:buSzPts val="1920"/>
              <a:buFont typeface="Noto Sans Symbols"/>
              <a:buChar char="►"/>
            </a:pPr>
            <a:r>
              <a:rPr lang="en-US" sz="2400">
                <a:solidFill>
                  <a:schemeClr val="dk1"/>
                </a:solidFill>
                <a:latin typeface="Tahoma" panose="020B0804030504040204"/>
                <a:ea typeface="Tahoma" panose="020B0804030504040204"/>
                <a:cs typeface="Tahoma" panose="020B0804030504040204"/>
                <a:sym typeface="Tahoma" panose="020B0804030504040204"/>
              </a:rPr>
              <a:t>Thiết kế phương án thí nghiệm đo tần số sóng âm với các dụng cụ thí nghiệm trên.</a:t>
            </a:r>
            <a:endParaRPr lang="en-US" sz="2400">
              <a:solidFill>
                <a:schemeClr val="dk1"/>
              </a:solidFill>
              <a:latin typeface="Tahoma" panose="020B0804030504040204"/>
              <a:ea typeface="Tahoma" panose="020B0804030504040204"/>
              <a:cs typeface="Tahoma" panose="020B0804030504040204"/>
              <a:sym typeface="Tahoma" panose="020B0804030504040204"/>
            </a:endParaRPr>
          </a:p>
          <a:p>
            <a:pPr marL="0" marR="0" lvl="0" indent="-12192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920"/>
              <a:buFont typeface="Noto Sans Symbols"/>
              <a:buChar char="►"/>
            </a:pPr>
            <a:r>
              <a:rPr lang="en-US" sz="2400">
                <a:solidFill>
                  <a:schemeClr val="dk1"/>
                </a:solidFill>
                <a:latin typeface="Tahoma" panose="020B0804030504040204"/>
                <a:ea typeface="Tahoma" panose="020B0804030504040204"/>
                <a:cs typeface="Tahoma" panose="020B0804030504040204"/>
                <a:sym typeface="Tahoma" panose="020B0804030504040204"/>
              </a:rPr>
              <a:t>	Làm thế nào để giảm ảnh hưởng của tiếng ồn bên ngoài đến phép đo?</a:t>
            </a:r>
            <a:endParaRPr lang="en-US" sz="2400">
              <a:solidFill>
                <a:schemeClr val="dk1"/>
              </a:solidFill>
              <a:latin typeface="Tahoma" panose="020B0804030504040204"/>
              <a:ea typeface="Tahoma" panose="020B0804030504040204"/>
              <a:cs typeface="Tahoma" panose="020B0804030504040204"/>
              <a:sym typeface="Tahoma" panose="020B080403050404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FEFED"/>
            </a:gs>
            <a:gs pos="74000">
              <a:srgbClr val="F17F7D"/>
            </a:gs>
            <a:gs pos="83000">
              <a:srgbClr val="F17F7D"/>
            </a:gs>
            <a:gs pos="100000">
              <a:srgbClr val="F6A9A7"/>
            </a:gs>
          </a:gsLst>
          <a:lin ang="5400000" scaled="0"/>
        </a:gradFill>
        <a:effectLst/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/>
          <p:nvPr/>
        </p:nvSpPr>
        <p:spPr>
          <a:xfrm>
            <a:off x="-418" y="900279"/>
            <a:ext cx="9404723" cy="88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b="1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2" name="Google Shape;222;p27"/>
          <p:cNvSpPr/>
          <p:nvPr/>
        </p:nvSpPr>
        <p:spPr>
          <a:xfrm>
            <a:off x="0" y="0"/>
            <a:ext cx="1086802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II. Thực hành đo tần số của sóng âm.</a:t>
            </a:r>
            <a:endParaRPr sz="40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3" name="Google Shape;223;p27"/>
          <p:cNvSpPr txBox="1"/>
          <p:nvPr/>
        </p:nvSpPr>
        <p:spPr>
          <a:xfrm>
            <a:off x="-418" y="972592"/>
            <a:ext cx="620791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 Tiến hành thí nghiệm.</a:t>
            </a:r>
            <a:endParaRPr lang="en-US" sz="4000" b="1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4" name="Google Shape;224;p27"/>
          <p:cNvSpPr txBox="1"/>
          <p:nvPr/>
        </p:nvSpPr>
        <p:spPr>
          <a:xfrm>
            <a:off x="19049" y="1855882"/>
            <a:ext cx="6207918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Yêu cầu các nhóm bố trí thí nghiệm như hình, tiến hành thí nghiệm và ghi lại kết quả thí nghiệm vào bảng.</a:t>
            </a:r>
            <a:endParaRPr sz="2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25" name="Google Shape;225;p2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605225" y="1341924"/>
            <a:ext cx="4757256" cy="221566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7"/>
          <p:cNvSpPr txBox="1"/>
          <p:nvPr/>
        </p:nvSpPr>
        <p:spPr>
          <a:xfrm>
            <a:off x="19049" y="3744077"/>
            <a:ext cx="620791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4. Kết quả thí nghiệm.</a:t>
            </a:r>
            <a:endParaRPr lang="en-US" sz="4000" b="1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227" name="Google Shape;227;p27"/>
          <p:cNvGraphicFramePr/>
          <p:nvPr/>
        </p:nvGraphicFramePr>
        <p:xfrm>
          <a:off x="5261719" y="4451963"/>
          <a:ext cx="6100800" cy="3000000"/>
        </p:xfrm>
        <a:graphic>
          <a:graphicData uri="http://schemas.openxmlformats.org/drawingml/2006/table">
            <a:tbl>
              <a:tblPr firstRow="1" firstCol="1" bandRow="1">
                <a:noFill/>
                <a:tableStyleId>{91DDF078-DF0E-4B21-8501-ABDB14361831}</a:tableStyleId>
              </a:tblPr>
              <a:tblGrid>
                <a:gridCol w="1699100"/>
                <a:gridCol w="1091675"/>
                <a:gridCol w="1032900"/>
                <a:gridCol w="1014700"/>
                <a:gridCol w="1262425"/>
              </a:tblGrid>
              <a:tr h="4129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Đại lượng</a:t>
                      </a:r>
                      <a:endParaRPr sz="3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Lần đo</a:t>
                      </a:r>
                      <a:endParaRPr sz="3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Giá trị trung bình</a:t>
                      </a:r>
                      <a:endParaRPr sz="3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</a:tr>
              <a:tr h="87072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Lần 1</a:t>
                      </a:r>
                      <a:endParaRPr sz="3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Lần 2</a:t>
                      </a:r>
                      <a:endParaRPr sz="3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Lần 3</a:t>
                      </a:r>
                      <a:endParaRPr sz="3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 vMerge="1">
                  <a:tcPr/>
                </a:tc>
              </a:tr>
              <a:tr h="41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Chu kì T(s)</a:t>
                      </a:r>
                      <a:endParaRPr sz="3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 </a:t>
                      </a:r>
                      <a:endParaRPr sz="3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 </a:t>
                      </a:r>
                      <a:endParaRPr sz="3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 </a:t>
                      </a:r>
                      <a:endParaRPr sz="3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 </a:t>
                      </a:r>
                      <a:endParaRPr sz="3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</a:tr>
              <a:tr h="41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Tần số (Hz)</a:t>
                      </a:r>
                      <a:endParaRPr sz="3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 </a:t>
                      </a:r>
                      <a:endParaRPr sz="3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 </a:t>
                      </a:r>
                      <a:endParaRPr sz="3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 </a:t>
                      </a:r>
                      <a:endParaRPr sz="3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 </a:t>
                      </a:r>
                      <a:endParaRPr sz="3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/>
                </a:tc>
              </a:tr>
            </a:tbl>
          </a:graphicData>
        </a:graphic>
      </p:graphicFrame>
      <p:sp>
        <p:nvSpPr>
          <p:cNvPr id="228" name="Google Shape;228;p27"/>
          <p:cNvSpPr txBox="1"/>
          <p:nvPr/>
        </p:nvSpPr>
        <p:spPr>
          <a:xfrm>
            <a:off x="121021" y="4451963"/>
            <a:ext cx="5038726" cy="191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HS thảo luận và tính giá trị trung bình, sai số của phép đo chu kì và tần số của sóng âm, hoàn thành báo cáo thực hành.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p28"/>
          <p:cNvSpPr/>
          <p:nvPr/>
        </p:nvSpPr>
        <p:spPr>
          <a:xfrm>
            <a:off x="8719939" y="1460230"/>
            <a:ext cx="3472060" cy="825932"/>
          </a:xfrm>
          <a:custGeom>
            <a:avLst/>
            <a:gdLst/>
            <a:ahLst/>
            <a:cxnLst/>
            <a:rect l="l" t="t" r="r" b="b"/>
            <a:pathLst>
              <a:path w="3472060" h="825932" extrusionOk="0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5" name="Google Shape;235;p28"/>
          <p:cNvSpPr/>
          <p:nvPr/>
        </p:nvSpPr>
        <p:spPr>
          <a:xfrm>
            <a:off x="648930" y="629267"/>
            <a:ext cx="9252154" cy="1016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u="none" strike="noStrike" cap="none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III. Vận dụng.</a:t>
            </a:r>
            <a:endParaRPr lang="en-US" sz="4200" u="none" strike="noStrike" cap="none">
              <a:solidFill>
                <a:srgbClr val="EBEBEB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6" name="Google Shape;236;p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7" name="Google Shape;237;p28"/>
          <p:cNvSpPr/>
          <p:nvPr/>
        </p:nvSpPr>
        <p:spPr>
          <a:xfrm>
            <a:off x="-1" y="1762067"/>
            <a:ext cx="12192418" cy="5095933"/>
          </a:xfrm>
          <a:custGeom>
            <a:avLst/>
            <a:gdLst/>
            <a:ahLst/>
            <a:cxnLst/>
            <a:rect l="l" t="t" r="r" b="b"/>
            <a:pathLst>
              <a:path w="12192418" h="5095933" extrusionOk="0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38" name="Google Shape;238;p28"/>
          <p:cNvSpPr txBox="1"/>
          <p:nvPr/>
        </p:nvSpPr>
        <p:spPr>
          <a:xfrm>
            <a:off x="-418" y="900279"/>
            <a:ext cx="9404723" cy="88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endParaRPr sz="40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39" name="Google Shape;239;p28"/>
          <p:cNvGrpSpPr/>
          <p:nvPr/>
        </p:nvGrpSpPr>
        <p:grpSpPr>
          <a:xfrm>
            <a:off x="734050" y="2810418"/>
            <a:ext cx="10725129" cy="3403951"/>
            <a:chOff x="85120" y="162"/>
            <a:chExt cx="10725129" cy="3403951"/>
          </a:xfrm>
        </p:grpSpPr>
        <p:sp>
          <p:nvSpPr>
            <p:cNvPr id="240" name="Google Shape;240;p28"/>
            <p:cNvSpPr/>
            <p:nvPr/>
          </p:nvSpPr>
          <p:spPr>
            <a:xfrm>
              <a:off x="85120" y="162"/>
              <a:ext cx="4596484" cy="2918767"/>
            </a:xfrm>
            <a:prstGeom prst="roundRect">
              <a:avLst>
                <a:gd name="adj" fmla="val 10000"/>
              </a:avLst>
            </a:prstGeom>
            <a:solidFill>
              <a:srgbClr val="B01210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1" name="Google Shape;241;p28"/>
            <p:cNvSpPr/>
            <p:nvPr/>
          </p:nvSpPr>
          <p:spPr>
            <a:xfrm>
              <a:off x="595840" y="485346"/>
              <a:ext cx="4596484" cy="2918767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9050" cap="rnd" cmpd="sng">
              <a:solidFill>
                <a:srgbClr val="B0121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2" name="Google Shape;242;p28"/>
            <p:cNvSpPr txBox="1"/>
            <p:nvPr/>
          </p:nvSpPr>
          <p:spPr>
            <a:xfrm>
              <a:off x="681328" y="570834"/>
              <a:ext cx="4425508" cy="27477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400"/>
                <a:buFont typeface="Century Gothic"/>
                <a:buNone/>
              </a:pPr>
              <a:r>
                <a:rPr lang="en-US" sz="3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Hãy sử dụng một số ứng dụng trên điện thoại thông minh để chỉnh dây đàn ghita.</a:t>
              </a:r>
              <a:endParaRPr lang="en-US" sz="3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3" name="Google Shape;243;p28"/>
            <p:cNvSpPr/>
            <p:nvPr/>
          </p:nvSpPr>
          <p:spPr>
            <a:xfrm>
              <a:off x="5703045" y="162"/>
              <a:ext cx="4596484" cy="2918767"/>
            </a:xfrm>
            <a:prstGeom prst="roundRect">
              <a:avLst>
                <a:gd name="adj" fmla="val 10000"/>
              </a:avLst>
            </a:prstGeom>
            <a:solidFill>
              <a:srgbClr val="B01210"/>
            </a:solidFill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4" name="Google Shape;244;p28"/>
            <p:cNvSpPr/>
            <p:nvPr/>
          </p:nvSpPr>
          <p:spPr>
            <a:xfrm>
              <a:off x="6213765" y="485346"/>
              <a:ext cx="4596484" cy="2918767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9050" cap="rnd" cmpd="sng">
              <a:solidFill>
                <a:srgbClr val="B0121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5" name="Google Shape;245;p28"/>
            <p:cNvSpPr txBox="1"/>
            <p:nvPr/>
          </p:nvSpPr>
          <p:spPr>
            <a:xfrm>
              <a:off x="6299253" y="570834"/>
              <a:ext cx="4425508" cy="27477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9525" tIns="129525" rIns="129525" bIns="12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400"/>
                <a:buFont typeface="Century Gothic"/>
                <a:buNone/>
              </a:pPr>
              <a:r>
                <a:rPr lang="en-US" sz="3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Hãy sử dụng một số ứng dụng trên điện thoại thông minh để đo tần số sóng âm.</a:t>
              </a:r>
              <a:endParaRPr lang="en-US" sz="3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9"/>
          <p:cNvPicPr preferRelativeResize="0"/>
          <p:nvPr/>
        </p:nvPicPr>
        <p:blipFill rotWithShape="1">
          <a:blip r:embed="rId2"/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9"/>
          <p:cNvPicPr preferRelativeResize="0"/>
          <p:nvPr/>
        </p:nvPicPr>
        <p:blipFill rotWithShape="1">
          <a:blip r:embed="rId3"/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9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6666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253" name="Google Shape;253;p29"/>
          <p:cNvPicPr preferRelativeResize="0"/>
          <p:nvPr/>
        </p:nvPicPr>
        <p:blipFill rotWithShape="1">
          <a:blip r:embed="rId4"/>
          <a:srcRect t="28812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9"/>
          <p:cNvPicPr preferRelativeResize="0"/>
          <p:nvPr/>
        </p:nvPicPr>
        <p:blipFill rotWithShape="1">
          <a:blip r:embed="rId5"/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6" name="Google Shape;256;p29"/>
          <p:cNvSpPr/>
          <p:nvPr/>
        </p:nvSpPr>
        <p:spPr>
          <a:xfrm>
            <a:off x="7400518" y="1447800"/>
            <a:ext cx="4143781" cy="309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III. Vận dụng.</a:t>
            </a:r>
            <a:endParaRPr lang="en-US" sz="5400" u="none" strike="noStrike" cap="none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7" name="Google Shape;257;p29"/>
          <p:cNvSpPr/>
          <p:nvPr/>
        </p:nvSpPr>
        <p:spPr>
          <a:xfrm>
            <a:off x="0" y="0"/>
            <a:ext cx="6995919" cy="6858000"/>
          </a:xfrm>
          <a:custGeom>
            <a:avLst/>
            <a:gdLst/>
            <a:ahLst/>
            <a:cxnLst/>
            <a:rect l="l" t="t" r="r" b="b"/>
            <a:pathLst>
              <a:path w="6995919" h="6858000" extrusionOk="0">
                <a:moveTo>
                  <a:pt x="5651204" y="0"/>
                </a:moveTo>
                <a:lnTo>
                  <a:pt x="6994742" y="0"/>
                </a:lnTo>
                <a:lnTo>
                  <a:pt x="6969697" y="155676"/>
                </a:lnTo>
                <a:lnTo>
                  <a:pt x="6945828" y="310667"/>
                </a:lnTo>
                <a:lnTo>
                  <a:pt x="6922464" y="466344"/>
                </a:lnTo>
                <a:lnTo>
                  <a:pt x="6902461" y="622706"/>
                </a:lnTo>
                <a:lnTo>
                  <a:pt x="6882290" y="778383"/>
                </a:lnTo>
                <a:lnTo>
                  <a:pt x="6863464" y="934745"/>
                </a:lnTo>
                <a:lnTo>
                  <a:pt x="6847328" y="1089050"/>
                </a:lnTo>
                <a:lnTo>
                  <a:pt x="6832032" y="1245413"/>
                </a:lnTo>
                <a:lnTo>
                  <a:pt x="6818080" y="1401089"/>
                </a:lnTo>
                <a:lnTo>
                  <a:pt x="6805978" y="1554023"/>
                </a:lnTo>
                <a:lnTo>
                  <a:pt x="6793875" y="1709013"/>
                </a:lnTo>
                <a:lnTo>
                  <a:pt x="6783790" y="1861947"/>
                </a:lnTo>
                <a:lnTo>
                  <a:pt x="6775890" y="2014880"/>
                </a:lnTo>
                <a:lnTo>
                  <a:pt x="6767653" y="2167128"/>
                </a:lnTo>
                <a:lnTo>
                  <a:pt x="6760762" y="2318004"/>
                </a:lnTo>
                <a:lnTo>
                  <a:pt x="6755887" y="2467508"/>
                </a:lnTo>
                <a:lnTo>
                  <a:pt x="6751685" y="2617013"/>
                </a:lnTo>
                <a:lnTo>
                  <a:pt x="6747651" y="2765145"/>
                </a:lnTo>
                <a:lnTo>
                  <a:pt x="6745802" y="2911221"/>
                </a:lnTo>
                <a:lnTo>
                  <a:pt x="6743785" y="3057296"/>
                </a:lnTo>
                <a:lnTo>
                  <a:pt x="6742776" y="3201314"/>
                </a:lnTo>
                <a:lnTo>
                  <a:pt x="6743785" y="3343960"/>
                </a:lnTo>
                <a:lnTo>
                  <a:pt x="6743785" y="3485235"/>
                </a:lnTo>
                <a:lnTo>
                  <a:pt x="6745802" y="3625138"/>
                </a:lnTo>
                <a:lnTo>
                  <a:pt x="6748827" y="3762298"/>
                </a:lnTo>
                <a:lnTo>
                  <a:pt x="6751685" y="3898087"/>
                </a:lnTo>
                <a:lnTo>
                  <a:pt x="6754879" y="4031132"/>
                </a:lnTo>
                <a:lnTo>
                  <a:pt x="6759753" y="4163491"/>
                </a:lnTo>
                <a:lnTo>
                  <a:pt x="6764964" y="4293793"/>
                </a:lnTo>
                <a:lnTo>
                  <a:pt x="6769670" y="4421352"/>
                </a:lnTo>
                <a:lnTo>
                  <a:pt x="6782950" y="4670298"/>
                </a:lnTo>
                <a:lnTo>
                  <a:pt x="6797069" y="4908956"/>
                </a:lnTo>
                <a:lnTo>
                  <a:pt x="6811861" y="5138013"/>
                </a:lnTo>
                <a:lnTo>
                  <a:pt x="6828166" y="5354726"/>
                </a:lnTo>
                <a:lnTo>
                  <a:pt x="6845143" y="5561838"/>
                </a:lnTo>
                <a:lnTo>
                  <a:pt x="6863464" y="5753862"/>
                </a:lnTo>
                <a:lnTo>
                  <a:pt x="6881450" y="5934227"/>
                </a:lnTo>
                <a:lnTo>
                  <a:pt x="6899435" y="6100191"/>
                </a:lnTo>
                <a:lnTo>
                  <a:pt x="6916412" y="6252438"/>
                </a:lnTo>
                <a:lnTo>
                  <a:pt x="6932549" y="6387541"/>
                </a:lnTo>
                <a:lnTo>
                  <a:pt x="6947845" y="6509613"/>
                </a:lnTo>
                <a:lnTo>
                  <a:pt x="6960620" y="6612483"/>
                </a:lnTo>
                <a:lnTo>
                  <a:pt x="6972722" y="6698894"/>
                </a:lnTo>
                <a:lnTo>
                  <a:pt x="6990036" y="6817538"/>
                </a:lnTo>
                <a:lnTo>
                  <a:pt x="6995919" y="6858000"/>
                </a:lnTo>
                <a:lnTo>
                  <a:pt x="6090565" y="6858000"/>
                </a:lnTo>
                <a:lnTo>
                  <a:pt x="6090565" y="6858000"/>
                </a:lnTo>
                <a:lnTo>
                  <a:pt x="0" y="6858000"/>
                </a:lnTo>
                <a:lnTo>
                  <a:pt x="0" y="0"/>
                </a:lnTo>
                <a:lnTo>
                  <a:pt x="565120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8" name="Google Shape;258;p29"/>
          <p:cNvPicPr preferRelativeResize="0"/>
          <p:nvPr/>
        </p:nvPicPr>
        <p:blipFill rotWithShape="1">
          <a:blip r:embed="rId6"/>
          <a:srcRect l="12347" t="38353" r="35037" b="8696"/>
          <a:stretch>
            <a:fillRect/>
          </a:stretch>
        </p:blipFill>
        <p:spPr>
          <a:xfrm>
            <a:off x="962157" y="647698"/>
            <a:ext cx="4817799" cy="272726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9"/>
          <p:cNvSpPr/>
          <p:nvPr/>
        </p:nvSpPr>
        <p:spPr>
          <a:xfrm flipH="1">
            <a:off x="6649646" y="-1"/>
            <a:ext cx="559472" cy="3709642"/>
          </a:xfrm>
          <a:custGeom>
            <a:avLst/>
            <a:gdLst/>
            <a:ahLst/>
            <a:cxnLst/>
            <a:rect l="l" t="t" r="r" b="b"/>
            <a:pathLst>
              <a:path w="559472" h="3709642" extrusionOk="0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60" name="Google Shape;260;p29"/>
          <p:cNvPicPr preferRelativeResize="0"/>
          <p:nvPr/>
        </p:nvPicPr>
        <p:blipFill rotWithShape="1">
          <a:blip r:embed="rId7"/>
          <a:srcRect l="27231" t="15983" r="50000" b="17728"/>
          <a:stretch>
            <a:fillRect/>
          </a:stretch>
        </p:blipFill>
        <p:spPr>
          <a:xfrm>
            <a:off x="2536311" y="3482108"/>
            <a:ext cx="1665642" cy="2727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704020202020204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704020202020204" pitchFamily="34" charset="0"/>
            <a:ea typeface="SimSun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1851</Words>
  <Application>WPS Spreadsheets</Application>
  <PresentationFormat/>
  <Paragraphs>101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30" baseType="lpstr">
      <vt:lpstr>Arial</vt:lpstr>
      <vt:lpstr>SimSun</vt:lpstr>
      <vt:lpstr>Wingdings</vt:lpstr>
      <vt:lpstr>Arial</vt:lpstr>
      <vt:lpstr>Century Gothic</vt:lpstr>
      <vt:lpstr>Noto Sans Symbols</vt:lpstr>
      <vt:lpstr>Thonburi</vt:lpstr>
      <vt:lpstr>Calibri</vt:lpstr>
      <vt:lpstr>Helvetica Neue</vt:lpstr>
      <vt:lpstr>Times New Roman</vt:lpstr>
      <vt:lpstr>Tahoma</vt:lpstr>
      <vt:lpstr>Microsoft YaHei</vt:lpstr>
      <vt:lpstr>汉仪旗黑</vt:lpstr>
      <vt:lpstr>Arial Unicode MS</vt:lpstr>
      <vt:lpstr>宋体-简</vt:lpstr>
      <vt:lpstr>Century Gothic</vt:lpstr>
      <vt:lpstr>Noto Sans Symbols</vt:lpstr>
      <vt:lpstr>Tahoma</vt:lpstr>
      <vt:lpstr>Times New Roman</vt:lpstr>
      <vt:lpstr>苹方-简</vt:lpstr>
      <vt:lpstr>Ion</vt:lpstr>
      <vt:lpstr>Art_mountaineering</vt:lpstr>
      <vt:lpstr>BÀI 10: ĐO TẦN SỐ CỦA SÓNG ÂM</vt:lpstr>
      <vt:lpstr>I. Giới thiệu về dao động kí điện tử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10: ĐO TẦN SỐ CỦA SÓNG ÂM</dc:title>
  <dc:creator>VnTeach.Com</dc:creator>
  <cp:keywords>VnTeach.Com</cp:keywords>
  <cp:lastModifiedBy>vietchung</cp:lastModifiedBy>
  <cp:revision>1</cp:revision>
  <dcterms:created xsi:type="dcterms:W3CDTF">2025-09-17T07:01:37Z</dcterms:created>
  <dcterms:modified xsi:type="dcterms:W3CDTF">2025-09-17T07:01:37Z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DF1D0AAFBA02C9BED15CCA68DF032BF3_42</vt:lpwstr>
  </property>
  <property fmtid="{D5CDD505-2E9C-101B-9397-08002B2CF9AE}" pid="3" name="KSOProductBuildVer">
    <vt:lpwstr>1033-12.1.22553.22553</vt:lpwstr>
  </property>
</Properties>
</file>