
<file path=[Content_Types].xml><?xml version="1.0" encoding="utf-8"?>
<Types xmlns="http://schemas.openxmlformats.org/package/2006/content-types">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Lst>
  <p:sldSz cx="9144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4" name="Google Shape;4;n"/>
          <p:cNvSpPr txBox="1"/>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5" name="Google Shape;5;n"/>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p:txBody>
      </p:sp>
      <p:sp>
        <p:nvSpPr>
          <p:cNvPr id="7" name="Google Shape;7;n"/>
          <p:cNvSpPr txBox="1"/>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8" name="Google Shape;8;n"/>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 name="Shape 84"/>
        <p:cNvGrpSpPr/>
        <p:nvPr/>
      </p:nvGrpSpPr>
      <p:grpSpPr>
        <a:xfrm>
          <a:off x="0" y="0"/>
          <a:ext cx="0" cy="0"/>
          <a:chOff x="0" y="0"/>
          <a:chExt cx="0" cy="0"/>
        </a:xfrm>
      </p:grpSpPr>
      <p:sp>
        <p:nvSpPr>
          <p:cNvPr id="85" name="Google Shape;85;p1: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6" name="Google Shape;86;p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2" name="Shape 92"/>
        <p:cNvGrpSpPr/>
        <p:nvPr/>
      </p:nvGrpSpPr>
      <p:grpSpPr>
        <a:xfrm>
          <a:off x="0" y="0"/>
          <a:ext cx="0" cy="0"/>
          <a:chOff x="0" y="0"/>
          <a:chExt cx="0" cy="0"/>
        </a:xfrm>
      </p:grpSpPr>
      <p:sp>
        <p:nvSpPr>
          <p:cNvPr id="93" name="Google Shape;93;p2: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4" name="Google Shape;94;p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0" name="Shape 100"/>
        <p:cNvGrpSpPr/>
        <p:nvPr/>
      </p:nvGrpSpPr>
      <p:grpSpPr>
        <a:xfrm>
          <a:off x="0" y="0"/>
          <a:ext cx="0" cy="0"/>
          <a:chOff x="0" y="0"/>
          <a:chExt cx="0" cy="0"/>
        </a:xfrm>
      </p:grpSpPr>
      <p:sp>
        <p:nvSpPr>
          <p:cNvPr id="101" name="Google Shape;101;p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2" name="Google Shape;102;p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7" name="Shape 107"/>
        <p:cNvGrpSpPr/>
        <p:nvPr/>
      </p:nvGrpSpPr>
      <p:grpSpPr>
        <a:xfrm>
          <a:off x="0" y="0"/>
          <a:ext cx="0" cy="0"/>
          <a:chOff x="0" y="0"/>
          <a:chExt cx="0" cy="0"/>
        </a:xfrm>
      </p:grpSpPr>
      <p:sp>
        <p:nvSpPr>
          <p:cNvPr id="108" name="Google Shape;108;p4: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9" name="Google Shape;109;p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5" name="Shape 115"/>
        <p:cNvGrpSpPr/>
        <p:nvPr/>
      </p:nvGrpSpPr>
      <p:grpSpPr>
        <a:xfrm>
          <a:off x="0" y="0"/>
          <a:ext cx="0" cy="0"/>
          <a:chOff x="0" y="0"/>
          <a:chExt cx="0" cy="0"/>
        </a:xfrm>
      </p:grpSpPr>
      <p:sp>
        <p:nvSpPr>
          <p:cNvPr id="116" name="Google Shape;116;p5: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7" name="Google Shape;117;p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1" name="Shape 121"/>
        <p:cNvGrpSpPr/>
        <p:nvPr/>
      </p:nvGrpSpPr>
      <p:grpSpPr>
        <a:xfrm>
          <a:off x="0" y="0"/>
          <a:ext cx="0" cy="0"/>
          <a:chOff x="0" y="0"/>
          <a:chExt cx="0" cy="0"/>
        </a:xfrm>
      </p:grpSpPr>
      <p:sp>
        <p:nvSpPr>
          <p:cNvPr id="122" name="Google Shape;122;p6: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23" name="Google Shape;123;p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4" name="Google Shape;124;p6: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1" name="Shape 221"/>
        <p:cNvGrpSpPr/>
        <p:nvPr/>
      </p:nvGrpSpPr>
      <p:grpSpPr>
        <a:xfrm>
          <a:off x="0" y="0"/>
          <a:ext cx="0" cy="0"/>
          <a:chOff x="0" y="0"/>
          <a:chExt cx="0" cy="0"/>
        </a:xfrm>
      </p:grpSpPr>
      <p:sp>
        <p:nvSpPr>
          <p:cNvPr id="222" name="Google Shape;222;p7: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23" name="Google Shape;223;p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4" name="Google Shape;224;p7: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7" name="Shape 277"/>
        <p:cNvGrpSpPr/>
        <p:nvPr/>
      </p:nvGrpSpPr>
      <p:grpSpPr>
        <a:xfrm>
          <a:off x="0" y="0"/>
          <a:ext cx="0" cy="0"/>
          <a:chOff x="0" y="0"/>
          <a:chExt cx="0" cy="0"/>
        </a:xfrm>
      </p:grpSpPr>
      <p:sp>
        <p:nvSpPr>
          <p:cNvPr id="278" name="Google Shape;278;p8: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79" name="Google Shape;279;p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3" name="Shape 283"/>
        <p:cNvGrpSpPr/>
        <p:nvPr/>
      </p:nvGrpSpPr>
      <p:grpSpPr>
        <a:xfrm>
          <a:off x="0" y="0"/>
          <a:ext cx="0" cy="0"/>
          <a:chOff x="0" y="0"/>
          <a:chExt cx="0" cy="0"/>
        </a:xfrm>
      </p:grpSpPr>
      <p:sp>
        <p:nvSpPr>
          <p:cNvPr id="284" name="Google Shape;284;p9: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85" name="Google Shape;285;p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4" name="Shape 374"/>
        <p:cNvGrpSpPr/>
        <p:nvPr/>
      </p:nvGrpSpPr>
      <p:grpSpPr>
        <a:xfrm>
          <a:off x="0" y="0"/>
          <a:ext cx="0" cy="0"/>
          <a:chOff x="0" y="0"/>
          <a:chExt cx="0" cy="0"/>
        </a:xfrm>
      </p:grpSpPr>
      <p:sp>
        <p:nvSpPr>
          <p:cNvPr id="375" name="Google Shape;375;p10: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76" name="Google Shape;376;p1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2" name="Shape 382"/>
        <p:cNvGrpSpPr/>
        <p:nvPr/>
      </p:nvGrpSpPr>
      <p:grpSpPr>
        <a:xfrm>
          <a:off x="0" y="0"/>
          <a:ext cx="0" cy="0"/>
          <a:chOff x="0" y="0"/>
          <a:chExt cx="0" cy="0"/>
        </a:xfrm>
      </p:grpSpPr>
      <p:sp>
        <p:nvSpPr>
          <p:cNvPr id="383" name="Google Shape;383;p11: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84" name="Google Shape;384;p1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7" name="Shape 387"/>
        <p:cNvGrpSpPr/>
        <p:nvPr/>
      </p:nvGrpSpPr>
      <p:grpSpPr>
        <a:xfrm>
          <a:off x="0" y="0"/>
          <a:ext cx="0" cy="0"/>
          <a:chOff x="0" y="0"/>
          <a:chExt cx="0" cy="0"/>
        </a:xfrm>
      </p:grpSpPr>
      <p:sp>
        <p:nvSpPr>
          <p:cNvPr id="388" name="Google Shape;388;p12: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89" name="Google Shape;389;p1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2" name="Shape 392"/>
        <p:cNvGrpSpPr/>
        <p:nvPr/>
      </p:nvGrpSpPr>
      <p:grpSpPr>
        <a:xfrm>
          <a:off x="0" y="0"/>
          <a:ext cx="0" cy="0"/>
          <a:chOff x="0" y="0"/>
          <a:chExt cx="0" cy="0"/>
        </a:xfrm>
      </p:grpSpPr>
      <p:sp>
        <p:nvSpPr>
          <p:cNvPr id="393" name="Google Shape;393;p1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94" name="Google Shape;394;p1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2" name="Shape 402"/>
        <p:cNvGrpSpPr/>
        <p:nvPr/>
      </p:nvGrpSpPr>
      <p:grpSpPr>
        <a:xfrm>
          <a:off x="0" y="0"/>
          <a:ext cx="0" cy="0"/>
          <a:chOff x="0" y="0"/>
          <a:chExt cx="0" cy="0"/>
        </a:xfrm>
      </p:grpSpPr>
      <p:sp>
        <p:nvSpPr>
          <p:cNvPr id="403" name="Google Shape;403;p14: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04" name="Google Shape;404;p1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6" name="Shape 416"/>
        <p:cNvGrpSpPr/>
        <p:nvPr/>
      </p:nvGrpSpPr>
      <p:grpSpPr>
        <a:xfrm>
          <a:off x="0" y="0"/>
          <a:ext cx="0" cy="0"/>
          <a:chOff x="0" y="0"/>
          <a:chExt cx="0" cy="0"/>
        </a:xfrm>
      </p:grpSpPr>
      <p:sp>
        <p:nvSpPr>
          <p:cNvPr id="417" name="Google Shape;417;p15: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18" name="Google Shape;418;p1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6" name="Shape 426"/>
        <p:cNvGrpSpPr/>
        <p:nvPr/>
      </p:nvGrpSpPr>
      <p:grpSpPr>
        <a:xfrm>
          <a:off x="0" y="0"/>
          <a:ext cx="0" cy="0"/>
          <a:chOff x="0" y="0"/>
          <a:chExt cx="0" cy="0"/>
        </a:xfrm>
      </p:grpSpPr>
      <p:sp>
        <p:nvSpPr>
          <p:cNvPr id="427" name="Google Shape;427;p16: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28" name="Google Shape;428;p1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1" name="Shape 441"/>
        <p:cNvGrpSpPr/>
        <p:nvPr/>
      </p:nvGrpSpPr>
      <p:grpSpPr>
        <a:xfrm>
          <a:off x="0" y="0"/>
          <a:ext cx="0" cy="0"/>
          <a:chOff x="0" y="0"/>
          <a:chExt cx="0" cy="0"/>
        </a:xfrm>
      </p:grpSpPr>
      <p:sp>
        <p:nvSpPr>
          <p:cNvPr id="442" name="Google Shape;442;p17: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43" name="Google Shape;443;p1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7" name="Shape 447"/>
        <p:cNvGrpSpPr/>
        <p:nvPr/>
      </p:nvGrpSpPr>
      <p:grpSpPr>
        <a:xfrm>
          <a:off x="0" y="0"/>
          <a:ext cx="0" cy="0"/>
          <a:chOff x="0" y="0"/>
          <a:chExt cx="0" cy="0"/>
        </a:xfrm>
      </p:grpSpPr>
      <p:sp>
        <p:nvSpPr>
          <p:cNvPr id="448" name="Google Shape;448;p18: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49" name="Google Shape;449;p1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54" name="Shape 454"/>
        <p:cNvGrpSpPr/>
        <p:nvPr/>
      </p:nvGrpSpPr>
      <p:grpSpPr>
        <a:xfrm>
          <a:off x="0" y="0"/>
          <a:ext cx="0" cy="0"/>
          <a:chOff x="0" y="0"/>
          <a:chExt cx="0" cy="0"/>
        </a:xfrm>
      </p:grpSpPr>
      <p:sp>
        <p:nvSpPr>
          <p:cNvPr id="455" name="Google Shape;455;p1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6" name="Google Shape;456;p19: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57" name="Google Shape;457;p19: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464" name="Shape 464"/>
        <p:cNvGrpSpPr/>
        <p:nvPr/>
      </p:nvGrpSpPr>
      <p:grpSpPr>
        <a:xfrm>
          <a:off x="0" y="0"/>
          <a:ext cx="0" cy="0"/>
          <a:chOff x="0" y="0"/>
          <a:chExt cx="0" cy="0"/>
        </a:xfrm>
      </p:grpSpPr>
      <p:sp>
        <p:nvSpPr>
          <p:cNvPr id="465" name="Google Shape;465;p20: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66" name="Google Shape;466;p2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1" name="Shape 471"/>
        <p:cNvGrpSpPr/>
        <p:nvPr/>
      </p:nvGrpSpPr>
      <p:grpSpPr>
        <a:xfrm>
          <a:off x="0" y="0"/>
          <a:ext cx="0" cy="0"/>
          <a:chOff x="0" y="0"/>
          <a:chExt cx="0" cy="0"/>
        </a:xfrm>
      </p:grpSpPr>
      <p:sp>
        <p:nvSpPr>
          <p:cNvPr id="472" name="Google Shape;472;p21: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73" name="Google Shape;473;p2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7" name="Shape 477"/>
        <p:cNvGrpSpPr/>
        <p:nvPr/>
      </p:nvGrpSpPr>
      <p:grpSpPr>
        <a:xfrm>
          <a:off x="0" y="0"/>
          <a:ext cx="0" cy="0"/>
          <a:chOff x="0" y="0"/>
          <a:chExt cx="0" cy="0"/>
        </a:xfrm>
      </p:grpSpPr>
      <p:sp>
        <p:nvSpPr>
          <p:cNvPr id="478" name="Google Shape;478;p22: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79" name="Google Shape;479;p2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5" name="Shape 485"/>
        <p:cNvGrpSpPr/>
        <p:nvPr/>
      </p:nvGrpSpPr>
      <p:grpSpPr>
        <a:xfrm>
          <a:off x="0" y="0"/>
          <a:ext cx="0" cy="0"/>
          <a:chOff x="0" y="0"/>
          <a:chExt cx="0" cy="0"/>
        </a:xfrm>
      </p:grpSpPr>
      <p:sp>
        <p:nvSpPr>
          <p:cNvPr id="486" name="Google Shape;486;p2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87" name="Google Shape;487;p2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91" name="Shape 491"/>
        <p:cNvGrpSpPr/>
        <p:nvPr/>
      </p:nvGrpSpPr>
      <p:grpSpPr>
        <a:xfrm>
          <a:off x="0" y="0"/>
          <a:ext cx="0" cy="0"/>
          <a:chOff x="0" y="0"/>
          <a:chExt cx="0" cy="0"/>
        </a:xfrm>
      </p:grpSpPr>
      <p:sp>
        <p:nvSpPr>
          <p:cNvPr id="492" name="Google Shape;492;p24: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93" name="Google Shape;493;p2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98" name="Shape 498"/>
        <p:cNvGrpSpPr/>
        <p:nvPr/>
      </p:nvGrpSpPr>
      <p:grpSpPr>
        <a:xfrm>
          <a:off x="0" y="0"/>
          <a:ext cx="0" cy="0"/>
          <a:chOff x="0" y="0"/>
          <a:chExt cx="0" cy="0"/>
        </a:xfrm>
      </p:grpSpPr>
      <p:sp>
        <p:nvSpPr>
          <p:cNvPr id="499" name="Google Shape;499;p25: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00" name="Google Shape;500;p2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5" name="Shape 505"/>
        <p:cNvGrpSpPr/>
        <p:nvPr/>
      </p:nvGrpSpPr>
      <p:grpSpPr>
        <a:xfrm>
          <a:off x="0" y="0"/>
          <a:ext cx="0" cy="0"/>
          <a:chOff x="0" y="0"/>
          <a:chExt cx="0" cy="0"/>
        </a:xfrm>
      </p:grpSpPr>
      <p:sp>
        <p:nvSpPr>
          <p:cNvPr id="506" name="Google Shape;506;p26: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07" name="Google Shape;507;p2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5" name="Shape 15"/>
        <p:cNvGrpSpPr/>
        <p:nvPr/>
      </p:nvGrpSpPr>
      <p:grpSpPr>
        <a:xfrm>
          <a:off x="0" y="0"/>
          <a:ext cx="0" cy="0"/>
          <a:chOff x="0" y="0"/>
          <a:chExt cx="0" cy="0"/>
        </a:xfrm>
      </p:grpSpPr>
      <p:sp>
        <p:nvSpPr>
          <p:cNvPr id="16" name="Google Shape;16;p2"/>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18" name="Google Shape;18;p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21" name="Shape 21"/>
        <p:cNvGrpSpPr/>
        <p:nvPr/>
      </p:nvGrpSpPr>
      <p:grpSpPr>
        <a:xfrm>
          <a:off x="0" y="0"/>
          <a:ext cx="0" cy="0"/>
          <a:chOff x="0" y="0"/>
          <a:chExt cx="0" cy="0"/>
        </a:xfrm>
      </p:grpSpPr>
      <p:sp>
        <p:nvSpPr>
          <p:cNvPr id="22" name="Google Shape;22;p3"/>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4" name="Google Shape;24;p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27" name="Shape 27"/>
        <p:cNvGrpSpPr/>
        <p:nvPr/>
      </p:nvGrpSpPr>
      <p:grpSpPr>
        <a:xfrm>
          <a:off x="0" y="0"/>
          <a:ext cx="0" cy="0"/>
          <a:chOff x="0" y="0"/>
          <a:chExt cx="0" cy="0"/>
        </a:xfrm>
      </p:grpSpPr>
      <p:sp>
        <p:nvSpPr>
          <p:cNvPr id="28" name="Google Shape;28;p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40" name="Google Shape;40;p6"/>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41" name="Google Shape;41;p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7" name="Google Shape;47;p7"/>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8" name="Google Shape;48;p7"/>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9" name="Google Shape;49;p7"/>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50" name="Google Shape;50;p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61" name="Google Shape;61;p9"/>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2" name="Google Shape;62;p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type="pic" idx="2"/>
          </p:nvPr>
        </p:nvSpPr>
        <p:spPr>
          <a:xfrm>
            <a:off x="1792288" y="612775"/>
            <a:ext cx="5486400" cy="4114800"/>
          </a:xfrm>
          <a:prstGeom prst="rect">
            <a:avLst/>
          </a:prstGeom>
          <a:noFill/>
          <a:ln>
            <a:noFill/>
          </a:ln>
        </p:spPr>
      </p:sp>
      <p:sp>
        <p:nvSpPr>
          <p:cNvPr id="68" name="Google Shape;68;p10"/>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9" name="Google Shape;69;p1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5" name="Google Shape;75;p1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81" name="Google Shape;81;p1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704020202020204"/>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panose="020B0704020202020204"/>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panose="020B0704020202020204"/>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Calibri"/>
                <a:ea typeface="Calibri"/>
                <a:cs typeface="Calibri"/>
                <a:sym typeface="Calibri"/>
              </a:defRPr>
            </a:lvl9pPr>
          </a:lstStyle>
          <a:p/>
        </p:txBody>
      </p:sp>
      <p:sp>
        <p:nvSpPr>
          <p:cNvPr id="12" name="Google Shape;12;p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13" name="Google Shape;13;p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14" name="Google Shape;14;p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4.GIF"/><Relationship Id="rId2" Type="http://schemas.openxmlformats.org/officeDocument/2006/relationships/image" Target="../media/image3.GIF"/><Relationship Id="rId1" Type="http://schemas.openxmlformats.org/officeDocument/2006/relationships/image" Target="../media/image2.GI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5.GI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image" Target="../media/image6.GI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xml"/><Relationship Id="rId3" Type="http://schemas.openxmlformats.org/officeDocument/2006/relationships/image" Target="../media/image3.GIF"/><Relationship Id="rId2" Type="http://schemas.openxmlformats.org/officeDocument/2006/relationships/image" Target="../media/image12.png"/><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25.png"/><Relationship Id="rId1" Type="http://schemas.openxmlformats.org/officeDocument/2006/relationships/hyperlink" Target="about:blank" TargetMode="Externa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27.png"/><Relationship Id="rId1"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28.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image" Target="../media/image30.png"/><Relationship Id="rId1"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28.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87" name="Shape 87"/>
        <p:cNvGrpSpPr/>
        <p:nvPr/>
      </p:nvGrpSpPr>
      <p:grpSpPr>
        <a:xfrm>
          <a:off x="0" y="0"/>
          <a:ext cx="0" cy="0"/>
          <a:chOff x="0" y="0"/>
          <a:chExt cx="0" cy="0"/>
        </a:xfrm>
      </p:grpSpPr>
      <p:sp>
        <p:nvSpPr>
          <p:cNvPr id="88" name="Google Shape;88;p13"/>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p>
        </p:txBody>
      </p:sp>
      <p:sp>
        <p:nvSpPr>
          <p:cNvPr id="89" name="Google Shape;89;p13"/>
          <p:cNvSpPr txBox="1"/>
          <p:nvPr>
            <p:ph type="body" idx="1"/>
          </p:nvPr>
        </p:nvSpPr>
        <p:spPr>
          <a:xfrm>
            <a:off x="420974" y="4543269"/>
            <a:ext cx="8915400" cy="1367089"/>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https://www.youtube.com/watch?v=mMjYmrmhZa8</a:t>
            </a:r>
            <a:endParaRPr lang="en-US"/>
          </a:p>
        </p:txBody>
      </p:sp>
      <p:pic>
        <p:nvPicPr>
          <p:cNvPr id="90" name="Google Shape;90;p13"/>
          <p:cNvPicPr preferRelativeResize="0"/>
          <p:nvPr/>
        </p:nvPicPr>
        <p:blipFill rotWithShape="1">
          <a:blip r:embed="rId1"/>
          <a:srcRect/>
          <a:stretch>
            <a:fillRect/>
          </a:stretch>
        </p:blipFill>
        <p:spPr>
          <a:xfrm>
            <a:off x="457200" y="274638"/>
            <a:ext cx="8610600" cy="4297362"/>
          </a:xfrm>
          <a:prstGeom prst="rect">
            <a:avLst/>
          </a:prstGeom>
          <a:noFill/>
          <a:ln>
            <a:noFill/>
          </a:ln>
        </p:spPr>
      </p:pic>
      <p:sp>
        <p:nvSpPr>
          <p:cNvPr id="91" name="Google Shape;91;p13"/>
          <p:cNvSpPr txBox="1"/>
          <p:nvPr/>
        </p:nvSpPr>
        <p:spPr>
          <a:xfrm>
            <a:off x="262467" y="0"/>
            <a:ext cx="8915400" cy="6857999"/>
          </a:xfrm>
          <a:prstGeom prst="rect">
            <a:avLst/>
          </a:prstGeom>
          <a:gradFill>
            <a:gsLst>
              <a:gs pos="0">
                <a:srgbClr val="FFFF7E"/>
              </a:gs>
              <a:gs pos="50000">
                <a:srgbClr val="FFFFB1"/>
              </a:gs>
              <a:gs pos="100000">
                <a:srgbClr val="FFFFD9"/>
              </a:gs>
            </a:gsLst>
            <a:path path="circle">
              <a:fillToRect l="100000" t="100000"/>
            </a:path>
            <a:tileRect r="-100000" b="-100000"/>
          </a:gradFill>
          <a:ln>
            <a:noFill/>
          </a:ln>
        </p:spPr>
        <p:txBody>
          <a:bodyPr spcFirstLastPara="1" wrap="square" lIns="91425" tIns="45700" rIns="91425" bIns="45700" anchor="t" anchorCtr="0">
            <a:normAutofit/>
          </a:bodyPr>
          <a:lstStyle/>
          <a:p>
            <a:pPr marL="342900" marR="0" lvl="0" indent="-139700" algn="l" rtl="0">
              <a:spcBef>
                <a:spcPts val="0"/>
              </a:spcBef>
              <a:spcAft>
                <a:spcPts val="0"/>
              </a:spcAft>
              <a:buClr>
                <a:schemeClr val="dk1"/>
              </a:buClr>
              <a:buSzPts val="3200"/>
              <a:buFont typeface="Arial" panose="020B0704020202020204"/>
              <a:buNone/>
            </a:pPr>
            <a:endParaRPr sz="4000" u="none" strike="noStrike" cap="none">
              <a:solidFill>
                <a:schemeClr val="dk1"/>
              </a:solidFill>
              <a:latin typeface="Times New Roman" panose="02020603050405020304" charset="0"/>
              <a:ea typeface="Calibri"/>
              <a:cs typeface="Times New Roman" panose="02020603050405020304" charset="0"/>
              <a:sym typeface="Calibri"/>
            </a:endParaRPr>
          </a:p>
          <a:p>
            <a:pPr marL="342900" marR="0" lvl="0" indent="-139700" algn="l" rtl="0">
              <a:spcBef>
                <a:spcPts val="640"/>
              </a:spcBef>
              <a:spcAft>
                <a:spcPts val="0"/>
              </a:spcAft>
              <a:buClr>
                <a:schemeClr val="dk1"/>
              </a:buClr>
              <a:buSzPts val="3200"/>
              <a:buFont typeface="Arial" panose="020B0704020202020204"/>
              <a:buNone/>
            </a:pPr>
            <a:endParaRPr sz="4000" u="none" strike="noStrike" cap="none">
              <a:solidFill>
                <a:schemeClr val="dk1"/>
              </a:solidFill>
              <a:latin typeface="Times New Roman" panose="02020603050405020304" charset="0"/>
              <a:ea typeface="Calibri"/>
              <a:cs typeface="Times New Roman" panose="02020603050405020304" charset="0"/>
              <a:sym typeface="Calibri"/>
            </a:endParaRPr>
          </a:p>
          <a:p>
            <a:pPr marL="342900" marR="0" lvl="0" indent="-139700" algn="l" rtl="0">
              <a:spcBef>
                <a:spcPts val="640"/>
              </a:spcBef>
              <a:spcAft>
                <a:spcPts val="0"/>
              </a:spcAft>
              <a:buClr>
                <a:schemeClr val="dk1"/>
              </a:buClr>
              <a:buSzPts val="3200"/>
              <a:buFont typeface="Arial" panose="020B0704020202020204"/>
              <a:buNone/>
            </a:pPr>
            <a:endParaRPr sz="4000" u="none" strike="noStrike" cap="none">
              <a:solidFill>
                <a:schemeClr val="dk1"/>
              </a:solidFill>
              <a:latin typeface="Times New Roman" panose="02020603050405020304" charset="0"/>
              <a:ea typeface="Calibri"/>
              <a:cs typeface="Times New Roman" panose="02020603050405020304" charset="0"/>
              <a:sym typeface="Calibri"/>
            </a:endParaRPr>
          </a:p>
          <a:p>
            <a:pPr marL="0" marR="0" lvl="0" indent="0" algn="l" rtl="0">
              <a:spcBef>
                <a:spcPts val="640"/>
              </a:spcBef>
              <a:spcAft>
                <a:spcPts val="0"/>
              </a:spcAft>
              <a:buClr>
                <a:schemeClr val="dk1"/>
              </a:buClr>
              <a:buSzPts val="3200"/>
              <a:buFont typeface="Arial" panose="020B0704020202020204"/>
              <a:buNone/>
            </a:pPr>
            <a:r>
              <a:rPr lang="en-US" sz="4000" u="none" strike="noStrike" cap="none">
                <a:solidFill>
                  <a:schemeClr val="dk1"/>
                </a:solidFill>
                <a:latin typeface="Times New Roman" panose="02020603050405020304" charset="0"/>
                <a:ea typeface="Calibri"/>
                <a:cs typeface="Times New Roman" panose="02020603050405020304" charset="0"/>
                <a:sym typeface="Calibri"/>
              </a:rPr>
              <a:t>Theo như quan sát, ta thấy:</a:t>
            </a:r>
            <a:endParaRPr sz="4000" u="none" strike="noStrike" cap="none">
              <a:solidFill>
                <a:schemeClr val="dk1"/>
              </a:solidFill>
              <a:latin typeface="Times New Roman" panose="02020603050405020304" charset="0"/>
              <a:ea typeface="Calibri"/>
              <a:cs typeface="Times New Roman" panose="02020603050405020304" charset="0"/>
              <a:sym typeface="Calibri"/>
            </a:endParaRPr>
          </a:p>
          <a:p>
            <a:pPr marL="0" marR="0" lvl="0" indent="0" algn="l" rtl="0">
              <a:spcBef>
                <a:spcPts val="640"/>
              </a:spcBef>
              <a:spcAft>
                <a:spcPts val="0"/>
              </a:spcAft>
              <a:buClr>
                <a:schemeClr val="dk1"/>
              </a:buClr>
              <a:buSzPts val="3200"/>
              <a:buFont typeface="Arial" panose="020B0704020202020204"/>
              <a:buNone/>
            </a:pPr>
            <a:r>
              <a:rPr lang="en-US" sz="4000" u="none" strike="noStrike" cap="none">
                <a:solidFill>
                  <a:schemeClr val="dk1"/>
                </a:solidFill>
                <a:latin typeface="Times New Roman" panose="02020603050405020304" charset="0"/>
                <a:ea typeface="Calibri"/>
                <a:cs typeface="Times New Roman" panose="02020603050405020304" charset="0"/>
                <a:sym typeface="Calibri"/>
              </a:rPr>
              <a:t>+ Chiều dài các ống của đàn là khác nhau.</a:t>
            </a:r>
            <a:endParaRPr sz="4000" u="none" strike="noStrike" cap="none">
              <a:solidFill>
                <a:schemeClr val="dk1"/>
              </a:solidFill>
              <a:latin typeface="Times New Roman" panose="02020603050405020304" charset="0"/>
              <a:ea typeface="Calibri"/>
              <a:cs typeface="Times New Roman" panose="02020603050405020304" charset="0"/>
              <a:sym typeface="Calibri"/>
            </a:endParaRPr>
          </a:p>
          <a:p>
            <a:pPr marL="0" marR="0" lvl="0" indent="0" algn="l" rtl="0">
              <a:spcBef>
                <a:spcPts val="640"/>
              </a:spcBef>
              <a:spcAft>
                <a:spcPts val="0"/>
              </a:spcAft>
              <a:buClr>
                <a:schemeClr val="dk1"/>
              </a:buClr>
              <a:buSzPts val="3200"/>
              <a:buFont typeface="Arial" panose="020B0704020202020204"/>
              <a:buNone/>
            </a:pPr>
            <a:r>
              <a:rPr lang="en-US" sz="4000" u="none" strike="noStrike" cap="none">
                <a:solidFill>
                  <a:schemeClr val="dk1"/>
                </a:solidFill>
                <a:latin typeface="Times New Roman" panose="02020603050405020304" charset="0"/>
                <a:ea typeface="Calibri"/>
                <a:cs typeface="Times New Roman" panose="02020603050405020304" charset="0"/>
                <a:sym typeface="Calibri"/>
              </a:rPr>
              <a:t>+ Vật chất dao động là cột khí trong ống.</a:t>
            </a:r>
            <a:endParaRPr sz="4000" u="none" strike="noStrike" cap="none">
              <a:solidFill>
                <a:schemeClr val="dk1"/>
              </a:solidFill>
              <a:latin typeface="Times New Roman" panose="02020603050405020304" charset="0"/>
              <a:ea typeface="Calibri"/>
              <a:cs typeface="Times New Roman" panose="02020603050405020304" charset="0"/>
              <a:sym typeface="Calibri"/>
            </a:endParaRPr>
          </a:p>
          <a:p>
            <a:pPr marL="0" marR="0" lvl="0" indent="0" algn="l" rtl="0">
              <a:spcBef>
                <a:spcPts val="640"/>
              </a:spcBef>
              <a:spcAft>
                <a:spcPts val="0"/>
              </a:spcAft>
              <a:buClr>
                <a:schemeClr val="dk1"/>
              </a:buClr>
              <a:buSzPts val="3200"/>
              <a:buFont typeface="Arial" panose="020B0704020202020204"/>
              <a:buNone/>
            </a:pPr>
            <a:r>
              <a:rPr lang="en-US" sz="4000" u="none" strike="noStrike" cap="none">
                <a:solidFill>
                  <a:schemeClr val="dk1"/>
                </a:solidFill>
                <a:latin typeface="Times New Roman" panose="02020603050405020304" charset="0"/>
                <a:ea typeface="Calibri"/>
                <a:cs typeface="Times New Roman" panose="02020603050405020304" charset="0"/>
                <a:sym typeface="Calibri"/>
              </a:rPr>
              <a:t>+ Âm phát ra trầm hay bổng là do tần số khác nhau.</a:t>
            </a:r>
            <a:endParaRPr sz="4000" u="none" strike="noStrike" cap="none">
              <a:solidFill>
                <a:schemeClr val="dk1"/>
              </a:solidFill>
              <a:latin typeface="Times New Roman" panose="02020603050405020304" charset="0"/>
              <a:ea typeface="Calibri"/>
              <a:cs typeface="Times New Roman" panose="02020603050405020304" charset="0"/>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95" name="Shape 95"/>
        <p:cNvGrpSpPr/>
        <p:nvPr/>
      </p:nvGrpSpPr>
      <p:grpSpPr>
        <a:xfrm>
          <a:off x="0" y="0"/>
          <a:ext cx="0" cy="0"/>
          <a:chOff x="0" y="0"/>
          <a:chExt cx="0" cy="0"/>
        </a:xfrm>
      </p:grpSpPr>
      <p:sp>
        <p:nvSpPr>
          <p:cNvPr id="96" name="Google Shape;96;p14"/>
          <p:cNvSpPr/>
          <p:nvPr/>
        </p:nvSpPr>
        <p:spPr>
          <a:xfrm>
            <a:off x="859705" y="152400"/>
            <a:ext cx="7546978" cy="1033272"/>
          </a:xfrm>
          <a:prstGeom prst="horizontalScroll">
            <a:avLst>
              <a:gd name="adj" fmla="val 12500"/>
            </a:avLst>
          </a:prstGeom>
          <a:solidFill>
            <a:srgbClr val="DAE5F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1" i="0" u="none" strike="noStrike" cap="none">
                <a:solidFill>
                  <a:srgbClr val="FC7876"/>
                </a:solidFill>
                <a:latin typeface="Times New Roman" panose="02020603050405020304"/>
                <a:ea typeface="Times New Roman" panose="02020603050405020304"/>
                <a:cs typeface="Times New Roman" panose="02020603050405020304"/>
                <a:sym typeface="Times New Roman" panose="02020603050405020304"/>
              </a:rPr>
              <a:t>BÀI SÓNG DỪNG</a:t>
            </a:r>
            <a:endParaRPr sz="3600" b="1" i="0" u="none" strike="noStrike" cap="none">
              <a:solidFill>
                <a:srgbClr val="FC7876"/>
              </a:solidFill>
              <a:latin typeface="Calibri"/>
              <a:ea typeface="Calibri"/>
              <a:cs typeface="Calibri"/>
              <a:sym typeface="Calibri"/>
            </a:endParaRPr>
          </a:p>
        </p:txBody>
      </p:sp>
      <p:pic>
        <p:nvPicPr>
          <p:cNvPr id="97" name="Google Shape;97;p14" descr="https://upload.wikimedia.org/wikipedia/commons/7/7d/Standing_wave_2.gif"/>
          <p:cNvPicPr preferRelativeResize="0"/>
          <p:nvPr/>
        </p:nvPicPr>
        <p:blipFill rotWithShape="1">
          <a:blip r:embed="rId1"/>
          <a:srcRect/>
          <a:stretch>
            <a:fillRect/>
          </a:stretch>
        </p:blipFill>
        <p:spPr>
          <a:xfrm>
            <a:off x="1061319" y="1185672"/>
            <a:ext cx="7143750" cy="2381250"/>
          </a:xfrm>
          <a:prstGeom prst="rect">
            <a:avLst/>
          </a:prstGeom>
          <a:noFill/>
          <a:ln>
            <a:noFill/>
          </a:ln>
        </p:spPr>
      </p:pic>
      <p:pic>
        <p:nvPicPr>
          <p:cNvPr id="98" name="Google Shape;98;p14" descr="Standing Wave Fixed End.gif"/>
          <p:cNvPicPr preferRelativeResize="0"/>
          <p:nvPr/>
        </p:nvPicPr>
        <p:blipFill rotWithShape="1">
          <a:blip r:embed="rId2"/>
          <a:srcRect/>
          <a:stretch>
            <a:fillRect/>
          </a:stretch>
        </p:blipFill>
        <p:spPr>
          <a:xfrm>
            <a:off x="457200" y="3186545"/>
            <a:ext cx="2952750" cy="3657600"/>
          </a:xfrm>
          <a:prstGeom prst="rect">
            <a:avLst/>
          </a:prstGeom>
          <a:noFill/>
          <a:ln>
            <a:noFill/>
          </a:ln>
        </p:spPr>
      </p:pic>
      <p:pic>
        <p:nvPicPr>
          <p:cNvPr id="99" name="Google Shape;99;p14" descr="Standing Wave Free End Points.gif"/>
          <p:cNvPicPr preferRelativeResize="0"/>
          <p:nvPr/>
        </p:nvPicPr>
        <p:blipFill rotWithShape="1">
          <a:blip r:embed="rId3"/>
          <a:srcRect/>
          <a:stretch>
            <a:fillRect/>
          </a:stretch>
        </p:blipFill>
        <p:spPr>
          <a:xfrm>
            <a:off x="5063836" y="3255818"/>
            <a:ext cx="2667000" cy="3657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03" name="Shape 103"/>
        <p:cNvGrpSpPr/>
        <p:nvPr/>
      </p:nvGrpSpPr>
      <p:grpSpPr>
        <a:xfrm>
          <a:off x="0" y="0"/>
          <a:ext cx="0" cy="0"/>
          <a:chOff x="0" y="0"/>
          <a:chExt cx="0" cy="0"/>
        </a:xfrm>
      </p:grpSpPr>
      <p:sp>
        <p:nvSpPr>
          <p:cNvPr id="104" name="Google Shape;104;p15"/>
          <p:cNvSpPr txBox="1"/>
          <p:nvPr>
            <p:ph type="title"/>
          </p:nvPr>
        </p:nvSpPr>
        <p:spPr>
          <a:xfrm>
            <a:off x="685800" y="1562100"/>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b="1"/>
              <a:t>PHIẾU HỌC TẬP SỐ 1</a:t>
            </a:r>
            <a:br>
              <a:rPr lang="en-US"/>
            </a:br>
            <a:endParaRPr lang="en-US"/>
          </a:p>
        </p:txBody>
      </p:sp>
      <p:sp>
        <p:nvSpPr>
          <p:cNvPr id="105" name="Google Shape;105;p15"/>
          <p:cNvSpPr txBox="1"/>
          <p:nvPr>
            <p:ph type="body" idx="1"/>
          </p:nvPr>
        </p:nvSpPr>
        <p:spPr>
          <a:xfrm>
            <a:off x="457200" y="2133600"/>
            <a:ext cx="8229600" cy="3992563"/>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Char char="•"/>
            </a:pPr>
            <a:r>
              <a:rPr lang="en-US"/>
              <a:t>Đọc mục I và trả lời các câu hỏi sau:</a:t>
            </a:r>
            <a:endParaRPr lang="en-US"/>
          </a:p>
          <a:p>
            <a:pPr marL="342900" lvl="0" indent="-342900" algn="l" rtl="0">
              <a:spcBef>
                <a:spcPts val="590"/>
              </a:spcBef>
              <a:spcAft>
                <a:spcPts val="0"/>
              </a:spcAft>
              <a:buClr>
                <a:schemeClr val="dk1"/>
              </a:buClr>
              <a:buSzPct val="100000"/>
              <a:buChar char="•"/>
            </a:pPr>
            <a:r>
              <a:rPr lang="en-US"/>
              <a:t>Nêu tên các dụng cụ để tiến hành thí nghiệm?</a:t>
            </a:r>
            <a:endParaRPr lang="en-US"/>
          </a:p>
          <a:p>
            <a:pPr marL="342900" lvl="0" indent="-342900" algn="l" rtl="0">
              <a:spcBef>
                <a:spcPts val="590"/>
              </a:spcBef>
              <a:spcAft>
                <a:spcPts val="0"/>
              </a:spcAft>
              <a:buClr>
                <a:schemeClr val="dk1"/>
              </a:buClr>
              <a:buSzPct val="100000"/>
              <a:buChar char="•"/>
            </a:pPr>
            <a:r>
              <a:rPr lang="en-US"/>
              <a:t>Các bước để tiến hành thí nghiệm?</a:t>
            </a:r>
            <a:endParaRPr lang="en-US"/>
          </a:p>
          <a:p>
            <a:pPr marL="342900" lvl="0" indent="-342900" algn="l" rtl="0">
              <a:spcBef>
                <a:spcPts val="590"/>
              </a:spcBef>
              <a:spcAft>
                <a:spcPts val="0"/>
              </a:spcAft>
              <a:buClr>
                <a:schemeClr val="dk1"/>
              </a:buClr>
              <a:buSzPct val="100000"/>
              <a:buChar char="•"/>
            </a:pPr>
            <a:r>
              <a:rPr lang="en-US"/>
              <a:t>Từ kết quả thí nghiệm, rút ra được những kết luận gì?</a:t>
            </a:r>
            <a:endParaRPr lang="en-US"/>
          </a:p>
          <a:p>
            <a:pPr marL="342900" lvl="0" indent="-342900" algn="l" rtl="0">
              <a:spcBef>
                <a:spcPts val="590"/>
              </a:spcBef>
              <a:spcAft>
                <a:spcPts val="0"/>
              </a:spcAft>
              <a:buClr>
                <a:schemeClr val="dk1"/>
              </a:buClr>
              <a:buSzPct val="100000"/>
              <a:buChar char="•"/>
            </a:pPr>
            <a:r>
              <a:rPr lang="en-US"/>
              <a:t>Quan sát sợi dây khi xảy ra hiện tượng, các điểm trên dây dao động như thế nào, có những điểm nào đặc biệt? Các tần số ghi lại có liên hệ như thế nào?</a:t>
            </a:r>
            <a:endParaRPr lang="en-US"/>
          </a:p>
        </p:txBody>
      </p:sp>
      <p:sp>
        <p:nvSpPr>
          <p:cNvPr id="106" name="Google Shape;106;p15"/>
          <p:cNvSpPr/>
          <p:nvPr/>
        </p:nvSpPr>
        <p:spPr>
          <a:xfrm>
            <a:off x="859705" y="152400"/>
            <a:ext cx="7546978" cy="1033272"/>
          </a:xfrm>
          <a:prstGeom prst="horizontalScroll">
            <a:avLst>
              <a:gd name="adj" fmla="val 12500"/>
            </a:avLst>
          </a:prstGeom>
          <a:solidFill>
            <a:srgbClr val="DAE5F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1" i="0" u="none" strike="noStrike" cap="none">
                <a:solidFill>
                  <a:srgbClr val="FC7876"/>
                </a:solidFill>
                <a:latin typeface="Times New Roman" panose="02020603050405020304"/>
                <a:ea typeface="Times New Roman" panose="02020603050405020304"/>
                <a:cs typeface="Times New Roman" panose="02020603050405020304"/>
                <a:sym typeface="Times New Roman" panose="02020603050405020304"/>
              </a:rPr>
              <a:t>BÀI SÓNG DỪNG</a:t>
            </a:r>
            <a:endParaRPr sz="3600" b="1" i="0" u="none" strike="noStrike" cap="none">
              <a:solidFill>
                <a:srgbClr val="FC7876"/>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10" name="Shape 110"/>
        <p:cNvGrpSpPr/>
        <p:nvPr/>
      </p:nvGrpSpPr>
      <p:grpSpPr>
        <a:xfrm>
          <a:off x="0" y="0"/>
          <a:ext cx="0" cy="0"/>
          <a:chOff x="0" y="0"/>
          <a:chExt cx="0" cy="0"/>
        </a:xfrm>
      </p:grpSpPr>
      <p:sp>
        <p:nvSpPr>
          <p:cNvPr id="111" name="Google Shape;111;p16"/>
          <p:cNvSpPr txBox="1"/>
          <p:nvPr>
            <p:ph type="title"/>
          </p:nvPr>
        </p:nvSpPr>
        <p:spPr>
          <a:xfrm>
            <a:off x="609600" y="1981200"/>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b="1"/>
              <a:t>I. THÍ NGHIỆM TẠO SÓNG DỪNG</a:t>
            </a:r>
            <a:br>
              <a:rPr lang="en-US"/>
            </a:br>
            <a:endParaRPr lang="en-US"/>
          </a:p>
        </p:txBody>
      </p:sp>
      <p:sp>
        <p:nvSpPr>
          <p:cNvPr id="112" name="Google Shape;112;p16"/>
          <p:cNvSpPr txBox="1"/>
          <p:nvPr>
            <p:ph type="body" idx="1"/>
          </p:nvPr>
        </p:nvSpPr>
        <p:spPr>
          <a:xfrm>
            <a:off x="624840" y="2522220"/>
            <a:ext cx="4114800" cy="38100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https://www.youtube.com/watch?v=gbMCwntYCr4&amp;t=35s</a:t>
            </a:r>
            <a:endParaRPr lang="en-US"/>
          </a:p>
        </p:txBody>
      </p:sp>
      <p:sp>
        <p:nvSpPr>
          <p:cNvPr id="113" name="Google Shape;113;p16"/>
          <p:cNvSpPr txBox="1"/>
          <p:nvPr/>
        </p:nvSpPr>
        <p:spPr>
          <a:xfrm>
            <a:off x="4876800" y="2491741"/>
            <a:ext cx="4114800" cy="3070860"/>
          </a:xfrm>
          <a:prstGeom prst="rect">
            <a:avLst/>
          </a:prstGeom>
          <a:noFill/>
          <a:ln>
            <a:noFill/>
          </a:ln>
        </p:spPr>
        <p:txBody>
          <a:bodyPr spcFirstLastPara="1" wrap="square" lIns="91425" tIns="45700" rIns="91425" bIns="45700" anchor="t" anchorCtr="0">
            <a:normAutofit/>
          </a:bodyPr>
          <a:lstStyle/>
          <a:p>
            <a:pPr marL="342900" marR="0" lvl="0" indent="-342900" algn="l" rtl="0">
              <a:spcBef>
                <a:spcPts val="0"/>
              </a:spcBef>
              <a:spcAft>
                <a:spcPts val="0"/>
              </a:spcAft>
              <a:buClr>
                <a:schemeClr val="dk1"/>
              </a:buClr>
              <a:buSzPts val="3200"/>
              <a:buFont typeface="Arial" panose="020B0704020202020204"/>
              <a:buChar char="•"/>
            </a:pPr>
            <a:r>
              <a:rPr lang="en-US" sz="3200" b="1" i="0" u="none" strike="noStrike" cap="none">
                <a:solidFill>
                  <a:schemeClr val="dk1"/>
                </a:solidFill>
                <a:latin typeface="Calibri"/>
                <a:ea typeface="Calibri"/>
                <a:cs typeface="Calibri"/>
                <a:sym typeface="Calibri"/>
              </a:rPr>
              <a:t>1. Dụng cụ:</a:t>
            </a:r>
            <a:endParaRPr sz="3200" b="0" i="0" u="none" strike="noStrike" cap="none">
              <a:solidFill>
                <a:schemeClr val="dk1"/>
              </a:solidFill>
              <a:latin typeface="Calibri"/>
              <a:ea typeface="Calibri"/>
              <a:cs typeface="Calibri"/>
              <a:sym typeface="Calibri"/>
            </a:endParaRPr>
          </a:p>
          <a:p>
            <a:pPr marL="342900" marR="0" lvl="0" indent="-342900" algn="l" rtl="0">
              <a:spcBef>
                <a:spcPts val="640"/>
              </a:spcBef>
              <a:spcAft>
                <a:spcPts val="0"/>
              </a:spcAft>
              <a:buClr>
                <a:schemeClr val="dk1"/>
              </a:buClr>
              <a:buSzPts val="3200"/>
              <a:buFont typeface="Arial" panose="020B0704020202020204"/>
              <a:buChar char="•"/>
            </a:pPr>
            <a:r>
              <a:rPr lang="en-US" sz="3200" b="1" i="0" u="none" strike="noStrike" cap="none">
                <a:solidFill>
                  <a:schemeClr val="dk1"/>
                </a:solidFill>
                <a:latin typeface="Calibri"/>
                <a:ea typeface="Calibri"/>
                <a:cs typeface="Calibri"/>
                <a:sym typeface="Calibri"/>
              </a:rPr>
              <a:t>-</a:t>
            </a:r>
            <a:r>
              <a:rPr lang="en-US" sz="3200" b="0" i="0" u="none" strike="noStrike" cap="none">
                <a:solidFill>
                  <a:schemeClr val="dk1"/>
                </a:solidFill>
                <a:latin typeface="Calibri"/>
                <a:ea typeface="Calibri"/>
                <a:cs typeface="Calibri"/>
                <a:sym typeface="Calibri"/>
              </a:rPr>
              <a:t> Giá thí nghiệm.</a:t>
            </a:r>
            <a:endParaRPr lang="en-US" sz="3200" b="0" i="0" u="none" strike="noStrike" cap="none">
              <a:solidFill>
                <a:schemeClr val="dk1"/>
              </a:solidFill>
              <a:latin typeface="Calibri"/>
              <a:ea typeface="Calibri"/>
              <a:cs typeface="Calibri"/>
              <a:sym typeface="Calibri"/>
            </a:endParaRPr>
          </a:p>
          <a:p>
            <a:pPr marL="342900" marR="0" lvl="0" indent="-342900" algn="l" rtl="0">
              <a:spcBef>
                <a:spcPts val="640"/>
              </a:spcBef>
              <a:spcAft>
                <a:spcPts val="0"/>
              </a:spcAft>
              <a:buClr>
                <a:schemeClr val="dk1"/>
              </a:buClr>
              <a:buSzPts val="3200"/>
              <a:buFont typeface="Arial" panose="020B0704020202020204"/>
              <a:buChar char="•"/>
            </a:pPr>
            <a:r>
              <a:rPr lang="en-US" sz="3200" b="0" i="0" u="none" strike="noStrike" cap="none">
                <a:solidFill>
                  <a:schemeClr val="dk1"/>
                </a:solidFill>
                <a:latin typeface="Calibri"/>
                <a:ea typeface="Calibri"/>
                <a:cs typeface="Calibri"/>
                <a:sym typeface="Calibri"/>
              </a:rPr>
              <a:t>- Dây đàn hồi PQ.</a:t>
            </a:r>
            <a:endParaRPr lang="en-US" sz="3200" b="0" i="0" u="none" strike="noStrike" cap="none">
              <a:solidFill>
                <a:schemeClr val="dk1"/>
              </a:solidFill>
              <a:latin typeface="Calibri"/>
              <a:ea typeface="Calibri"/>
              <a:cs typeface="Calibri"/>
              <a:sym typeface="Calibri"/>
            </a:endParaRPr>
          </a:p>
          <a:p>
            <a:pPr marL="342900" marR="0" lvl="0" indent="-342900" algn="l" rtl="0">
              <a:spcBef>
                <a:spcPts val="640"/>
              </a:spcBef>
              <a:spcAft>
                <a:spcPts val="0"/>
              </a:spcAft>
              <a:buClr>
                <a:schemeClr val="dk1"/>
              </a:buClr>
              <a:buSzPts val="3200"/>
              <a:buFont typeface="Arial" panose="020B0704020202020204"/>
              <a:buChar char="•"/>
            </a:pPr>
            <a:r>
              <a:rPr lang="en-US" sz="3200" b="0" i="0" u="none" strike="noStrike" cap="none">
                <a:solidFill>
                  <a:schemeClr val="dk1"/>
                </a:solidFill>
                <a:latin typeface="Calibri"/>
                <a:ea typeface="Calibri"/>
                <a:cs typeface="Calibri"/>
                <a:sym typeface="Calibri"/>
              </a:rPr>
              <a:t>- Bộ rung.</a:t>
            </a:r>
            <a:endParaRPr lang="en-US" sz="3200" b="0" i="0" u="none" strike="noStrike" cap="none">
              <a:solidFill>
                <a:schemeClr val="dk1"/>
              </a:solidFill>
              <a:latin typeface="Calibri"/>
              <a:ea typeface="Calibri"/>
              <a:cs typeface="Calibri"/>
              <a:sym typeface="Calibri"/>
            </a:endParaRPr>
          </a:p>
          <a:p>
            <a:pPr marL="342900" marR="0" lvl="0" indent="-342900" algn="l" rtl="0">
              <a:spcBef>
                <a:spcPts val="640"/>
              </a:spcBef>
              <a:spcAft>
                <a:spcPts val="0"/>
              </a:spcAft>
              <a:buClr>
                <a:schemeClr val="dk1"/>
              </a:buClr>
              <a:buSzPts val="3200"/>
              <a:buFont typeface="Arial" panose="020B0704020202020204"/>
              <a:buChar char="•"/>
            </a:pPr>
            <a:r>
              <a:rPr lang="en-US" sz="3200" b="0" i="0" u="none" strike="noStrike" cap="none">
                <a:solidFill>
                  <a:schemeClr val="dk1"/>
                </a:solidFill>
                <a:latin typeface="Calibri"/>
                <a:ea typeface="Calibri"/>
                <a:cs typeface="Calibri"/>
                <a:sym typeface="Calibri"/>
              </a:rPr>
              <a:t>- Máy phát âm tần.</a:t>
            </a:r>
            <a:endParaRPr lang="en-US" sz="3200" b="0" i="0" u="none" strike="noStrike" cap="none">
              <a:solidFill>
                <a:schemeClr val="dk1"/>
              </a:solidFill>
              <a:latin typeface="Calibri"/>
              <a:ea typeface="Calibri"/>
              <a:cs typeface="Calibri"/>
              <a:sym typeface="Calibri"/>
            </a:endParaRPr>
          </a:p>
        </p:txBody>
      </p:sp>
      <p:sp>
        <p:nvSpPr>
          <p:cNvPr id="114" name="Google Shape;114;p16"/>
          <p:cNvSpPr/>
          <p:nvPr/>
        </p:nvSpPr>
        <p:spPr>
          <a:xfrm>
            <a:off x="859705" y="152400"/>
            <a:ext cx="7546978" cy="1033272"/>
          </a:xfrm>
          <a:prstGeom prst="horizontalScroll">
            <a:avLst>
              <a:gd name="adj" fmla="val 12500"/>
            </a:avLst>
          </a:prstGeom>
          <a:solidFill>
            <a:srgbClr val="DAE5F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1" i="0" u="none" strike="noStrike" cap="none">
                <a:solidFill>
                  <a:srgbClr val="FC7876"/>
                </a:solidFill>
                <a:latin typeface="Times New Roman" panose="02020603050405020304"/>
                <a:ea typeface="Times New Roman" panose="02020603050405020304"/>
                <a:cs typeface="Times New Roman" panose="02020603050405020304"/>
                <a:sym typeface="Times New Roman" panose="02020603050405020304"/>
              </a:rPr>
              <a:t>BÀI SÓNG DỪNG</a:t>
            </a:r>
            <a:endParaRPr sz="3600" b="1" i="0" u="none" strike="noStrike" cap="none">
              <a:solidFill>
                <a:srgbClr val="FC7876"/>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18" name="Shape 118"/>
        <p:cNvGrpSpPr/>
        <p:nvPr/>
      </p:nvGrpSpPr>
      <p:grpSpPr>
        <a:xfrm>
          <a:off x="0" y="0"/>
          <a:ext cx="0" cy="0"/>
          <a:chOff x="0" y="0"/>
          <a:chExt cx="0" cy="0"/>
        </a:xfrm>
      </p:grpSpPr>
      <p:sp>
        <p:nvSpPr>
          <p:cNvPr id="119" name="Google Shape;119;p17"/>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a:t>Nhận xét:</a:t>
            </a:r>
            <a:endParaRPr lang="en-US"/>
          </a:p>
          <a:p>
            <a:pPr marL="0" lvl="0" indent="0" algn="l" rtl="0">
              <a:spcBef>
                <a:spcPts val="640"/>
              </a:spcBef>
              <a:spcAft>
                <a:spcPts val="0"/>
              </a:spcAft>
              <a:buClr>
                <a:schemeClr val="dk1"/>
              </a:buClr>
              <a:buSzPts val="3200"/>
              <a:buNone/>
            </a:pPr>
            <a:r>
              <a:rPr lang="en-US"/>
              <a:t>- Có những điểm dao động với biên độ lớn, có những điểm đứng yên. Các điểm này cách đều nhau.</a:t>
            </a:r>
            <a:endParaRPr lang="en-US"/>
          </a:p>
          <a:p>
            <a:pPr marL="0" lvl="0" indent="0" algn="l" rtl="0">
              <a:spcBef>
                <a:spcPts val="640"/>
              </a:spcBef>
              <a:spcAft>
                <a:spcPts val="0"/>
              </a:spcAft>
              <a:buClr>
                <a:schemeClr val="dk1"/>
              </a:buClr>
              <a:buSzPts val="3200"/>
              <a:buNone/>
            </a:pPr>
            <a:r>
              <a:rPr lang="en-US"/>
              <a:t>- Trên Sợi dây hình thành các bó, khi thay đổi tần số thì số bó thay đổi, các tần số này cách đều nhau một khoảng nhất định.</a:t>
            </a:r>
            <a:endParaRPr lang="en-US"/>
          </a:p>
          <a:p>
            <a:pPr marL="342900" lvl="0" indent="-139700" algn="l" rtl="0">
              <a:spcBef>
                <a:spcPts val="640"/>
              </a:spcBef>
              <a:spcAft>
                <a:spcPts val="0"/>
              </a:spcAft>
              <a:buClr>
                <a:schemeClr val="dk1"/>
              </a:buClr>
              <a:buSzPts val="3200"/>
              <a:buNone/>
            </a:pPr>
          </a:p>
        </p:txBody>
      </p:sp>
      <p:sp>
        <p:nvSpPr>
          <p:cNvPr id="120" name="Google Shape;120;p17"/>
          <p:cNvSpPr/>
          <p:nvPr>
            <p:ph type="title"/>
          </p:nvPr>
        </p:nvSpPr>
        <p:spPr>
          <a:xfrm>
            <a:off x="457200" y="274638"/>
            <a:ext cx="8229600" cy="1143000"/>
          </a:xfrm>
          <a:prstGeom prst="horizontalScroll">
            <a:avLst>
              <a:gd name="adj" fmla="val 12500"/>
            </a:avLst>
          </a:prstGeom>
          <a:solidFill>
            <a:srgbClr val="DAE5F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FC7876"/>
              </a:buClr>
              <a:buSzPts val="3600"/>
              <a:buFont typeface="Times New Roman" panose="02020603050405020304"/>
              <a:buNone/>
            </a:pPr>
            <a:r>
              <a:rPr lang="en-US" sz="3600" b="1" cap="none">
                <a:solidFill>
                  <a:srgbClr val="FC7876"/>
                </a:solidFill>
                <a:latin typeface="Times New Roman" panose="02020603050405020304"/>
                <a:ea typeface="Times New Roman" panose="02020603050405020304"/>
                <a:cs typeface="Times New Roman" panose="02020603050405020304"/>
                <a:sym typeface="Times New Roman" panose="02020603050405020304"/>
              </a:rPr>
              <a:t>BÀI SÓNG DỪNG</a:t>
            </a:r>
            <a:endParaRPr sz="3600" b="1" cap="none">
              <a:solidFill>
                <a:srgbClr val="FC7876"/>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25" name="Shape 125"/>
        <p:cNvGrpSpPr/>
        <p:nvPr/>
      </p:nvGrpSpPr>
      <p:grpSpPr>
        <a:xfrm>
          <a:off x="0" y="0"/>
          <a:ext cx="0" cy="0"/>
          <a:chOff x="0" y="0"/>
          <a:chExt cx="0" cy="0"/>
        </a:xfrm>
      </p:grpSpPr>
      <p:grpSp>
        <p:nvGrpSpPr>
          <p:cNvPr id="126" name="Google Shape;126;p18"/>
          <p:cNvGrpSpPr/>
          <p:nvPr/>
        </p:nvGrpSpPr>
        <p:grpSpPr>
          <a:xfrm>
            <a:off x="938213" y="1746250"/>
            <a:ext cx="7737475" cy="1300163"/>
            <a:chOff x="591" y="1618"/>
            <a:chExt cx="4850" cy="819"/>
          </a:xfrm>
        </p:grpSpPr>
        <p:grpSp>
          <p:nvGrpSpPr>
            <p:cNvPr id="127" name="Google Shape;127;p18"/>
            <p:cNvGrpSpPr/>
            <p:nvPr/>
          </p:nvGrpSpPr>
          <p:grpSpPr>
            <a:xfrm>
              <a:off x="591" y="1618"/>
              <a:ext cx="4766" cy="819"/>
              <a:chOff x="1296" y="672"/>
              <a:chExt cx="3855" cy="630"/>
            </a:xfrm>
          </p:grpSpPr>
          <p:grpSp>
            <p:nvGrpSpPr>
              <p:cNvPr id="128" name="Google Shape;128;p18"/>
              <p:cNvGrpSpPr/>
              <p:nvPr/>
            </p:nvGrpSpPr>
            <p:grpSpPr>
              <a:xfrm>
                <a:off x="1296" y="672"/>
                <a:ext cx="960" cy="630"/>
                <a:chOff x="1341" y="492"/>
                <a:chExt cx="1728" cy="1134"/>
              </a:xfrm>
            </p:grpSpPr>
            <p:cxnSp>
              <p:nvCxnSpPr>
                <p:cNvPr id="129" name="Google Shape;129;p18"/>
                <p:cNvCxnSpPr/>
                <p:nvPr/>
              </p:nvCxnSpPr>
              <p:spPr>
                <a:xfrm>
                  <a:off x="1342" y="1056"/>
                  <a:ext cx="1727" cy="0"/>
                </a:xfrm>
                <a:prstGeom prst="straightConnector1">
                  <a:avLst/>
                </a:prstGeom>
                <a:noFill/>
                <a:ln w="19050" cap="flat" cmpd="sng">
                  <a:solidFill>
                    <a:srgbClr val="FF3300"/>
                  </a:solidFill>
                  <a:prstDash val="solid"/>
                  <a:round/>
                  <a:headEnd type="none" w="med" len="med"/>
                  <a:tailEnd type="none" w="med" len="med"/>
                </a:ln>
              </p:spPr>
            </p:cxnSp>
            <p:grpSp>
              <p:nvGrpSpPr>
                <p:cNvPr id="130" name="Google Shape;130;p18"/>
                <p:cNvGrpSpPr/>
                <p:nvPr/>
              </p:nvGrpSpPr>
              <p:grpSpPr>
                <a:xfrm>
                  <a:off x="1341" y="492"/>
                  <a:ext cx="1728" cy="564"/>
                  <a:chOff x="1344" y="492"/>
                  <a:chExt cx="1728" cy="564"/>
                </a:xfrm>
              </p:grpSpPr>
              <p:sp>
                <p:nvSpPr>
                  <p:cNvPr id="131" name="Google Shape;131;p18"/>
                  <p:cNvSpPr/>
                  <p:nvPr/>
                </p:nvSpPr>
                <p:spPr>
                  <a:xfrm>
                    <a:off x="1344" y="960"/>
                    <a:ext cx="1728" cy="96"/>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2" name="Google Shape;132;p18"/>
                  <p:cNvSpPr/>
                  <p:nvPr/>
                </p:nvSpPr>
                <p:spPr>
                  <a:xfrm>
                    <a:off x="1344" y="858"/>
                    <a:ext cx="1728" cy="19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3" name="Google Shape;133;p18"/>
                  <p:cNvSpPr/>
                  <p:nvPr/>
                </p:nvSpPr>
                <p:spPr>
                  <a:xfrm>
                    <a:off x="1344" y="738"/>
                    <a:ext cx="1728" cy="31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4" name="Google Shape;134;p18"/>
                  <p:cNvSpPr/>
                  <p:nvPr/>
                </p:nvSpPr>
                <p:spPr>
                  <a:xfrm>
                    <a:off x="1344" y="618"/>
                    <a:ext cx="1728" cy="43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5" name="Google Shape;135;p18"/>
                  <p:cNvSpPr/>
                  <p:nvPr/>
                </p:nvSpPr>
                <p:spPr>
                  <a:xfrm>
                    <a:off x="1344" y="492"/>
                    <a:ext cx="1728" cy="564"/>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36" name="Google Shape;136;p18"/>
                <p:cNvGrpSpPr/>
                <p:nvPr/>
              </p:nvGrpSpPr>
              <p:grpSpPr>
                <a:xfrm rot="10800000" flipH="1">
                  <a:off x="1341" y="1062"/>
                  <a:ext cx="1728" cy="564"/>
                  <a:chOff x="1344" y="492"/>
                  <a:chExt cx="1728" cy="564"/>
                </a:xfrm>
              </p:grpSpPr>
              <p:sp>
                <p:nvSpPr>
                  <p:cNvPr id="137" name="Google Shape;137;p18"/>
                  <p:cNvSpPr/>
                  <p:nvPr/>
                </p:nvSpPr>
                <p:spPr>
                  <a:xfrm>
                    <a:off x="1344" y="960"/>
                    <a:ext cx="1728" cy="96"/>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8" name="Google Shape;138;p18"/>
                  <p:cNvSpPr/>
                  <p:nvPr/>
                </p:nvSpPr>
                <p:spPr>
                  <a:xfrm>
                    <a:off x="1344" y="858"/>
                    <a:ext cx="1728" cy="19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9" name="Google Shape;139;p18"/>
                  <p:cNvSpPr/>
                  <p:nvPr/>
                </p:nvSpPr>
                <p:spPr>
                  <a:xfrm>
                    <a:off x="1344" y="738"/>
                    <a:ext cx="1728" cy="31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0" name="Google Shape;140;p18"/>
                  <p:cNvSpPr/>
                  <p:nvPr/>
                </p:nvSpPr>
                <p:spPr>
                  <a:xfrm>
                    <a:off x="1344" y="618"/>
                    <a:ext cx="1728" cy="43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1" name="Google Shape;141;p18"/>
                  <p:cNvSpPr/>
                  <p:nvPr/>
                </p:nvSpPr>
                <p:spPr>
                  <a:xfrm>
                    <a:off x="1344" y="492"/>
                    <a:ext cx="1728" cy="564"/>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grpSp>
            <p:nvGrpSpPr>
              <p:cNvPr id="142" name="Google Shape;142;p18"/>
              <p:cNvGrpSpPr/>
              <p:nvPr/>
            </p:nvGrpSpPr>
            <p:grpSpPr>
              <a:xfrm>
                <a:off x="2259" y="672"/>
                <a:ext cx="960" cy="630"/>
                <a:chOff x="1341" y="492"/>
                <a:chExt cx="1728" cy="1134"/>
              </a:xfrm>
            </p:grpSpPr>
            <p:cxnSp>
              <p:nvCxnSpPr>
                <p:cNvPr id="143" name="Google Shape;143;p18"/>
                <p:cNvCxnSpPr/>
                <p:nvPr/>
              </p:nvCxnSpPr>
              <p:spPr>
                <a:xfrm>
                  <a:off x="1342" y="1056"/>
                  <a:ext cx="1727" cy="0"/>
                </a:xfrm>
                <a:prstGeom prst="straightConnector1">
                  <a:avLst/>
                </a:prstGeom>
                <a:noFill/>
                <a:ln w="19050" cap="flat" cmpd="sng">
                  <a:solidFill>
                    <a:srgbClr val="FF3300"/>
                  </a:solidFill>
                  <a:prstDash val="solid"/>
                  <a:round/>
                  <a:headEnd type="none" w="med" len="med"/>
                  <a:tailEnd type="none" w="med" len="med"/>
                </a:ln>
              </p:spPr>
            </p:cxnSp>
            <p:grpSp>
              <p:nvGrpSpPr>
                <p:cNvPr id="144" name="Google Shape;144;p18"/>
                <p:cNvGrpSpPr/>
                <p:nvPr/>
              </p:nvGrpSpPr>
              <p:grpSpPr>
                <a:xfrm>
                  <a:off x="1341" y="492"/>
                  <a:ext cx="1728" cy="564"/>
                  <a:chOff x="1344" y="492"/>
                  <a:chExt cx="1728" cy="564"/>
                </a:xfrm>
              </p:grpSpPr>
              <p:sp>
                <p:nvSpPr>
                  <p:cNvPr id="145" name="Google Shape;145;p18"/>
                  <p:cNvSpPr/>
                  <p:nvPr/>
                </p:nvSpPr>
                <p:spPr>
                  <a:xfrm>
                    <a:off x="1344" y="960"/>
                    <a:ext cx="1728" cy="96"/>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6" name="Google Shape;146;p18"/>
                  <p:cNvSpPr/>
                  <p:nvPr/>
                </p:nvSpPr>
                <p:spPr>
                  <a:xfrm>
                    <a:off x="1344" y="858"/>
                    <a:ext cx="1728" cy="19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7" name="Google Shape;147;p18"/>
                  <p:cNvSpPr/>
                  <p:nvPr/>
                </p:nvSpPr>
                <p:spPr>
                  <a:xfrm>
                    <a:off x="1344" y="738"/>
                    <a:ext cx="1728" cy="31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8" name="Google Shape;148;p18"/>
                  <p:cNvSpPr/>
                  <p:nvPr/>
                </p:nvSpPr>
                <p:spPr>
                  <a:xfrm>
                    <a:off x="1344" y="618"/>
                    <a:ext cx="1728" cy="43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9" name="Google Shape;149;p18"/>
                  <p:cNvSpPr/>
                  <p:nvPr/>
                </p:nvSpPr>
                <p:spPr>
                  <a:xfrm>
                    <a:off x="1344" y="492"/>
                    <a:ext cx="1728" cy="564"/>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50" name="Google Shape;150;p18"/>
                <p:cNvGrpSpPr/>
                <p:nvPr/>
              </p:nvGrpSpPr>
              <p:grpSpPr>
                <a:xfrm rot="10800000" flipH="1">
                  <a:off x="1341" y="1062"/>
                  <a:ext cx="1728" cy="564"/>
                  <a:chOff x="1344" y="492"/>
                  <a:chExt cx="1728" cy="564"/>
                </a:xfrm>
              </p:grpSpPr>
              <p:sp>
                <p:nvSpPr>
                  <p:cNvPr id="151" name="Google Shape;151;p18"/>
                  <p:cNvSpPr/>
                  <p:nvPr/>
                </p:nvSpPr>
                <p:spPr>
                  <a:xfrm>
                    <a:off x="1344" y="960"/>
                    <a:ext cx="1728" cy="96"/>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2" name="Google Shape;152;p18"/>
                  <p:cNvSpPr/>
                  <p:nvPr/>
                </p:nvSpPr>
                <p:spPr>
                  <a:xfrm>
                    <a:off x="1344" y="858"/>
                    <a:ext cx="1728" cy="19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3" name="Google Shape;153;p18"/>
                  <p:cNvSpPr/>
                  <p:nvPr/>
                </p:nvSpPr>
                <p:spPr>
                  <a:xfrm>
                    <a:off x="1344" y="738"/>
                    <a:ext cx="1728" cy="31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4" name="Google Shape;154;p18"/>
                  <p:cNvSpPr/>
                  <p:nvPr/>
                </p:nvSpPr>
                <p:spPr>
                  <a:xfrm>
                    <a:off x="1344" y="618"/>
                    <a:ext cx="1728" cy="43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5" name="Google Shape;155;p18"/>
                  <p:cNvSpPr/>
                  <p:nvPr/>
                </p:nvSpPr>
                <p:spPr>
                  <a:xfrm>
                    <a:off x="1344" y="492"/>
                    <a:ext cx="1728" cy="564"/>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grpSp>
            <p:nvGrpSpPr>
              <p:cNvPr id="156" name="Google Shape;156;p18"/>
              <p:cNvGrpSpPr/>
              <p:nvPr/>
            </p:nvGrpSpPr>
            <p:grpSpPr>
              <a:xfrm>
                <a:off x="3228" y="672"/>
                <a:ext cx="960" cy="630"/>
                <a:chOff x="1341" y="492"/>
                <a:chExt cx="1728" cy="1134"/>
              </a:xfrm>
            </p:grpSpPr>
            <p:cxnSp>
              <p:nvCxnSpPr>
                <p:cNvPr id="157" name="Google Shape;157;p18"/>
                <p:cNvCxnSpPr/>
                <p:nvPr/>
              </p:nvCxnSpPr>
              <p:spPr>
                <a:xfrm>
                  <a:off x="1342" y="1056"/>
                  <a:ext cx="1727" cy="0"/>
                </a:xfrm>
                <a:prstGeom prst="straightConnector1">
                  <a:avLst/>
                </a:prstGeom>
                <a:noFill/>
                <a:ln w="19050" cap="flat" cmpd="sng">
                  <a:solidFill>
                    <a:srgbClr val="FF3300"/>
                  </a:solidFill>
                  <a:prstDash val="solid"/>
                  <a:round/>
                  <a:headEnd type="none" w="med" len="med"/>
                  <a:tailEnd type="none" w="med" len="med"/>
                </a:ln>
              </p:spPr>
            </p:cxnSp>
            <p:grpSp>
              <p:nvGrpSpPr>
                <p:cNvPr id="158" name="Google Shape;158;p18"/>
                <p:cNvGrpSpPr/>
                <p:nvPr/>
              </p:nvGrpSpPr>
              <p:grpSpPr>
                <a:xfrm>
                  <a:off x="1341" y="492"/>
                  <a:ext cx="1728" cy="564"/>
                  <a:chOff x="1344" y="492"/>
                  <a:chExt cx="1728" cy="564"/>
                </a:xfrm>
              </p:grpSpPr>
              <p:sp>
                <p:nvSpPr>
                  <p:cNvPr id="159" name="Google Shape;159;p18"/>
                  <p:cNvSpPr/>
                  <p:nvPr/>
                </p:nvSpPr>
                <p:spPr>
                  <a:xfrm>
                    <a:off x="1344" y="960"/>
                    <a:ext cx="1728" cy="96"/>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0" name="Google Shape;160;p18"/>
                  <p:cNvSpPr/>
                  <p:nvPr/>
                </p:nvSpPr>
                <p:spPr>
                  <a:xfrm>
                    <a:off x="1344" y="858"/>
                    <a:ext cx="1728" cy="19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1" name="Google Shape;161;p18"/>
                  <p:cNvSpPr/>
                  <p:nvPr/>
                </p:nvSpPr>
                <p:spPr>
                  <a:xfrm>
                    <a:off x="1344" y="738"/>
                    <a:ext cx="1728" cy="31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2" name="Google Shape;162;p18"/>
                  <p:cNvSpPr/>
                  <p:nvPr/>
                </p:nvSpPr>
                <p:spPr>
                  <a:xfrm>
                    <a:off x="1344" y="618"/>
                    <a:ext cx="1728" cy="43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3" name="Google Shape;163;p18"/>
                  <p:cNvSpPr/>
                  <p:nvPr/>
                </p:nvSpPr>
                <p:spPr>
                  <a:xfrm>
                    <a:off x="1344" y="492"/>
                    <a:ext cx="1728" cy="564"/>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64" name="Google Shape;164;p18"/>
                <p:cNvGrpSpPr/>
                <p:nvPr/>
              </p:nvGrpSpPr>
              <p:grpSpPr>
                <a:xfrm rot="10800000" flipH="1">
                  <a:off x="1341" y="1062"/>
                  <a:ext cx="1728" cy="564"/>
                  <a:chOff x="1344" y="492"/>
                  <a:chExt cx="1728" cy="564"/>
                </a:xfrm>
              </p:grpSpPr>
              <p:sp>
                <p:nvSpPr>
                  <p:cNvPr id="165" name="Google Shape;165;p18"/>
                  <p:cNvSpPr/>
                  <p:nvPr/>
                </p:nvSpPr>
                <p:spPr>
                  <a:xfrm>
                    <a:off x="1344" y="960"/>
                    <a:ext cx="1728" cy="96"/>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6" name="Google Shape;166;p18"/>
                  <p:cNvSpPr/>
                  <p:nvPr/>
                </p:nvSpPr>
                <p:spPr>
                  <a:xfrm>
                    <a:off x="1344" y="858"/>
                    <a:ext cx="1728" cy="19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7" name="Google Shape;167;p18"/>
                  <p:cNvSpPr/>
                  <p:nvPr/>
                </p:nvSpPr>
                <p:spPr>
                  <a:xfrm>
                    <a:off x="1344" y="738"/>
                    <a:ext cx="1728" cy="31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8" name="Google Shape;168;p18"/>
                  <p:cNvSpPr/>
                  <p:nvPr/>
                </p:nvSpPr>
                <p:spPr>
                  <a:xfrm>
                    <a:off x="1344" y="618"/>
                    <a:ext cx="1728" cy="43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9" name="Google Shape;169;p18"/>
                  <p:cNvSpPr/>
                  <p:nvPr/>
                </p:nvSpPr>
                <p:spPr>
                  <a:xfrm>
                    <a:off x="1344" y="492"/>
                    <a:ext cx="1728" cy="564"/>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grpSp>
            <p:nvGrpSpPr>
              <p:cNvPr id="170" name="Google Shape;170;p18"/>
              <p:cNvGrpSpPr/>
              <p:nvPr/>
            </p:nvGrpSpPr>
            <p:grpSpPr>
              <a:xfrm>
                <a:off x="4191" y="672"/>
                <a:ext cx="960" cy="630"/>
                <a:chOff x="1341" y="492"/>
                <a:chExt cx="1728" cy="1134"/>
              </a:xfrm>
            </p:grpSpPr>
            <p:cxnSp>
              <p:nvCxnSpPr>
                <p:cNvPr id="171" name="Google Shape;171;p18"/>
                <p:cNvCxnSpPr/>
                <p:nvPr/>
              </p:nvCxnSpPr>
              <p:spPr>
                <a:xfrm>
                  <a:off x="1342" y="1056"/>
                  <a:ext cx="1727" cy="0"/>
                </a:xfrm>
                <a:prstGeom prst="straightConnector1">
                  <a:avLst/>
                </a:prstGeom>
                <a:noFill/>
                <a:ln w="19050" cap="flat" cmpd="sng">
                  <a:solidFill>
                    <a:srgbClr val="FF3300"/>
                  </a:solidFill>
                  <a:prstDash val="solid"/>
                  <a:round/>
                  <a:headEnd type="none" w="med" len="med"/>
                  <a:tailEnd type="none" w="med" len="med"/>
                </a:ln>
              </p:spPr>
            </p:cxnSp>
            <p:grpSp>
              <p:nvGrpSpPr>
                <p:cNvPr id="172" name="Google Shape;172;p18"/>
                <p:cNvGrpSpPr/>
                <p:nvPr/>
              </p:nvGrpSpPr>
              <p:grpSpPr>
                <a:xfrm>
                  <a:off x="1341" y="492"/>
                  <a:ext cx="1728" cy="564"/>
                  <a:chOff x="1344" y="492"/>
                  <a:chExt cx="1728" cy="564"/>
                </a:xfrm>
              </p:grpSpPr>
              <p:sp>
                <p:nvSpPr>
                  <p:cNvPr id="173" name="Google Shape;173;p18"/>
                  <p:cNvSpPr/>
                  <p:nvPr/>
                </p:nvSpPr>
                <p:spPr>
                  <a:xfrm>
                    <a:off x="1344" y="960"/>
                    <a:ext cx="1728" cy="96"/>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4" name="Google Shape;174;p18"/>
                  <p:cNvSpPr/>
                  <p:nvPr/>
                </p:nvSpPr>
                <p:spPr>
                  <a:xfrm>
                    <a:off x="1344" y="858"/>
                    <a:ext cx="1728" cy="19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5" name="Google Shape;175;p18"/>
                  <p:cNvSpPr/>
                  <p:nvPr/>
                </p:nvSpPr>
                <p:spPr>
                  <a:xfrm>
                    <a:off x="1344" y="738"/>
                    <a:ext cx="1728" cy="31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6" name="Google Shape;176;p18"/>
                  <p:cNvSpPr/>
                  <p:nvPr/>
                </p:nvSpPr>
                <p:spPr>
                  <a:xfrm>
                    <a:off x="1344" y="618"/>
                    <a:ext cx="1728" cy="43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7" name="Google Shape;177;p18"/>
                  <p:cNvSpPr/>
                  <p:nvPr/>
                </p:nvSpPr>
                <p:spPr>
                  <a:xfrm>
                    <a:off x="1344" y="492"/>
                    <a:ext cx="1728" cy="564"/>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78" name="Google Shape;178;p18"/>
                <p:cNvGrpSpPr/>
                <p:nvPr/>
              </p:nvGrpSpPr>
              <p:grpSpPr>
                <a:xfrm rot="10800000" flipH="1">
                  <a:off x="1341" y="1062"/>
                  <a:ext cx="1728" cy="564"/>
                  <a:chOff x="1344" y="492"/>
                  <a:chExt cx="1728" cy="564"/>
                </a:xfrm>
              </p:grpSpPr>
              <p:sp>
                <p:nvSpPr>
                  <p:cNvPr id="179" name="Google Shape;179;p18"/>
                  <p:cNvSpPr/>
                  <p:nvPr/>
                </p:nvSpPr>
                <p:spPr>
                  <a:xfrm>
                    <a:off x="1344" y="960"/>
                    <a:ext cx="1728" cy="96"/>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0" name="Google Shape;180;p18"/>
                  <p:cNvSpPr/>
                  <p:nvPr/>
                </p:nvSpPr>
                <p:spPr>
                  <a:xfrm>
                    <a:off x="1344" y="858"/>
                    <a:ext cx="1728" cy="19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1" name="Google Shape;181;p18"/>
                  <p:cNvSpPr/>
                  <p:nvPr/>
                </p:nvSpPr>
                <p:spPr>
                  <a:xfrm>
                    <a:off x="1344" y="738"/>
                    <a:ext cx="1728" cy="31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2" name="Google Shape;182;p18"/>
                  <p:cNvSpPr/>
                  <p:nvPr/>
                </p:nvSpPr>
                <p:spPr>
                  <a:xfrm>
                    <a:off x="1344" y="618"/>
                    <a:ext cx="1728" cy="43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3" name="Google Shape;183;p18"/>
                  <p:cNvSpPr/>
                  <p:nvPr/>
                </p:nvSpPr>
                <p:spPr>
                  <a:xfrm>
                    <a:off x="1344" y="492"/>
                    <a:ext cx="1728" cy="564"/>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grpSp>
        <p:grpSp>
          <p:nvGrpSpPr>
            <p:cNvPr id="184" name="Google Shape;184;p18"/>
            <p:cNvGrpSpPr/>
            <p:nvPr/>
          </p:nvGrpSpPr>
          <p:grpSpPr>
            <a:xfrm>
              <a:off x="5359" y="1952"/>
              <a:ext cx="82" cy="150"/>
              <a:chOff x="2016" y="2138"/>
              <a:chExt cx="323" cy="567"/>
            </a:xfrm>
          </p:grpSpPr>
          <p:cxnSp>
            <p:nvCxnSpPr>
              <p:cNvPr id="185" name="Google Shape;185;p18"/>
              <p:cNvCxnSpPr/>
              <p:nvPr/>
            </p:nvCxnSpPr>
            <p:spPr>
              <a:xfrm>
                <a:off x="2017" y="2423"/>
                <a:ext cx="315" cy="0"/>
              </a:xfrm>
              <a:prstGeom prst="straightConnector1">
                <a:avLst/>
              </a:prstGeom>
              <a:noFill/>
              <a:ln w="19050" cap="flat" cmpd="sng">
                <a:solidFill>
                  <a:srgbClr val="FF3300"/>
                </a:solidFill>
                <a:prstDash val="solid"/>
                <a:round/>
                <a:headEnd type="none" w="med" len="med"/>
                <a:tailEnd type="none" w="med" len="med"/>
              </a:ln>
            </p:spPr>
          </p:cxnSp>
          <p:grpSp>
            <p:nvGrpSpPr>
              <p:cNvPr id="186" name="Google Shape;186;p18"/>
              <p:cNvGrpSpPr/>
              <p:nvPr/>
            </p:nvGrpSpPr>
            <p:grpSpPr>
              <a:xfrm>
                <a:off x="2016" y="2138"/>
                <a:ext cx="323" cy="285"/>
                <a:chOff x="2016" y="2138"/>
                <a:chExt cx="323" cy="285"/>
              </a:xfrm>
            </p:grpSpPr>
            <p:sp>
              <p:nvSpPr>
                <p:cNvPr id="187" name="Google Shape;187;p18"/>
                <p:cNvSpPr/>
                <p:nvPr/>
              </p:nvSpPr>
              <p:spPr>
                <a:xfrm>
                  <a:off x="2016" y="2375"/>
                  <a:ext cx="321" cy="48"/>
                </a:xfrm>
                <a:custGeom>
                  <a:avLst/>
                  <a:gdLst/>
                  <a:ahLst/>
                  <a:cxnLst/>
                  <a:rect l="l" t="t" r="r" b="b"/>
                  <a:pathLst>
                    <a:path w="321" h="48" extrusionOk="0">
                      <a:moveTo>
                        <a:pt x="0" y="48"/>
                      </a:moveTo>
                      <a:cubicBezTo>
                        <a:pt x="53" y="40"/>
                        <a:pt x="268" y="8"/>
                        <a:pt x="321" y="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8" name="Google Shape;188;p18"/>
                <p:cNvSpPr/>
                <p:nvPr/>
              </p:nvSpPr>
              <p:spPr>
                <a:xfrm>
                  <a:off x="2016" y="2322"/>
                  <a:ext cx="320" cy="101"/>
                </a:xfrm>
                <a:custGeom>
                  <a:avLst/>
                  <a:gdLst/>
                  <a:ahLst/>
                  <a:cxnLst/>
                  <a:rect l="l" t="t" r="r" b="b"/>
                  <a:pathLst>
                    <a:path w="320" h="101" extrusionOk="0">
                      <a:moveTo>
                        <a:pt x="0" y="101"/>
                      </a:moveTo>
                      <a:cubicBezTo>
                        <a:pt x="53" y="84"/>
                        <a:pt x="267" y="17"/>
                        <a:pt x="320" y="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9" name="Google Shape;189;p18"/>
                <p:cNvSpPr/>
                <p:nvPr/>
              </p:nvSpPr>
              <p:spPr>
                <a:xfrm>
                  <a:off x="2016" y="2264"/>
                  <a:ext cx="321" cy="159"/>
                </a:xfrm>
                <a:custGeom>
                  <a:avLst/>
                  <a:gdLst/>
                  <a:ahLst/>
                  <a:cxnLst/>
                  <a:rect l="l" t="t" r="r" b="b"/>
                  <a:pathLst>
                    <a:path w="321" h="159" extrusionOk="0">
                      <a:moveTo>
                        <a:pt x="0" y="159"/>
                      </a:moveTo>
                      <a:cubicBezTo>
                        <a:pt x="53" y="133"/>
                        <a:pt x="268" y="26"/>
                        <a:pt x="321" y="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0" name="Google Shape;190;p18"/>
                <p:cNvSpPr/>
                <p:nvPr/>
              </p:nvSpPr>
              <p:spPr>
                <a:xfrm>
                  <a:off x="2016" y="2201"/>
                  <a:ext cx="323" cy="222"/>
                </a:xfrm>
                <a:custGeom>
                  <a:avLst/>
                  <a:gdLst/>
                  <a:ahLst/>
                  <a:cxnLst/>
                  <a:rect l="l" t="t" r="r" b="b"/>
                  <a:pathLst>
                    <a:path w="323" h="222" extrusionOk="0">
                      <a:moveTo>
                        <a:pt x="0" y="222"/>
                      </a:moveTo>
                      <a:cubicBezTo>
                        <a:pt x="54" y="185"/>
                        <a:pt x="269" y="37"/>
                        <a:pt x="323" y="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1" name="Google Shape;191;p18"/>
                <p:cNvSpPr/>
                <p:nvPr/>
              </p:nvSpPr>
              <p:spPr>
                <a:xfrm>
                  <a:off x="2016" y="2138"/>
                  <a:ext cx="321" cy="285"/>
                </a:xfrm>
                <a:custGeom>
                  <a:avLst/>
                  <a:gdLst/>
                  <a:ahLst/>
                  <a:cxnLst/>
                  <a:rect l="l" t="t" r="r" b="b"/>
                  <a:pathLst>
                    <a:path w="321" h="285" extrusionOk="0">
                      <a:moveTo>
                        <a:pt x="0" y="285"/>
                      </a:moveTo>
                      <a:cubicBezTo>
                        <a:pt x="54" y="238"/>
                        <a:pt x="268" y="48"/>
                        <a:pt x="321" y="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92" name="Google Shape;192;p18"/>
              <p:cNvGrpSpPr/>
              <p:nvPr/>
            </p:nvGrpSpPr>
            <p:grpSpPr>
              <a:xfrm rot="10800000" flipH="1">
                <a:off x="2016" y="2420"/>
                <a:ext cx="323" cy="285"/>
                <a:chOff x="2016" y="2138"/>
                <a:chExt cx="323" cy="285"/>
              </a:xfrm>
            </p:grpSpPr>
            <p:sp>
              <p:nvSpPr>
                <p:cNvPr id="193" name="Google Shape;193;p18"/>
                <p:cNvSpPr/>
                <p:nvPr/>
              </p:nvSpPr>
              <p:spPr>
                <a:xfrm>
                  <a:off x="2016" y="2375"/>
                  <a:ext cx="321" cy="48"/>
                </a:xfrm>
                <a:custGeom>
                  <a:avLst/>
                  <a:gdLst/>
                  <a:ahLst/>
                  <a:cxnLst/>
                  <a:rect l="l" t="t" r="r" b="b"/>
                  <a:pathLst>
                    <a:path w="321" h="48" extrusionOk="0">
                      <a:moveTo>
                        <a:pt x="0" y="48"/>
                      </a:moveTo>
                      <a:cubicBezTo>
                        <a:pt x="53" y="40"/>
                        <a:pt x="268" y="8"/>
                        <a:pt x="321" y="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 name="Google Shape;194;p18"/>
                <p:cNvSpPr/>
                <p:nvPr/>
              </p:nvSpPr>
              <p:spPr>
                <a:xfrm>
                  <a:off x="2016" y="2322"/>
                  <a:ext cx="320" cy="101"/>
                </a:xfrm>
                <a:custGeom>
                  <a:avLst/>
                  <a:gdLst/>
                  <a:ahLst/>
                  <a:cxnLst/>
                  <a:rect l="l" t="t" r="r" b="b"/>
                  <a:pathLst>
                    <a:path w="320" h="101" extrusionOk="0">
                      <a:moveTo>
                        <a:pt x="0" y="101"/>
                      </a:moveTo>
                      <a:cubicBezTo>
                        <a:pt x="53" y="84"/>
                        <a:pt x="267" y="17"/>
                        <a:pt x="320" y="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5" name="Google Shape;195;p18"/>
                <p:cNvSpPr/>
                <p:nvPr/>
              </p:nvSpPr>
              <p:spPr>
                <a:xfrm>
                  <a:off x="2016" y="2264"/>
                  <a:ext cx="321" cy="159"/>
                </a:xfrm>
                <a:custGeom>
                  <a:avLst/>
                  <a:gdLst/>
                  <a:ahLst/>
                  <a:cxnLst/>
                  <a:rect l="l" t="t" r="r" b="b"/>
                  <a:pathLst>
                    <a:path w="321" h="159" extrusionOk="0">
                      <a:moveTo>
                        <a:pt x="0" y="159"/>
                      </a:moveTo>
                      <a:cubicBezTo>
                        <a:pt x="53" y="133"/>
                        <a:pt x="268" y="26"/>
                        <a:pt x="321" y="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6" name="Google Shape;196;p18"/>
                <p:cNvSpPr/>
                <p:nvPr/>
              </p:nvSpPr>
              <p:spPr>
                <a:xfrm>
                  <a:off x="2016" y="2201"/>
                  <a:ext cx="323" cy="222"/>
                </a:xfrm>
                <a:custGeom>
                  <a:avLst/>
                  <a:gdLst/>
                  <a:ahLst/>
                  <a:cxnLst/>
                  <a:rect l="l" t="t" r="r" b="b"/>
                  <a:pathLst>
                    <a:path w="323" h="222" extrusionOk="0">
                      <a:moveTo>
                        <a:pt x="0" y="222"/>
                      </a:moveTo>
                      <a:cubicBezTo>
                        <a:pt x="54" y="185"/>
                        <a:pt x="269" y="37"/>
                        <a:pt x="323" y="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7" name="Google Shape;197;p18"/>
                <p:cNvSpPr/>
                <p:nvPr/>
              </p:nvSpPr>
              <p:spPr>
                <a:xfrm>
                  <a:off x="2016" y="2138"/>
                  <a:ext cx="321" cy="285"/>
                </a:xfrm>
                <a:custGeom>
                  <a:avLst/>
                  <a:gdLst/>
                  <a:ahLst/>
                  <a:cxnLst/>
                  <a:rect l="l" t="t" r="r" b="b"/>
                  <a:pathLst>
                    <a:path w="321" h="285" extrusionOk="0">
                      <a:moveTo>
                        <a:pt x="0" y="285"/>
                      </a:moveTo>
                      <a:cubicBezTo>
                        <a:pt x="54" y="238"/>
                        <a:pt x="268" y="48"/>
                        <a:pt x="321" y="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grpSp>
      <p:grpSp>
        <p:nvGrpSpPr>
          <p:cNvPr id="198" name="Google Shape;198;p18"/>
          <p:cNvGrpSpPr/>
          <p:nvPr/>
        </p:nvGrpSpPr>
        <p:grpSpPr>
          <a:xfrm>
            <a:off x="709613" y="1657350"/>
            <a:ext cx="228600" cy="1476375"/>
            <a:chOff x="1152" y="1968"/>
            <a:chExt cx="240" cy="930"/>
          </a:xfrm>
        </p:grpSpPr>
        <p:sp>
          <p:nvSpPr>
            <p:cNvPr id="199" name="Google Shape;199;p18"/>
            <p:cNvSpPr/>
            <p:nvPr/>
          </p:nvSpPr>
          <p:spPr>
            <a:xfrm>
              <a:off x="1152" y="1968"/>
              <a:ext cx="240" cy="91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200" name="Google Shape;200;p18"/>
            <p:cNvCxnSpPr/>
            <p:nvPr/>
          </p:nvCxnSpPr>
          <p:spPr>
            <a:xfrm>
              <a:off x="1392" y="1968"/>
              <a:ext cx="0" cy="930"/>
            </a:xfrm>
            <a:prstGeom prst="straightConnector1">
              <a:avLst/>
            </a:prstGeom>
            <a:noFill/>
            <a:ln w="28575" cap="flat" cmpd="sng">
              <a:solidFill>
                <a:srgbClr val="FF3300"/>
              </a:solidFill>
              <a:prstDash val="solid"/>
              <a:round/>
              <a:headEnd type="none" w="med" len="med"/>
              <a:tailEnd type="none" w="med" len="med"/>
            </a:ln>
          </p:spPr>
        </p:cxnSp>
      </p:grpSp>
      <p:sp>
        <p:nvSpPr>
          <p:cNvPr id="201" name="Google Shape;201;p18"/>
          <p:cNvSpPr txBox="1"/>
          <p:nvPr/>
        </p:nvSpPr>
        <p:spPr>
          <a:xfrm>
            <a:off x="138113" y="2003425"/>
            <a:ext cx="571500" cy="7016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0000CC"/>
                </a:solidFill>
                <a:latin typeface="Times New Roman" panose="02020603050405020304"/>
                <a:ea typeface="Times New Roman" panose="02020603050405020304"/>
                <a:cs typeface="Times New Roman" panose="02020603050405020304"/>
                <a:sym typeface="Times New Roman" panose="02020603050405020304"/>
              </a:rPr>
              <a:t>Q</a:t>
            </a:r>
            <a:endParaRPr lang="en-US" sz="4000" b="1">
              <a:solidFill>
                <a:srgbClr val="0000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2" name="Google Shape;202;p18"/>
          <p:cNvSpPr txBox="1"/>
          <p:nvPr/>
        </p:nvSpPr>
        <p:spPr>
          <a:xfrm>
            <a:off x="8577263" y="2247900"/>
            <a:ext cx="571500" cy="7016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0000CC"/>
                </a:solidFill>
                <a:latin typeface="Times New Roman" panose="02020603050405020304"/>
                <a:ea typeface="Times New Roman" panose="02020603050405020304"/>
                <a:cs typeface="Times New Roman" panose="02020603050405020304"/>
                <a:sym typeface="Times New Roman" panose="02020603050405020304"/>
              </a:rPr>
              <a:t>P</a:t>
            </a:r>
            <a:endParaRPr lang="en-US" sz="4000" b="1">
              <a:solidFill>
                <a:srgbClr val="0000CC"/>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03" name="Google Shape;203;p18"/>
          <p:cNvCxnSpPr/>
          <p:nvPr/>
        </p:nvCxnSpPr>
        <p:spPr>
          <a:xfrm rot="10800000">
            <a:off x="6953250" y="1466850"/>
            <a:ext cx="1905000" cy="0"/>
          </a:xfrm>
          <a:prstGeom prst="straightConnector1">
            <a:avLst/>
          </a:prstGeom>
          <a:noFill/>
          <a:ln w="38100" cap="flat" cmpd="sng">
            <a:solidFill>
              <a:srgbClr val="009900"/>
            </a:solidFill>
            <a:prstDash val="solid"/>
            <a:round/>
            <a:headEnd type="none" w="med" len="med"/>
            <a:tailEnd type="triangle" w="med" len="med"/>
          </a:ln>
        </p:spPr>
      </p:cxnSp>
      <p:sp>
        <p:nvSpPr>
          <p:cNvPr id="204" name="Google Shape;204;p18"/>
          <p:cNvSpPr txBox="1"/>
          <p:nvPr/>
        </p:nvSpPr>
        <p:spPr>
          <a:xfrm>
            <a:off x="7181850" y="838200"/>
            <a:ext cx="1412875" cy="5191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1">
                <a:solidFill>
                  <a:srgbClr val="009900"/>
                </a:solidFill>
                <a:latin typeface="Times New Roman" panose="02020603050405020304"/>
                <a:ea typeface="Times New Roman" panose="02020603050405020304"/>
                <a:cs typeface="Times New Roman" panose="02020603050405020304"/>
                <a:sym typeface="Times New Roman" panose="02020603050405020304"/>
              </a:rPr>
              <a:t>Sóng tới</a:t>
            </a:r>
            <a:endParaRPr lang="en-US" sz="2800" b="1" i="1">
              <a:solidFill>
                <a:srgbClr val="009900"/>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05" name="Google Shape;205;p18"/>
          <p:cNvCxnSpPr/>
          <p:nvPr/>
        </p:nvCxnSpPr>
        <p:spPr>
          <a:xfrm rot="10800000">
            <a:off x="990600" y="1466850"/>
            <a:ext cx="2362200" cy="0"/>
          </a:xfrm>
          <a:prstGeom prst="straightConnector1">
            <a:avLst/>
          </a:prstGeom>
          <a:noFill/>
          <a:ln w="38100" cap="flat" cmpd="sng">
            <a:solidFill>
              <a:srgbClr val="009900"/>
            </a:solidFill>
            <a:prstDash val="solid"/>
            <a:round/>
            <a:headEnd type="triangle" w="med" len="med"/>
            <a:tailEnd type="none" w="sm" len="sm"/>
          </a:ln>
        </p:spPr>
      </p:cxnSp>
      <p:sp>
        <p:nvSpPr>
          <p:cNvPr id="206" name="Google Shape;206;p18"/>
          <p:cNvSpPr txBox="1"/>
          <p:nvPr/>
        </p:nvSpPr>
        <p:spPr>
          <a:xfrm>
            <a:off x="914400" y="838200"/>
            <a:ext cx="2222500" cy="5191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1">
                <a:solidFill>
                  <a:srgbClr val="009900"/>
                </a:solidFill>
                <a:latin typeface="Times New Roman" panose="02020603050405020304"/>
                <a:ea typeface="Times New Roman" panose="02020603050405020304"/>
                <a:cs typeface="Times New Roman" panose="02020603050405020304"/>
                <a:sym typeface="Times New Roman" panose="02020603050405020304"/>
              </a:rPr>
              <a:t>Sóng phản xạ</a:t>
            </a:r>
            <a:endParaRPr lang="en-US" sz="2800" b="1" i="1">
              <a:solidFill>
                <a:srgbClr val="0099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07" name="Google Shape;207;p18"/>
          <p:cNvPicPr preferRelativeResize="0"/>
          <p:nvPr/>
        </p:nvPicPr>
        <p:blipFill rotWithShape="1">
          <a:blip r:embed="rId1"/>
          <a:srcRect/>
          <a:stretch>
            <a:fillRect/>
          </a:stretch>
        </p:blipFill>
        <p:spPr>
          <a:xfrm>
            <a:off x="228600" y="3589338"/>
            <a:ext cx="8724900" cy="1466850"/>
          </a:xfrm>
          <a:prstGeom prst="rect">
            <a:avLst/>
          </a:prstGeom>
          <a:noFill/>
          <a:ln>
            <a:noFill/>
          </a:ln>
        </p:spPr>
      </p:pic>
      <p:sp>
        <p:nvSpPr>
          <p:cNvPr id="208" name="Google Shape;208;p18"/>
          <p:cNvSpPr txBox="1"/>
          <p:nvPr/>
        </p:nvSpPr>
        <p:spPr>
          <a:xfrm>
            <a:off x="1123950" y="235743"/>
            <a:ext cx="7239000" cy="5794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rgbClr val="800080"/>
                </a:solidFill>
                <a:latin typeface="Times New Roman" panose="02020603050405020304"/>
                <a:ea typeface="Times New Roman" panose="02020603050405020304"/>
                <a:cs typeface="Times New Roman" panose="02020603050405020304"/>
                <a:sym typeface="Times New Roman" panose="02020603050405020304"/>
              </a:rPr>
              <a:t> </a:t>
            </a:r>
            <a:r>
              <a:rPr lang="en-US" sz="3200" b="1">
                <a:solidFill>
                  <a:srgbClr val="0000FF"/>
                </a:solidFill>
                <a:latin typeface="Times New Roman" panose="02020603050405020304"/>
                <a:ea typeface="Times New Roman" panose="02020603050405020304"/>
                <a:cs typeface="Times New Roman" panose="02020603050405020304"/>
                <a:sym typeface="Times New Roman" panose="02020603050405020304"/>
              </a:rPr>
              <a:t>Quan sát hiện tượng sóng dừng</a:t>
            </a:r>
            <a:endParaRPr lang="en-US" sz="3200" b="1">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9" name="Google Shape;209;p18"/>
          <p:cNvSpPr/>
          <p:nvPr/>
        </p:nvSpPr>
        <p:spPr>
          <a:xfrm>
            <a:off x="4152900" y="3400425"/>
            <a:ext cx="1600200" cy="304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grpSp>
        <p:nvGrpSpPr>
          <p:cNvPr id="210" name="Google Shape;210;p18"/>
          <p:cNvGrpSpPr/>
          <p:nvPr/>
        </p:nvGrpSpPr>
        <p:grpSpPr>
          <a:xfrm>
            <a:off x="933450" y="1819275"/>
            <a:ext cx="7620000" cy="3524250"/>
            <a:chOff x="588" y="1572"/>
            <a:chExt cx="4800" cy="2448"/>
          </a:xfrm>
        </p:grpSpPr>
        <p:cxnSp>
          <p:nvCxnSpPr>
            <p:cNvPr id="211" name="Google Shape;211;p18"/>
            <p:cNvCxnSpPr/>
            <p:nvPr/>
          </p:nvCxnSpPr>
          <p:spPr>
            <a:xfrm>
              <a:off x="588" y="1572"/>
              <a:ext cx="0" cy="2448"/>
            </a:xfrm>
            <a:prstGeom prst="straightConnector1">
              <a:avLst/>
            </a:prstGeom>
            <a:noFill/>
            <a:ln w="19050" cap="flat" cmpd="sng">
              <a:solidFill>
                <a:srgbClr val="800080"/>
              </a:solidFill>
              <a:prstDash val="solid"/>
              <a:round/>
              <a:headEnd type="none" w="med" len="med"/>
              <a:tailEnd type="none" w="med" len="med"/>
            </a:ln>
          </p:spPr>
        </p:cxnSp>
        <p:cxnSp>
          <p:nvCxnSpPr>
            <p:cNvPr id="212" name="Google Shape;212;p18"/>
            <p:cNvCxnSpPr/>
            <p:nvPr/>
          </p:nvCxnSpPr>
          <p:spPr>
            <a:xfrm>
              <a:off x="1788" y="1572"/>
              <a:ext cx="0" cy="2448"/>
            </a:xfrm>
            <a:prstGeom prst="straightConnector1">
              <a:avLst/>
            </a:prstGeom>
            <a:noFill/>
            <a:ln w="19050" cap="flat" cmpd="sng">
              <a:solidFill>
                <a:srgbClr val="800080"/>
              </a:solidFill>
              <a:prstDash val="solid"/>
              <a:round/>
              <a:headEnd type="none" w="med" len="med"/>
              <a:tailEnd type="none" w="med" len="med"/>
            </a:ln>
          </p:spPr>
        </p:cxnSp>
        <p:cxnSp>
          <p:nvCxnSpPr>
            <p:cNvPr id="213" name="Google Shape;213;p18"/>
            <p:cNvCxnSpPr/>
            <p:nvPr/>
          </p:nvCxnSpPr>
          <p:spPr>
            <a:xfrm>
              <a:off x="2988" y="1572"/>
              <a:ext cx="0" cy="2448"/>
            </a:xfrm>
            <a:prstGeom prst="straightConnector1">
              <a:avLst/>
            </a:prstGeom>
            <a:noFill/>
            <a:ln w="19050" cap="flat" cmpd="sng">
              <a:solidFill>
                <a:srgbClr val="800080"/>
              </a:solidFill>
              <a:prstDash val="solid"/>
              <a:round/>
              <a:headEnd type="none" w="med" len="med"/>
              <a:tailEnd type="none" w="med" len="med"/>
            </a:ln>
          </p:spPr>
        </p:cxnSp>
        <p:cxnSp>
          <p:nvCxnSpPr>
            <p:cNvPr id="214" name="Google Shape;214;p18"/>
            <p:cNvCxnSpPr/>
            <p:nvPr/>
          </p:nvCxnSpPr>
          <p:spPr>
            <a:xfrm>
              <a:off x="4188" y="1572"/>
              <a:ext cx="0" cy="2448"/>
            </a:xfrm>
            <a:prstGeom prst="straightConnector1">
              <a:avLst/>
            </a:prstGeom>
            <a:noFill/>
            <a:ln w="19050" cap="flat" cmpd="sng">
              <a:solidFill>
                <a:srgbClr val="800080"/>
              </a:solidFill>
              <a:prstDash val="solid"/>
              <a:round/>
              <a:headEnd type="none" w="med" len="med"/>
              <a:tailEnd type="none" w="med" len="med"/>
            </a:ln>
          </p:spPr>
        </p:cxnSp>
        <p:cxnSp>
          <p:nvCxnSpPr>
            <p:cNvPr id="215" name="Google Shape;215;p18"/>
            <p:cNvCxnSpPr/>
            <p:nvPr/>
          </p:nvCxnSpPr>
          <p:spPr>
            <a:xfrm>
              <a:off x="5388" y="1572"/>
              <a:ext cx="0" cy="2448"/>
            </a:xfrm>
            <a:prstGeom prst="straightConnector1">
              <a:avLst/>
            </a:prstGeom>
            <a:noFill/>
            <a:ln w="19050" cap="flat" cmpd="sng">
              <a:solidFill>
                <a:srgbClr val="800080"/>
              </a:solidFill>
              <a:prstDash val="solid"/>
              <a:round/>
              <a:headEnd type="none" w="med" len="med"/>
              <a:tailEnd type="none" w="med" len="med"/>
            </a:ln>
          </p:spPr>
        </p:cxnSp>
      </p:grpSp>
      <p:sp>
        <p:nvSpPr>
          <p:cNvPr id="216" name="Google Shape;216;p18"/>
          <p:cNvSpPr txBox="1"/>
          <p:nvPr/>
        </p:nvSpPr>
        <p:spPr>
          <a:xfrm>
            <a:off x="76200" y="3997325"/>
            <a:ext cx="571500" cy="7016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0000CC"/>
                </a:solidFill>
                <a:latin typeface="Times New Roman" panose="02020603050405020304"/>
                <a:ea typeface="Times New Roman" panose="02020603050405020304"/>
                <a:cs typeface="Times New Roman" panose="02020603050405020304"/>
                <a:sym typeface="Times New Roman" panose="02020603050405020304"/>
              </a:rPr>
              <a:t>Q</a:t>
            </a:r>
            <a:endParaRPr lang="en-US" sz="4000" b="1">
              <a:solidFill>
                <a:srgbClr val="0000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7" name="Google Shape;217;p18"/>
          <p:cNvSpPr txBox="1"/>
          <p:nvPr/>
        </p:nvSpPr>
        <p:spPr>
          <a:xfrm>
            <a:off x="8577263" y="4032250"/>
            <a:ext cx="571500" cy="7016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0000CC"/>
                </a:solidFill>
                <a:latin typeface="Times New Roman" panose="02020603050405020304"/>
                <a:ea typeface="Times New Roman" panose="02020603050405020304"/>
                <a:cs typeface="Times New Roman" panose="02020603050405020304"/>
                <a:sym typeface="Times New Roman" panose="02020603050405020304"/>
              </a:rPr>
              <a:t>P</a:t>
            </a:r>
            <a:endParaRPr lang="en-US" sz="4000" b="1">
              <a:solidFill>
                <a:srgbClr val="0000CC"/>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18" name="Google Shape;218;p18"/>
          <p:cNvGrpSpPr/>
          <p:nvPr/>
        </p:nvGrpSpPr>
        <p:grpSpPr>
          <a:xfrm>
            <a:off x="614363" y="3736975"/>
            <a:ext cx="260350" cy="1311275"/>
            <a:chOff x="1044" y="2736"/>
            <a:chExt cx="156" cy="1090"/>
          </a:xfrm>
        </p:grpSpPr>
        <p:sp>
          <p:nvSpPr>
            <p:cNvPr id="219" name="Google Shape;219;p18"/>
            <p:cNvSpPr/>
            <p:nvPr/>
          </p:nvSpPr>
          <p:spPr>
            <a:xfrm>
              <a:off x="1044" y="2736"/>
              <a:ext cx="156" cy="10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220" name="Google Shape;220;p18"/>
            <p:cNvCxnSpPr/>
            <p:nvPr/>
          </p:nvCxnSpPr>
          <p:spPr>
            <a:xfrm>
              <a:off x="1200" y="2753"/>
              <a:ext cx="0" cy="1056"/>
            </a:xfrm>
            <a:prstGeom prst="straightConnector1">
              <a:avLst/>
            </a:prstGeom>
            <a:noFill/>
            <a:ln w="28575" cap="flat" cmpd="sng">
              <a:solidFill>
                <a:schemeClr val="dk1"/>
              </a:solidFill>
              <a:prstDash val="solid"/>
              <a:round/>
              <a:headEnd type="none" w="med" len="med"/>
              <a:tailEnd type="none" w="med" len="med"/>
            </a:ln>
          </p:spPr>
        </p:cxnSp>
      </p:gr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0"/>
                                        </p:tgtEl>
                                        <p:attrNameLst>
                                          <p:attrName>style.visibility</p:attrName>
                                        </p:attrNameLst>
                                      </p:cBhvr>
                                      <p:to>
                                        <p:strVal val="visible"/>
                                      </p:to>
                                    </p:set>
                                    <p:animEffect transition="in" filter="fade">
                                      <p:cBhvr>
                                        <p:cTn id="7" dur="500"/>
                                        <p:tgtEl>
                                          <p:spTgt spid="2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225" name="Shape 225"/>
        <p:cNvGrpSpPr/>
        <p:nvPr/>
      </p:nvGrpSpPr>
      <p:grpSpPr>
        <a:xfrm>
          <a:off x="0" y="0"/>
          <a:ext cx="0" cy="0"/>
          <a:chOff x="0" y="0"/>
          <a:chExt cx="0" cy="0"/>
        </a:xfrm>
      </p:grpSpPr>
      <p:grpSp>
        <p:nvGrpSpPr>
          <p:cNvPr id="226" name="Google Shape;226;p19"/>
          <p:cNvGrpSpPr/>
          <p:nvPr/>
        </p:nvGrpSpPr>
        <p:grpSpPr>
          <a:xfrm>
            <a:off x="917575" y="1730375"/>
            <a:ext cx="7566025" cy="1300163"/>
            <a:chOff x="602" y="1618"/>
            <a:chExt cx="4886" cy="819"/>
          </a:xfrm>
        </p:grpSpPr>
        <p:grpSp>
          <p:nvGrpSpPr>
            <p:cNvPr id="227" name="Google Shape;227;p19"/>
            <p:cNvGrpSpPr/>
            <p:nvPr/>
          </p:nvGrpSpPr>
          <p:grpSpPr>
            <a:xfrm>
              <a:off x="602" y="1618"/>
              <a:ext cx="4761" cy="819"/>
              <a:chOff x="1341" y="492"/>
              <a:chExt cx="1728" cy="1134"/>
            </a:xfrm>
          </p:grpSpPr>
          <p:cxnSp>
            <p:nvCxnSpPr>
              <p:cNvPr id="228" name="Google Shape;228;p19"/>
              <p:cNvCxnSpPr/>
              <p:nvPr/>
            </p:nvCxnSpPr>
            <p:spPr>
              <a:xfrm>
                <a:off x="1342" y="1056"/>
                <a:ext cx="1727" cy="0"/>
              </a:xfrm>
              <a:prstGeom prst="straightConnector1">
                <a:avLst/>
              </a:prstGeom>
              <a:noFill/>
              <a:ln w="19050" cap="flat" cmpd="sng">
                <a:solidFill>
                  <a:srgbClr val="FF3300"/>
                </a:solidFill>
                <a:prstDash val="solid"/>
                <a:round/>
                <a:headEnd type="none" w="med" len="med"/>
                <a:tailEnd type="none" w="med" len="med"/>
              </a:ln>
            </p:spPr>
          </p:cxnSp>
          <p:grpSp>
            <p:nvGrpSpPr>
              <p:cNvPr id="229" name="Google Shape;229;p19"/>
              <p:cNvGrpSpPr/>
              <p:nvPr/>
            </p:nvGrpSpPr>
            <p:grpSpPr>
              <a:xfrm>
                <a:off x="1341" y="492"/>
                <a:ext cx="1728" cy="564"/>
                <a:chOff x="1344" y="492"/>
                <a:chExt cx="1728" cy="564"/>
              </a:xfrm>
            </p:grpSpPr>
            <p:sp>
              <p:nvSpPr>
                <p:cNvPr id="230" name="Google Shape;230;p19"/>
                <p:cNvSpPr/>
                <p:nvPr/>
              </p:nvSpPr>
              <p:spPr>
                <a:xfrm>
                  <a:off x="1344" y="960"/>
                  <a:ext cx="1728" cy="96"/>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1" name="Google Shape;231;p19"/>
                <p:cNvSpPr/>
                <p:nvPr/>
              </p:nvSpPr>
              <p:spPr>
                <a:xfrm>
                  <a:off x="1344" y="858"/>
                  <a:ext cx="1728" cy="19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2" name="Google Shape;232;p19"/>
                <p:cNvSpPr/>
                <p:nvPr/>
              </p:nvSpPr>
              <p:spPr>
                <a:xfrm>
                  <a:off x="1344" y="738"/>
                  <a:ext cx="1728" cy="31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3" name="Google Shape;233;p19"/>
                <p:cNvSpPr/>
                <p:nvPr/>
              </p:nvSpPr>
              <p:spPr>
                <a:xfrm>
                  <a:off x="1344" y="618"/>
                  <a:ext cx="1728" cy="43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4" name="Google Shape;234;p19"/>
                <p:cNvSpPr/>
                <p:nvPr/>
              </p:nvSpPr>
              <p:spPr>
                <a:xfrm>
                  <a:off x="1344" y="492"/>
                  <a:ext cx="1728" cy="564"/>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235" name="Google Shape;235;p19"/>
              <p:cNvGrpSpPr/>
              <p:nvPr/>
            </p:nvGrpSpPr>
            <p:grpSpPr>
              <a:xfrm rot="10800000" flipH="1">
                <a:off x="1341" y="1062"/>
                <a:ext cx="1728" cy="564"/>
                <a:chOff x="1344" y="492"/>
                <a:chExt cx="1728" cy="564"/>
              </a:xfrm>
            </p:grpSpPr>
            <p:sp>
              <p:nvSpPr>
                <p:cNvPr id="236" name="Google Shape;236;p19"/>
                <p:cNvSpPr/>
                <p:nvPr/>
              </p:nvSpPr>
              <p:spPr>
                <a:xfrm>
                  <a:off x="1344" y="960"/>
                  <a:ext cx="1728" cy="96"/>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7" name="Google Shape;237;p19"/>
                <p:cNvSpPr/>
                <p:nvPr/>
              </p:nvSpPr>
              <p:spPr>
                <a:xfrm>
                  <a:off x="1344" y="858"/>
                  <a:ext cx="1728" cy="19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8" name="Google Shape;238;p19"/>
                <p:cNvSpPr/>
                <p:nvPr/>
              </p:nvSpPr>
              <p:spPr>
                <a:xfrm>
                  <a:off x="1344" y="738"/>
                  <a:ext cx="1728" cy="31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9" name="Google Shape;239;p19"/>
                <p:cNvSpPr/>
                <p:nvPr/>
              </p:nvSpPr>
              <p:spPr>
                <a:xfrm>
                  <a:off x="1344" y="618"/>
                  <a:ext cx="1728" cy="43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0" name="Google Shape;240;p19"/>
                <p:cNvSpPr/>
                <p:nvPr/>
              </p:nvSpPr>
              <p:spPr>
                <a:xfrm>
                  <a:off x="1344" y="492"/>
                  <a:ext cx="1728" cy="564"/>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grpSp>
          <p:nvGrpSpPr>
            <p:cNvPr id="241" name="Google Shape;241;p19"/>
            <p:cNvGrpSpPr/>
            <p:nvPr/>
          </p:nvGrpSpPr>
          <p:grpSpPr>
            <a:xfrm>
              <a:off x="5354" y="1982"/>
              <a:ext cx="134" cy="90"/>
              <a:chOff x="2016" y="2138"/>
              <a:chExt cx="323" cy="567"/>
            </a:xfrm>
          </p:grpSpPr>
          <p:cxnSp>
            <p:nvCxnSpPr>
              <p:cNvPr id="242" name="Google Shape;242;p19"/>
              <p:cNvCxnSpPr/>
              <p:nvPr/>
            </p:nvCxnSpPr>
            <p:spPr>
              <a:xfrm>
                <a:off x="2017" y="2423"/>
                <a:ext cx="315" cy="0"/>
              </a:xfrm>
              <a:prstGeom prst="straightConnector1">
                <a:avLst/>
              </a:prstGeom>
              <a:noFill/>
              <a:ln w="19050" cap="flat" cmpd="sng">
                <a:solidFill>
                  <a:srgbClr val="FF3300"/>
                </a:solidFill>
                <a:prstDash val="solid"/>
                <a:round/>
                <a:headEnd type="none" w="med" len="med"/>
                <a:tailEnd type="none" w="med" len="med"/>
              </a:ln>
            </p:spPr>
          </p:cxnSp>
          <p:grpSp>
            <p:nvGrpSpPr>
              <p:cNvPr id="243" name="Google Shape;243;p19"/>
              <p:cNvGrpSpPr/>
              <p:nvPr/>
            </p:nvGrpSpPr>
            <p:grpSpPr>
              <a:xfrm>
                <a:off x="2016" y="2138"/>
                <a:ext cx="323" cy="285"/>
                <a:chOff x="2016" y="2138"/>
                <a:chExt cx="323" cy="285"/>
              </a:xfrm>
            </p:grpSpPr>
            <p:sp>
              <p:nvSpPr>
                <p:cNvPr id="244" name="Google Shape;244;p19"/>
                <p:cNvSpPr/>
                <p:nvPr/>
              </p:nvSpPr>
              <p:spPr>
                <a:xfrm>
                  <a:off x="2016" y="2375"/>
                  <a:ext cx="321" cy="48"/>
                </a:xfrm>
                <a:custGeom>
                  <a:avLst/>
                  <a:gdLst/>
                  <a:ahLst/>
                  <a:cxnLst/>
                  <a:rect l="l" t="t" r="r" b="b"/>
                  <a:pathLst>
                    <a:path w="321" h="48" extrusionOk="0">
                      <a:moveTo>
                        <a:pt x="0" y="48"/>
                      </a:moveTo>
                      <a:cubicBezTo>
                        <a:pt x="53" y="40"/>
                        <a:pt x="268" y="8"/>
                        <a:pt x="321" y="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5" name="Google Shape;245;p19"/>
                <p:cNvSpPr/>
                <p:nvPr/>
              </p:nvSpPr>
              <p:spPr>
                <a:xfrm>
                  <a:off x="2016" y="2322"/>
                  <a:ext cx="320" cy="101"/>
                </a:xfrm>
                <a:custGeom>
                  <a:avLst/>
                  <a:gdLst/>
                  <a:ahLst/>
                  <a:cxnLst/>
                  <a:rect l="l" t="t" r="r" b="b"/>
                  <a:pathLst>
                    <a:path w="320" h="101" extrusionOk="0">
                      <a:moveTo>
                        <a:pt x="0" y="101"/>
                      </a:moveTo>
                      <a:cubicBezTo>
                        <a:pt x="53" y="84"/>
                        <a:pt x="267" y="17"/>
                        <a:pt x="320" y="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6" name="Google Shape;246;p19"/>
                <p:cNvSpPr/>
                <p:nvPr/>
              </p:nvSpPr>
              <p:spPr>
                <a:xfrm>
                  <a:off x="2016" y="2264"/>
                  <a:ext cx="321" cy="159"/>
                </a:xfrm>
                <a:custGeom>
                  <a:avLst/>
                  <a:gdLst/>
                  <a:ahLst/>
                  <a:cxnLst/>
                  <a:rect l="l" t="t" r="r" b="b"/>
                  <a:pathLst>
                    <a:path w="321" h="159" extrusionOk="0">
                      <a:moveTo>
                        <a:pt x="0" y="159"/>
                      </a:moveTo>
                      <a:cubicBezTo>
                        <a:pt x="53" y="133"/>
                        <a:pt x="268" y="26"/>
                        <a:pt x="321" y="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7" name="Google Shape;247;p19"/>
                <p:cNvSpPr/>
                <p:nvPr/>
              </p:nvSpPr>
              <p:spPr>
                <a:xfrm>
                  <a:off x="2016" y="2201"/>
                  <a:ext cx="323" cy="222"/>
                </a:xfrm>
                <a:custGeom>
                  <a:avLst/>
                  <a:gdLst/>
                  <a:ahLst/>
                  <a:cxnLst/>
                  <a:rect l="l" t="t" r="r" b="b"/>
                  <a:pathLst>
                    <a:path w="323" h="222" extrusionOk="0">
                      <a:moveTo>
                        <a:pt x="0" y="222"/>
                      </a:moveTo>
                      <a:cubicBezTo>
                        <a:pt x="54" y="185"/>
                        <a:pt x="269" y="37"/>
                        <a:pt x="323" y="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8" name="Google Shape;248;p19"/>
                <p:cNvSpPr/>
                <p:nvPr/>
              </p:nvSpPr>
              <p:spPr>
                <a:xfrm>
                  <a:off x="2016" y="2138"/>
                  <a:ext cx="321" cy="285"/>
                </a:xfrm>
                <a:custGeom>
                  <a:avLst/>
                  <a:gdLst/>
                  <a:ahLst/>
                  <a:cxnLst/>
                  <a:rect l="l" t="t" r="r" b="b"/>
                  <a:pathLst>
                    <a:path w="321" h="285" extrusionOk="0">
                      <a:moveTo>
                        <a:pt x="0" y="285"/>
                      </a:moveTo>
                      <a:cubicBezTo>
                        <a:pt x="54" y="238"/>
                        <a:pt x="268" y="48"/>
                        <a:pt x="321" y="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249" name="Google Shape;249;p19"/>
              <p:cNvGrpSpPr/>
              <p:nvPr/>
            </p:nvGrpSpPr>
            <p:grpSpPr>
              <a:xfrm rot="10800000" flipH="1">
                <a:off x="2016" y="2420"/>
                <a:ext cx="323" cy="285"/>
                <a:chOff x="2016" y="2138"/>
                <a:chExt cx="323" cy="285"/>
              </a:xfrm>
            </p:grpSpPr>
            <p:sp>
              <p:nvSpPr>
                <p:cNvPr id="250" name="Google Shape;250;p19"/>
                <p:cNvSpPr/>
                <p:nvPr/>
              </p:nvSpPr>
              <p:spPr>
                <a:xfrm>
                  <a:off x="2016" y="2375"/>
                  <a:ext cx="321" cy="48"/>
                </a:xfrm>
                <a:custGeom>
                  <a:avLst/>
                  <a:gdLst/>
                  <a:ahLst/>
                  <a:cxnLst/>
                  <a:rect l="l" t="t" r="r" b="b"/>
                  <a:pathLst>
                    <a:path w="321" h="48" extrusionOk="0">
                      <a:moveTo>
                        <a:pt x="0" y="48"/>
                      </a:moveTo>
                      <a:cubicBezTo>
                        <a:pt x="53" y="40"/>
                        <a:pt x="268" y="8"/>
                        <a:pt x="321" y="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1" name="Google Shape;251;p19"/>
                <p:cNvSpPr/>
                <p:nvPr/>
              </p:nvSpPr>
              <p:spPr>
                <a:xfrm>
                  <a:off x="2016" y="2322"/>
                  <a:ext cx="320" cy="101"/>
                </a:xfrm>
                <a:custGeom>
                  <a:avLst/>
                  <a:gdLst/>
                  <a:ahLst/>
                  <a:cxnLst/>
                  <a:rect l="l" t="t" r="r" b="b"/>
                  <a:pathLst>
                    <a:path w="320" h="101" extrusionOk="0">
                      <a:moveTo>
                        <a:pt x="0" y="101"/>
                      </a:moveTo>
                      <a:cubicBezTo>
                        <a:pt x="53" y="84"/>
                        <a:pt x="267" y="17"/>
                        <a:pt x="320" y="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2" name="Google Shape;252;p19"/>
                <p:cNvSpPr/>
                <p:nvPr/>
              </p:nvSpPr>
              <p:spPr>
                <a:xfrm>
                  <a:off x="2016" y="2264"/>
                  <a:ext cx="321" cy="159"/>
                </a:xfrm>
                <a:custGeom>
                  <a:avLst/>
                  <a:gdLst/>
                  <a:ahLst/>
                  <a:cxnLst/>
                  <a:rect l="l" t="t" r="r" b="b"/>
                  <a:pathLst>
                    <a:path w="321" h="159" extrusionOk="0">
                      <a:moveTo>
                        <a:pt x="0" y="159"/>
                      </a:moveTo>
                      <a:cubicBezTo>
                        <a:pt x="53" y="133"/>
                        <a:pt x="268" y="26"/>
                        <a:pt x="321" y="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3" name="Google Shape;253;p19"/>
                <p:cNvSpPr/>
                <p:nvPr/>
              </p:nvSpPr>
              <p:spPr>
                <a:xfrm>
                  <a:off x="2016" y="2201"/>
                  <a:ext cx="323" cy="222"/>
                </a:xfrm>
                <a:custGeom>
                  <a:avLst/>
                  <a:gdLst/>
                  <a:ahLst/>
                  <a:cxnLst/>
                  <a:rect l="l" t="t" r="r" b="b"/>
                  <a:pathLst>
                    <a:path w="323" h="222" extrusionOk="0">
                      <a:moveTo>
                        <a:pt x="0" y="222"/>
                      </a:moveTo>
                      <a:cubicBezTo>
                        <a:pt x="54" y="185"/>
                        <a:pt x="269" y="37"/>
                        <a:pt x="323" y="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4" name="Google Shape;254;p19"/>
                <p:cNvSpPr/>
                <p:nvPr/>
              </p:nvSpPr>
              <p:spPr>
                <a:xfrm>
                  <a:off x="2016" y="2138"/>
                  <a:ext cx="321" cy="285"/>
                </a:xfrm>
                <a:custGeom>
                  <a:avLst/>
                  <a:gdLst/>
                  <a:ahLst/>
                  <a:cxnLst/>
                  <a:rect l="l" t="t" r="r" b="b"/>
                  <a:pathLst>
                    <a:path w="321" h="285" extrusionOk="0">
                      <a:moveTo>
                        <a:pt x="0" y="285"/>
                      </a:moveTo>
                      <a:cubicBezTo>
                        <a:pt x="54" y="238"/>
                        <a:pt x="268" y="48"/>
                        <a:pt x="321" y="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grpSp>
      <p:grpSp>
        <p:nvGrpSpPr>
          <p:cNvPr id="255" name="Google Shape;255;p19"/>
          <p:cNvGrpSpPr/>
          <p:nvPr/>
        </p:nvGrpSpPr>
        <p:grpSpPr>
          <a:xfrm>
            <a:off x="608013" y="1641475"/>
            <a:ext cx="292100" cy="1476375"/>
            <a:chOff x="1152" y="1968"/>
            <a:chExt cx="240" cy="930"/>
          </a:xfrm>
        </p:grpSpPr>
        <p:sp>
          <p:nvSpPr>
            <p:cNvPr id="256" name="Google Shape;256;p19"/>
            <p:cNvSpPr/>
            <p:nvPr/>
          </p:nvSpPr>
          <p:spPr>
            <a:xfrm>
              <a:off x="1152" y="1968"/>
              <a:ext cx="240" cy="91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257" name="Google Shape;257;p19"/>
            <p:cNvCxnSpPr/>
            <p:nvPr/>
          </p:nvCxnSpPr>
          <p:spPr>
            <a:xfrm>
              <a:off x="1392" y="1968"/>
              <a:ext cx="0" cy="930"/>
            </a:xfrm>
            <a:prstGeom prst="straightConnector1">
              <a:avLst/>
            </a:prstGeom>
            <a:noFill/>
            <a:ln w="28575" cap="flat" cmpd="sng">
              <a:solidFill>
                <a:schemeClr val="dk1"/>
              </a:solidFill>
              <a:prstDash val="solid"/>
              <a:round/>
              <a:headEnd type="none" w="med" len="med"/>
              <a:tailEnd type="none" w="med" len="med"/>
            </a:ln>
          </p:spPr>
        </p:cxnSp>
      </p:grpSp>
      <p:sp>
        <p:nvSpPr>
          <p:cNvPr id="258" name="Google Shape;258;p19"/>
          <p:cNvSpPr txBox="1"/>
          <p:nvPr/>
        </p:nvSpPr>
        <p:spPr>
          <a:xfrm>
            <a:off x="23813" y="1987550"/>
            <a:ext cx="571500" cy="7016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0000CC"/>
                </a:solidFill>
                <a:latin typeface="Times New Roman" panose="02020603050405020304"/>
                <a:ea typeface="Times New Roman" panose="02020603050405020304"/>
                <a:cs typeface="Times New Roman" panose="02020603050405020304"/>
                <a:sym typeface="Times New Roman" panose="02020603050405020304"/>
              </a:rPr>
              <a:t>Q</a:t>
            </a:r>
            <a:endParaRPr lang="en-US" sz="4000" b="1">
              <a:solidFill>
                <a:srgbClr val="0000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9" name="Google Shape;259;p19"/>
          <p:cNvSpPr txBox="1"/>
          <p:nvPr/>
        </p:nvSpPr>
        <p:spPr>
          <a:xfrm>
            <a:off x="8272463" y="2384425"/>
            <a:ext cx="571500" cy="7016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0000CC"/>
                </a:solidFill>
                <a:latin typeface="Times New Roman" panose="02020603050405020304"/>
                <a:ea typeface="Times New Roman" panose="02020603050405020304"/>
                <a:cs typeface="Times New Roman" panose="02020603050405020304"/>
                <a:sym typeface="Times New Roman" panose="02020603050405020304"/>
              </a:rPr>
              <a:t>P</a:t>
            </a:r>
            <a:endParaRPr lang="en-US" sz="4000" b="1">
              <a:solidFill>
                <a:srgbClr val="0000CC"/>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60" name="Google Shape;260;p19"/>
          <p:cNvGrpSpPr/>
          <p:nvPr/>
        </p:nvGrpSpPr>
        <p:grpSpPr>
          <a:xfrm>
            <a:off x="6248400" y="971550"/>
            <a:ext cx="1905000" cy="628650"/>
            <a:chOff x="4320" y="360"/>
            <a:chExt cx="1200" cy="396"/>
          </a:xfrm>
        </p:grpSpPr>
        <p:cxnSp>
          <p:nvCxnSpPr>
            <p:cNvPr id="261" name="Google Shape;261;p19"/>
            <p:cNvCxnSpPr/>
            <p:nvPr/>
          </p:nvCxnSpPr>
          <p:spPr>
            <a:xfrm rot="10800000">
              <a:off x="4320" y="756"/>
              <a:ext cx="1200" cy="0"/>
            </a:xfrm>
            <a:prstGeom prst="straightConnector1">
              <a:avLst/>
            </a:prstGeom>
            <a:noFill/>
            <a:ln w="38100" cap="flat" cmpd="sng">
              <a:solidFill>
                <a:srgbClr val="009900"/>
              </a:solidFill>
              <a:prstDash val="solid"/>
              <a:round/>
              <a:headEnd type="none" w="med" len="med"/>
              <a:tailEnd type="triangle" w="med" len="med"/>
            </a:ln>
          </p:spPr>
        </p:cxnSp>
        <p:sp>
          <p:nvSpPr>
            <p:cNvPr id="262" name="Google Shape;262;p19"/>
            <p:cNvSpPr txBox="1"/>
            <p:nvPr/>
          </p:nvSpPr>
          <p:spPr>
            <a:xfrm>
              <a:off x="4464" y="360"/>
              <a:ext cx="890" cy="32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1">
                  <a:solidFill>
                    <a:srgbClr val="009900"/>
                  </a:solidFill>
                  <a:latin typeface="Times New Roman" panose="02020603050405020304"/>
                  <a:ea typeface="Times New Roman" panose="02020603050405020304"/>
                  <a:cs typeface="Times New Roman" panose="02020603050405020304"/>
                  <a:sym typeface="Times New Roman" panose="02020603050405020304"/>
                </a:rPr>
                <a:t>Sóng tới</a:t>
              </a:r>
              <a:endParaRPr lang="en-US" sz="2800" b="1" i="1">
                <a:solidFill>
                  <a:srgbClr val="009900"/>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63" name="Google Shape;263;p19"/>
          <p:cNvGrpSpPr/>
          <p:nvPr/>
        </p:nvGrpSpPr>
        <p:grpSpPr>
          <a:xfrm>
            <a:off x="914400" y="971550"/>
            <a:ext cx="2438400" cy="628650"/>
            <a:chOff x="576" y="396"/>
            <a:chExt cx="1536" cy="396"/>
          </a:xfrm>
        </p:grpSpPr>
        <p:cxnSp>
          <p:nvCxnSpPr>
            <p:cNvPr id="264" name="Google Shape;264;p19"/>
            <p:cNvCxnSpPr/>
            <p:nvPr/>
          </p:nvCxnSpPr>
          <p:spPr>
            <a:xfrm rot="10800000">
              <a:off x="624" y="792"/>
              <a:ext cx="1488" cy="0"/>
            </a:xfrm>
            <a:prstGeom prst="straightConnector1">
              <a:avLst/>
            </a:prstGeom>
            <a:noFill/>
            <a:ln w="38100" cap="flat" cmpd="sng">
              <a:solidFill>
                <a:srgbClr val="009900"/>
              </a:solidFill>
              <a:prstDash val="solid"/>
              <a:round/>
              <a:headEnd type="triangle" w="med" len="med"/>
              <a:tailEnd type="none" w="sm" len="sm"/>
            </a:ln>
          </p:spPr>
        </p:cxnSp>
        <p:sp>
          <p:nvSpPr>
            <p:cNvPr id="265" name="Google Shape;265;p19"/>
            <p:cNvSpPr txBox="1"/>
            <p:nvPr/>
          </p:nvSpPr>
          <p:spPr>
            <a:xfrm>
              <a:off x="576" y="396"/>
              <a:ext cx="1400" cy="32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1">
                  <a:solidFill>
                    <a:srgbClr val="009900"/>
                  </a:solidFill>
                  <a:latin typeface="Times New Roman" panose="02020603050405020304"/>
                  <a:ea typeface="Times New Roman" panose="02020603050405020304"/>
                  <a:cs typeface="Times New Roman" panose="02020603050405020304"/>
                  <a:sym typeface="Times New Roman" panose="02020603050405020304"/>
                </a:rPr>
                <a:t>Sóng phản xạ</a:t>
              </a:r>
              <a:endParaRPr lang="en-US" sz="2800" b="1" i="1">
                <a:solidFill>
                  <a:srgbClr val="009900"/>
                </a:solidFill>
                <a:latin typeface="Times New Roman" panose="02020603050405020304"/>
                <a:ea typeface="Times New Roman" panose="02020603050405020304"/>
                <a:cs typeface="Times New Roman" panose="02020603050405020304"/>
                <a:sym typeface="Times New Roman" panose="02020603050405020304"/>
              </a:endParaRPr>
            </a:p>
          </p:txBody>
        </p:sp>
      </p:grpSp>
      <p:pic>
        <p:nvPicPr>
          <p:cNvPr id="266" name="Google Shape;266;p19"/>
          <p:cNvPicPr preferRelativeResize="0"/>
          <p:nvPr/>
        </p:nvPicPr>
        <p:blipFill rotWithShape="1">
          <a:blip r:embed="rId1"/>
          <a:srcRect/>
          <a:stretch>
            <a:fillRect/>
          </a:stretch>
        </p:blipFill>
        <p:spPr>
          <a:xfrm>
            <a:off x="400050" y="3632200"/>
            <a:ext cx="8072438" cy="1498600"/>
          </a:xfrm>
          <a:prstGeom prst="rect">
            <a:avLst/>
          </a:prstGeom>
          <a:noFill/>
          <a:ln>
            <a:noFill/>
          </a:ln>
        </p:spPr>
      </p:pic>
      <p:sp>
        <p:nvSpPr>
          <p:cNvPr id="267" name="Google Shape;267;p19"/>
          <p:cNvSpPr txBox="1"/>
          <p:nvPr/>
        </p:nvSpPr>
        <p:spPr>
          <a:xfrm>
            <a:off x="762000" y="152400"/>
            <a:ext cx="7229475" cy="5794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rgbClr val="800080"/>
                </a:solidFill>
                <a:latin typeface="Times New Roman" panose="02020603050405020304"/>
                <a:ea typeface="Times New Roman" panose="02020603050405020304"/>
                <a:cs typeface="Times New Roman" panose="02020603050405020304"/>
                <a:sym typeface="Times New Roman" panose="02020603050405020304"/>
              </a:rPr>
              <a:t>     </a:t>
            </a:r>
            <a:r>
              <a:rPr lang="en-US" sz="3200" b="1">
                <a:solidFill>
                  <a:srgbClr val="0000FF"/>
                </a:solidFill>
                <a:latin typeface="Times New Roman" panose="02020603050405020304"/>
                <a:ea typeface="Times New Roman" panose="02020603050405020304"/>
                <a:cs typeface="Times New Roman" panose="02020603050405020304"/>
                <a:sym typeface="Times New Roman" panose="02020603050405020304"/>
              </a:rPr>
              <a:t>Quan sát hiện tượng sóng dừng</a:t>
            </a:r>
            <a:endParaRPr lang="en-US" sz="3200" b="1">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8" name="Google Shape;268;p19"/>
          <p:cNvSpPr/>
          <p:nvPr/>
        </p:nvSpPr>
        <p:spPr>
          <a:xfrm>
            <a:off x="3962400" y="3567113"/>
            <a:ext cx="1600200" cy="17621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grpSp>
        <p:nvGrpSpPr>
          <p:cNvPr id="269" name="Google Shape;269;p19"/>
          <p:cNvGrpSpPr/>
          <p:nvPr/>
        </p:nvGrpSpPr>
        <p:grpSpPr>
          <a:xfrm>
            <a:off x="563563" y="3771900"/>
            <a:ext cx="260350" cy="1311275"/>
            <a:chOff x="1044" y="2736"/>
            <a:chExt cx="156" cy="1090"/>
          </a:xfrm>
        </p:grpSpPr>
        <p:sp>
          <p:nvSpPr>
            <p:cNvPr id="270" name="Google Shape;270;p19"/>
            <p:cNvSpPr/>
            <p:nvPr/>
          </p:nvSpPr>
          <p:spPr>
            <a:xfrm>
              <a:off x="1044" y="2736"/>
              <a:ext cx="156" cy="10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271" name="Google Shape;271;p19"/>
            <p:cNvCxnSpPr/>
            <p:nvPr/>
          </p:nvCxnSpPr>
          <p:spPr>
            <a:xfrm>
              <a:off x="1200" y="2753"/>
              <a:ext cx="0" cy="1056"/>
            </a:xfrm>
            <a:prstGeom prst="straightConnector1">
              <a:avLst/>
            </a:prstGeom>
            <a:noFill/>
            <a:ln w="28575" cap="flat" cmpd="sng">
              <a:solidFill>
                <a:schemeClr val="dk1"/>
              </a:solidFill>
              <a:prstDash val="solid"/>
              <a:round/>
              <a:headEnd type="none" w="med" len="med"/>
              <a:tailEnd type="none" w="med" len="med"/>
            </a:ln>
          </p:spPr>
        </p:cxnSp>
      </p:grpSp>
      <p:grpSp>
        <p:nvGrpSpPr>
          <p:cNvPr id="272" name="Google Shape;272;p19"/>
          <p:cNvGrpSpPr/>
          <p:nvPr/>
        </p:nvGrpSpPr>
        <p:grpSpPr>
          <a:xfrm>
            <a:off x="900113" y="1828800"/>
            <a:ext cx="7386637" cy="3714750"/>
            <a:chOff x="567" y="1572"/>
            <a:chExt cx="4653" cy="2448"/>
          </a:xfrm>
        </p:grpSpPr>
        <p:cxnSp>
          <p:nvCxnSpPr>
            <p:cNvPr id="273" name="Google Shape;273;p19"/>
            <p:cNvCxnSpPr/>
            <p:nvPr/>
          </p:nvCxnSpPr>
          <p:spPr>
            <a:xfrm>
              <a:off x="567" y="1572"/>
              <a:ext cx="0" cy="2448"/>
            </a:xfrm>
            <a:prstGeom prst="straightConnector1">
              <a:avLst/>
            </a:prstGeom>
            <a:noFill/>
            <a:ln w="19050" cap="flat" cmpd="sng">
              <a:solidFill>
                <a:srgbClr val="800080"/>
              </a:solidFill>
              <a:prstDash val="solid"/>
              <a:round/>
              <a:headEnd type="none" w="med" len="med"/>
              <a:tailEnd type="none" w="med" len="med"/>
            </a:ln>
          </p:spPr>
        </p:cxnSp>
        <p:cxnSp>
          <p:nvCxnSpPr>
            <p:cNvPr id="274" name="Google Shape;274;p19"/>
            <p:cNvCxnSpPr/>
            <p:nvPr/>
          </p:nvCxnSpPr>
          <p:spPr>
            <a:xfrm>
              <a:off x="5220" y="1572"/>
              <a:ext cx="0" cy="2448"/>
            </a:xfrm>
            <a:prstGeom prst="straightConnector1">
              <a:avLst/>
            </a:prstGeom>
            <a:noFill/>
            <a:ln w="19050" cap="flat" cmpd="sng">
              <a:solidFill>
                <a:srgbClr val="800080"/>
              </a:solidFill>
              <a:prstDash val="solid"/>
              <a:round/>
              <a:headEnd type="none" w="med" len="med"/>
              <a:tailEnd type="none" w="med" len="med"/>
            </a:ln>
          </p:spPr>
        </p:cxnSp>
      </p:grpSp>
      <p:sp>
        <p:nvSpPr>
          <p:cNvPr id="275" name="Google Shape;275;p19"/>
          <p:cNvSpPr txBox="1"/>
          <p:nvPr/>
        </p:nvSpPr>
        <p:spPr>
          <a:xfrm>
            <a:off x="57150" y="4083050"/>
            <a:ext cx="571500" cy="7016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0000CC"/>
                </a:solidFill>
                <a:latin typeface="Times New Roman" panose="02020603050405020304"/>
                <a:ea typeface="Times New Roman" panose="02020603050405020304"/>
                <a:cs typeface="Times New Roman" panose="02020603050405020304"/>
                <a:sym typeface="Times New Roman" panose="02020603050405020304"/>
              </a:rPr>
              <a:t>Q</a:t>
            </a:r>
            <a:endParaRPr lang="en-US" sz="4000" b="1">
              <a:solidFill>
                <a:srgbClr val="0000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6" name="Google Shape;276;p19"/>
          <p:cNvSpPr txBox="1"/>
          <p:nvPr/>
        </p:nvSpPr>
        <p:spPr>
          <a:xfrm>
            <a:off x="8286750" y="4079875"/>
            <a:ext cx="571500" cy="7016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0000CC"/>
                </a:solidFill>
                <a:latin typeface="Times New Roman" panose="02020603050405020304"/>
                <a:ea typeface="Times New Roman" panose="02020603050405020304"/>
                <a:cs typeface="Times New Roman" panose="02020603050405020304"/>
                <a:sym typeface="Times New Roman" panose="02020603050405020304"/>
              </a:rPr>
              <a:t>P</a:t>
            </a:r>
            <a:endParaRPr lang="en-US" sz="4000" b="1">
              <a:solidFill>
                <a:srgbClr val="0000CC"/>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2"/>
                                        </p:tgtEl>
                                        <p:attrNameLst>
                                          <p:attrName>style.visibility</p:attrName>
                                        </p:attrNameLst>
                                      </p:cBhvr>
                                      <p:to>
                                        <p:strVal val="visible"/>
                                      </p:to>
                                    </p:set>
                                    <p:animEffect transition="in" filter="fade">
                                      <p:cBhvr>
                                        <p:cTn id="7" dur="500"/>
                                        <p:tgtEl>
                                          <p:spTgt spid="2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80" name="Shape 280"/>
        <p:cNvGrpSpPr/>
        <p:nvPr/>
      </p:nvGrpSpPr>
      <p:grpSpPr>
        <a:xfrm>
          <a:off x="0" y="0"/>
          <a:ext cx="0" cy="0"/>
          <a:chOff x="0" y="0"/>
          <a:chExt cx="0" cy="0"/>
        </a:xfrm>
      </p:grpSpPr>
      <p:sp>
        <p:nvSpPr>
          <p:cNvPr id="281" name="Google Shape;281;p20"/>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dk1"/>
              </a:buClr>
              <a:buSzPts val="3200"/>
              <a:buNone/>
            </a:pPr>
            <a:r>
              <a:rPr lang="en-US" b="1"/>
              <a:t>PHIẾU HỌC TẬP SỐ 2</a:t>
            </a:r>
            <a:endParaRPr lang="en-US" b="1"/>
          </a:p>
          <a:p>
            <a:pPr marL="342900" lvl="0" indent="-342900" algn="l" rtl="0">
              <a:spcBef>
                <a:spcPts val="640"/>
              </a:spcBef>
              <a:spcAft>
                <a:spcPts val="0"/>
              </a:spcAft>
              <a:buClr>
                <a:schemeClr val="dk1"/>
              </a:buClr>
              <a:buSzPts val="3200"/>
              <a:buChar char="•"/>
            </a:pPr>
            <a:r>
              <a:rPr lang="en-US"/>
              <a:t>Sóng dừng là gì? Khi nào thì có sóng dừng?</a:t>
            </a:r>
            <a:endParaRPr lang="en-US"/>
          </a:p>
          <a:p>
            <a:pPr marL="342900" lvl="0" indent="-342900" algn="l" rtl="0">
              <a:spcBef>
                <a:spcPts val="640"/>
              </a:spcBef>
              <a:spcAft>
                <a:spcPts val="0"/>
              </a:spcAft>
              <a:buClr>
                <a:schemeClr val="dk1"/>
              </a:buClr>
              <a:buSzPts val="3200"/>
              <a:buChar char="•"/>
            </a:pPr>
            <a:r>
              <a:rPr lang="en-US"/>
              <a:t>Giải thích sự hình thành sóng dừng? Nút sóng là gì? Bụng sóng là gì? Các nút và bụng có đặc điểm gì?</a:t>
            </a:r>
            <a:endParaRPr lang="en-US"/>
          </a:p>
          <a:p>
            <a:pPr marL="342900" lvl="0" indent="-139700" algn="l" rtl="0">
              <a:spcBef>
                <a:spcPts val="640"/>
              </a:spcBef>
              <a:spcAft>
                <a:spcPts val="0"/>
              </a:spcAft>
              <a:buClr>
                <a:schemeClr val="dk1"/>
              </a:buClr>
              <a:buSzPts val="3200"/>
              <a:buNone/>
            </a:pPr>
          </a:p>
        </p:txBody>
      </p:sp>
      <p:sp>
        <p:nvSpPr>
          <p:cNvPr id="282" name="Google Shape;282;p20"/>
          <p:cNvSpPr/>
          <p:nvPr>
            <p:ph type="title"/>
          </p:nvPr>
        </p:nvSpPr>
        <p:spPr>
          <a:xfrm>
            <a:off x="457200" y="274638"/>
            <a:ext cx="8229600" cy="1143000"/>
          </a:xfrm>
          <a:prstGeom prst="horizontalScroll">
            <a:avLst>
              <a:gd name="adj" fmla="val 12500"/>
            </a:avLst>
          </a:prstGeom>
          <a:solidFill>
            <a:srgbClr val="DAE5F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FC7876"/>
              </a:buClr>
              <a:buSzPts val="3600"/>
              <a:buFont typeface="Times New Roman" panose="02020603050405020304"/>
              <a:buNone/>
            </a:pPr>
            <a:r>
              <a:rPr lang="en-US" sz="3600" b="1" cap="none">
                <a:solidFill>
                  <a:srgbClr val="FC7876"/>
                </a:solidFill>
                <a:latin typeface="Times New Roman" panose="02020603050405020304"/>
                <a:ea typeface="Times New Roman" panose="02020603050405020304"/>
                <a:cs typeface="Times New Roman" panose="02020603050405020304"/>
                <a:sym typeface="Times New Roman" panose="02020603050405020304"/>
              </a:rPr>
              <a:t>BÀI SÓNG DỪNG</a:t>
            </a:r>
            <a:endParaRPr sz="3600" b="1" cap="none">
              <a:solidFill>
                <a:srgbClr val="FC7876"/>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86" name="Shape 286"/>
        <p:cNvGrpSpPr/>
        <p:nvPr/>
      </p:nvGrpSpPr>
      <p:grpSpPr>
        <a:xfrm>
          <a:off x="0" y="0"/>
          <a:ext cx="0" cy="0"/>
          <a:chOff x="0" y="0"/>
          <a:chExt cx="0" cy="0"/>
        </a:xfrm>
      </p:grpSpPr>
      <p:sp>
        <p:nvSpPr>
          <p:cNvPr id="287" name="Google Shape;287;p21"/>
          <p:cNvSpPr/>
          <p:nvPr/>
        </p:nvSpPr>
        <p:spPr>
          <a:xfrm>
            <a:off x="457200" y="0"/>
            <a:ext cx="4208203"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4400" b="1">
                <a:solidFill>
                  <a:srgbClr val="FF00FF"/>
                </a:solidFill>
                <a:latin typeface="Times New Roman" panose="02020603050405020304"/>
                <a:ea typeface="Times New Roman" panose="02020603050405020304"/>
                <a:cs typeface="Times New Roman" panose="02020603050405020304"/>
                <a:sym typeface="Times New Roman" panose="02020603050405020304"/>
              </a:rPr>
              <a:t>II.SÓNG DỪNG</a:t>
            </a:r>
            <a:endParaRPr sz="1800">
              <a:solidFill>
                <a:schemeClr val="dk1"/>
              </a:solidFill>
              <a:latin typeface="Calibri"/>
              <a:ea typeface="Calibri"/>
              <a:cs typeface="Calibri"/>
              <a:sym typeface="Calibri"/>
            </a:endParaRPr>
          </a:p>
        </p:txBody>
      </p:sp>
      <p:sp>
        <p:nvSpPr>
          <p:cNvPr id="288" name="Google Shape;288;p21"/>
          <p:cNvSpPr txBox="1"/>
          <p:nvPr/>
        </p:nvSpPr>
        <p:spPr>
          <a:xfrm>
            <a:off x="172625" y="769441"/>
            <a:ext cx="8985556"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1">
                <a:solidFill>
                  <a:srgbClr val="002060"/>
                </a:solidFill>
                <a:latin typeface="Times New Roman" panose="02020603050405020304"/>
                <a:ea typeface="Times New Roman" panose="02020603050405020304"/>
                <a:cs typeface="Times New Roman" panose="02020603050405020304"/>
                <a:sym typeface="Times New Roman" panose="02020603050405020304"/>
              </a:rPr>
              <a:t>Sóng dừng là sự kết hợp giữa sóng tới và sóng phản xạ, kết quả là xuất hiện các nút sóng và bụng sóng cố định trong không gian.</a:t>
            </a:r>
            <a:endParaRPr lang="en-US" sz="2400" b="1" i="1">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2400" b="1" i="1">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400" b="1" i="1">
                <a:solidFill>
                  <a:srgbClr val="FF0000"/>
                </a:solidFill>
                <a:latin typeface="Times New Roman" panose="02020603050405020304"/>
                <a:ea typeface="Times New Roman" panose="02020603050405020304"/>
                <a:cs typeface="Times New Roman" panose="02020603050405020304"/>
                <a:sym typeface="Times New Roman" panose="02020603050405020304"/>
              </a:rPr>
              <a:t>Chú ý: Sóng dừng là một trường hợp đặc biệt của  giao thoa sóng</a:t>
            </a:r>
            <a:endParaRPr sz="2400" b="1" i="1">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89" name="Google Shape;289;p21"/>
          <p:cNvGrpSpPr/>
          <p:nvPr/>
        </p:nvGrpSpPr>
        <p:grpSpPr>
          <a:xfrm>
            <a:off x="609600" y="2895600"/>
            <a:ext cx="8761412" cy="3033713"/>
            <a:chOff x="384" y="1008"/>
            <a:chExt cx="5519" cy="1911"/>
          </a:xfrm>
        </p:grpSpPr>
        <p:grpSp>
          <p:nvGrpSpPr>
            <p:cNvPr id="290" name="Google Shape;290;p21"/>
            <p:cNvGrpSpPr/>
            <p:nvPr/>
          </p:nvGrpSpPr>
          <p:grpSpPr>
            <a:xfrm>
              <a:off x="384" y="1008"/>
              <a:ext cx="5184" cy="1621"/>
              <a:chOff x="384" y="1008"/>
              <a:chExt cx="5184" cy="1621"/>
            </a:xfrm>
          </p:grpSpPr>
          <p:grpSp>
            <p:nvGrpSpPr>
              <p:cNvPr id="291" name="Google Shape;291;p21"/>
              <p:cNvGrpSpPr/>
              <p:nvPr/>
            </p:nvGrpSpPr>
            <p:grpSpPr>
              <a:xfrm>
                <a:off x="384" y="1680"/>
                <a:ext cx="5184" cy="949"/>
                <a:chOff x="576" y="1776"/>
                <a:chExt cx="5184" cy="949"/>
              </a:xfrm>
            </p:grpSpPr>
            <p:grpSp>
              <p:nvGrpSpPr>
                <p:cNvPr id="292" name="Google Shape;292;p21"/>
                <p:cNvGrpSpPr/>
                <p:nvPr/>
              </p:nvGrpSpPr>
              <p:grpSpPr>
                <a:xfrm>
                  <a:off x="1057" y="1837"/>
                  <a:ext cx="4125" cy="709"/>
                  <a:chOff x="1296" y="672"/>
                  <a:chExt cx="3855" cy="630"/>
                </a:xfrm>
              </p:grpSpPr>
              <p:grpSp>
                <p:nvGrpSpPr>
                  <p:cNvPr id="293" name="Google Shape;293;p21"/>
                  <p:cNvGrpSpPr/>
                  <p:nvPr/>
                </p:nvGrpSpPr>
                <p:grpSpPr>
                  <a:xfrm>
                    <a:off x="1296" y="672"/>
                    <a:ext cx="960" cy="630"/>
                    <a:chOff x="1341" y="492"/>
                    <a:chExt cx="1728" cy="1134"/>
                  </a:xfrm>
                </p:grpSpPr>
                <p:cxnSp>
                  <p:nvCxnSpPr>
                    <p:cNvPr id="294" name="Google Shape;294;p21"/>
                    <p:cNvCxnSpPr/>
                    <p:nvPr/>
                  </p:nvCxnSpPr>
                  <p:spPr>
                    <a:xfrm>
                      <a:off x="1342" y="1056"/>
                      <a:ext cx="1727" cy="0"/>
                    </a:xfrm>
                    <a:prstGeom prst="straightConnector1">
                      <a:avLst/>
                    </a:prstGeom>
                    <a:noFill/>
                    <a:ln w="19050" cap="flat" cmpd="sng">
                      <a:solidFill>
                        <a:srgbClr val="FF3300"/>
                      </a:solidFill>
                      <a:prstDash val="solid"/>
                      <a:round/>
                      <a:headEnd type="none" w="med" len="med"/>
                      <a:tailEnd type="none" w="med" len="med"/>
                    </a:ln>
                  </p:spPr>
                </p:cxnSp>
                <p:grpSp>
                  <p:nvGrpSpPr>
                    <p:cNvPr id="295" name="Google Shape;295;p21"/>
                    <p:cNvGrpSpPr/>
                    <p:nvPr/>
                  </p:nvGrpSpPr>
                  <p:grpSpPr>
                    <a:xfrm>
                      <a:off x="1341" y="492"/>
                      <a:ext cx="1728" cy="564"/>
                      <a:chOff x="1344" y="492"/>
                      <a:chExt cx="1728" cy="564"/>
                    </a:xfrm>
                  </p:grpSpPr>
                  <p:sp>
                    <p:nvSpPr>
                      <p:cNvPr id="296" name="Google Shape;296;p21"/>
                      <p:cNvSpPr/>
                      <p:nvPr/>
                    </p:nvSpPr>
                    <p:spPr>
                      <a:xfrm>
                        <a:off x="1344" y="960"/>
                        <a:ext cx="1728" cy="96"/>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7" name="Google Shape;297;p21"/>
                      <p:cNvSpPr/>
                      <p:nvPr/>
                    </p:nvSpPr>
                    <p:spPr>
                      <a:xfrm>
                        <a:off x="1344" y="858"/>
                        <a:ext cx="1728" cy="19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8" name="Google Shape;298;p21"/>
                      <p:cNvSpPr/>
                      <p:nvPr/>
                    </p:nvSpPr>
                    <p:spPr>
                      <a:xfrm>
                        <a:off x="1344" y="738"/>
                        <a:ext cx="1728" cy="31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9" name="Google Shape;299;p21"/>
                      <p:cNvSpPr/>
                      <p:nvPr/>
                    </p:nvSpPr>
                    <p:spPr>
                      <a:xfrm>
                        <a:off x="1344" y="618"/>
                        <a:ext cx="1728" cy="43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0" name="Google Shape;300;p21"/>
                      <p:cNvSpPr/>
                      <p:nvPr/>
                    </p:nvSpPr>
                    <p:spPr>
                      <a:xfrm>
                        <a:off x="1344" y="492"/>
                        <a:ext cx="1728" cy="564"/>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301" name="Google Shape;301;p21"/>
                    <p:cNvGrpSpPr/>
                    <p:nvPr/>
                  </p:nvGrpSpPr>
                  <p:grpSpPr>
                    <a:xfrm rot="10800000" flipH="1">
                      <a:off x="1341" y="1062"/>
                      <a:ext cx="1728" cy="564"/>
                      <a:chOff x="1344" y="492"/>
                      <a:chExt cx="1728" cy="564"/>
                    </a:xfrm>
                  </p:grpSpPr>
                  <p:sp>
                    <p:nvSpPr>
                      <p:cNvPr id="302" name="Google Shape;302;p21"/>
                      <p:cNvSpPr/>
                      <p:nvPr/>
                    </p:nvSpPr>
                    <p:spPr>
                      <a:xfrm>
                        <a:off x="1344" y="960"/>
                        <a:ext cx="1728" cy="96"/>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3" name="Google Shape;303;p21"/>
                      <p:cNvSpPr/>
                      <p:nvPr/>
                    </p:nvSpPr>
                    <p:spPr>
                      <a:xfrm>
                        <a:off x="1344" y="858"/>
                        <a:ext cx="1728" cy="19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4" name="Google Shape;304;p21"/>
                      <p:cNvSpPr/>
                      <p:nvPr/>
                    </p:nvSpPr>
                    <p:spPr>
                      <a:xfrm>
                        <a:off x="1344" y="738"/>
                        <a:ext cx="1728" cy="31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5" name="Google Shape;305;p21"/>
                      <p:cNvSpPr/>
                      <p:nvPr/>
                    </p:nvSpPr>
                    <p:spPr>
                      <a:xfrm>
                        <a:off x="1344" y="618"/>
                        <a:ext cx="1728" cy="43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6" name="Google Shape;306;p21"/>
                      <p:cNvSpPr/>
                      <p:nvPr/>
                    </p:nvSpPr>
                    <p:spPr>
                      <a:xfrm>
                        <a:off x="1344" y="492"/>
                        <a:ext cx="1728" cy="564"/>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grpSp>
                <p:nvGrpSpPr>
                  <p:cNvPr id="307" name="Google Shape;307;p21"/>
                  <p:cNvGrpSpPr/>
                  <p:nvPr/>
                </p:nvGrpSpPr>
                <p:grpSpPr>
                  <a:xfrm>
                    <a:off x="2259" y="672"/>
                    <a:ext cx="960" cy="630"/>
                    <a:chOff x="1341" y="492"/>
                    <a:chExt cx="1728" cy="1134"/>
                  </a:xfrm>
                </p:grpSpPr>
                <p:cxnSp>
                  <p:nvCxnSpPr>
                    <p:cNvPr id="308" name="Google Shape;308;p21"/>
                    <p:cNvCxnSpPr/>
                    <p:nvPr/>
                  </p:nvCxnSpPr>
                  <p:spPr>
                    <a:xfrm>
                      <a:off x="1342" y="1056"/>
                      <a:ext cx="1727" cy="0"/>
                    </a:xfrm>
                    <a:prstGeom prst="straightConnector1">
                      <a:avLst/>
                    </a:prstGeom>
                    <a:noFill/>
                    <a:ln w="19050" cap="flat" cmpd="sng">
                      <a:solidFill>
                        <a:srgbClr val="FF3300"/>
                      </a:solidFill>
                      <a:prstDash val="solid"/>
                      <a:round/>
                      <a:headEnd type="none" w="med" len="med"/>
                      <a:tailEnd type="none" w="med" len="med"/>
                    </a:ln>
                  </p:spPr>
                </p:cxnSp>
                <p:grpSp>
                  <p:nvGrpSpPr>
                    <p:cNvPr id="309" name="Google Shape;309;p21"/>
                    <p:cNvGrpSpPr/>
                    <p:nvPr/>
                  </p:nvGrpSpPr>
                  <p:grpSpPr>
                    <a:xfrm>
                      <a:off x="1341" y="492"/>
                      <a:ext cx="1728" cy="564"/>
                      <a:chOff x="1344" y="492"/>
                      <a:chExt cx="1728" cy="564"/>
                    </a:xfrm>
                  </p:grpSpPr>
                  <p:sp>
                    <p:nvSpPr>
                      <p:cNvPr id="310" name="Google Shape;310;p21"/>
                      <p:cNvSpPr/>
                      <p:nvPr/>
                    </p:nvSpPr>
                    <p:spPr>
                      <a:xfrm>
                        <a:off x="1344" y="960"/>
                        <a:ext cx="1728" cy="96"/>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1" name="Google Shape;311;p21"/>
                      <p:cNvSpPr/>
                      <p:nvPr/>
                    </p:nvSpPr>
                    <p:spPr>
                      <a:xfrm>
                        <a:off x="1344" y="858"/>
                        <a:ext cx="1728" cy="19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2" name="Google Shape;312;p21"/>
                      <p:cNvSpPr/>
                      <p:nvPr/>
                    </p:nvSpPr>
                    <p:spPr>
                      <a:xfrm>
                        <a:off x="1344" y="738"/>
                        <a:ext cx="1728" cy="31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3" name="Google Shape;313;p21"/>
                      <p:cNvSpPr/>
                      <p:nvPr/>
                    </p:nvSpPr>
                    <p:spPr>
                      <a:xfrm>
                        <a:off x="1344" y="618"/>
                        <a:ext cx="1728" cy="43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4" name="Google Shape;314;p21"/>
                      <p:cNvSpPr/>
                      <p:nvPr/>
                    </p:nvSpPr>
                    <p:spPr>
                      <a:xfrm>
                        <a:off x="1344" y="492"/>
                        <a:ext cx="1728" cy="564"/>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315" name="Google Shape;315;p21"/>
                    <p:cNvGrpSpPr/>
                    <p:nvPr/>
                  </p:nvGrpSpPr>
                  <p:grpSpPr>
                    <a:xfrm rot="10800000" flipH="1">
                      <a:off x="1341" y="1062"/>
                      <a:ext cx="1728" cy="564"/>
                      <a:chOff x="1344" y="492"/>
                      <a:chExt cx="1728" cy="564"/>
                    </a:xfrm>
                  </p:grpSpPr>
                  <p:sp>
                    <p:nvSpPr>
                      <p:cNvPr id="316" name="Google Shape;316;p21"/>
                      <p:cNvSpPr/>
                      <p:nvPr/>
                    </p:nvSpPr>
                    <p:spPr>
                      <a:xfrm>
                        <a:off x="1344" y="960"/>
                        <a:ext cx="1728" cy="96"/>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7" name="Google Shape;317;p21"/>
                      <p:cNvSpPr/>
                      <p:nvPr/>
                    </p:nvSpPr>
                    <p:spPr>
                      <a:xfrm>
                        <a:off x="1344" y="858"/>
                        <a:ext cx="1728" cy="19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8" name="Google Shape;318;p21"/>
                      <p:cNvSpPr/>
                      <p:nvPr/>
                    </p:nvSpPr>
                    <p:spPr>
                      <a:xfrm>
                        <a:off x="1344" y="738"/>
                        <a:ext cx="1728" cy="31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9" name="Google Shape;319;p21"/>
                      <p:cNvSpPr/>
                      <p:nvPr/>
                    </p:nvSpPr>
                    <p:spPr>
                      <a:xfrm>
                        <a:off x="1344" y="618"/>
                        <a:ext cx="1728" cy="43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0" name="Google Shape;320;p21"/>
                      <p:cNvSpPr/>
                      <p:nvPr/>
                    </p:nvSpPr>
                    <p:spPr>
                      <a:xfrm>
                        <a:off x="1344" y="492"/>
                        <a:ext cx="1728" cy="564"/>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grpSp>
                <p:nvGrpSpPr>
                  <p:cNvPr id="321" name="Google Shape;321;p21"/>
                  <p:cNvGrpSpPr/>
                  <p:nvPr/>
                </p:nvGrpSpPr>
                <p:grpSpPr>
                  <a:xfrm>
                    <a:off x="3228" y="672"/>
                    <a:ext cx="960" cy="630"/>
                    <a:chOff x="1341" y="492"/>
                    <a:chExt cx="1728" cy="1134"/>
                  </a:xfrm>
                </p:grpSpPr>
                <p:cxnSp>
                  <p:nvCxnSpPr>
                    <p:cNvPr id="322" name="Google Shape;322;p21"/>
                    <p:cNvCxnSpPr/>
                    <p:nvPr/>
                  </p:nvCxnSpPr>
                  <p:spPr>
                    <a:xfrm>
                      <a:off x="1342" y="1056"/>
                      <a:ext cx="1727" cy="0"/>
                    </a:xfrm>
                    <a:prstGeom prst="straightConnector1">
                      <a:avLst/>
                    </a:prstGeom>
                    <a:noFill/>
                    <a:ln w="19050" cap="flat" cmpd="sng">
                      <a:solidFill>
                        <a:srgbClr val="FF3300"/>
                      </a:solidFill>
                      <a:prstDash val="solid"/>
                      <a:round/>
                      <a:headEnd type="none" w="med" len="med"/>
                      <a:tailEnd type="none" w="med" len="med"/>
                    </a:ln>
                  </p:spPr>
                </p:cxnSp>
                <p:grpSp>
                  <p:nvGrpSpPr>
                    <p:cNvPr id="323" name="Google Shape;323;p21"/>
                    <p:cNvGrpSpPr/>
                    <p:nvPr/>
                  </p:nvGrpSpPr>
                  <p:grpSpPr>
                    <a:xfrm>
                      <a:off x="1341" y="492"/>
                      <a:ext cx="1728" cy="564"/>
                      <a:chOff x="1344" y="492"/>
                      <a:chExt cx="1728" cy="564"/>
                    </a:xfrm>
                  </p:grpSpPr>
                  <p:sp>
                    <p:nvSpPr>
                      <p:cNvPr id="324" name="Google Shape;324;p21"/>
                      <p:cNvSpPr/>
                      <p:nvPr/>
                    </p:nvSpPr>
                    <p:spPr>
                      <a:xfrm>
                        <a:off x="1344" y="960"/>
                        <a:ext cx="1728" cy="96"/>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5" name="Google Shape;325;p21"/>
                      <p:cNvSpPr/>
                      <p:nvPr/>
                    </p:nvSpPr>
                    <p:spPr>
                      <a:xfrm>
                        <a:off x="1344" y="858"/>
                        <a:ext cx="1728" cy="19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6" name="Google Shape;326;p21"/>
                      <p:cNvSpPr/>
                      <p:nvPr/>
                    </p:nvSpPr>
                    <p:spPr>
                      <a:xfrm>
                        <a:off x="1344" y="738"/>
                        <a:ext cx="1728" cy="31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7" name="Google Shape;327;p21"/>
                      <p:cNvSpPr/>
                      <p:nvPr/>
                    </p:nvSpPr>
                    <p:spPr>
                      <a:xfrm>
                        <a:off x="1344" y="618"/>
                        <a:ext cx="1728" cy="43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8" name="Google Shape;328;p21"/>
                      <p:cNvSpPr/>
                      <p:nvPr/>
                    </p:nvSpPr>
                    <p:spPr>
                      <a:xfrm>
                        <a:off x="1344" y="492"/>
                        <a:ext cx="1728" cy="564"/>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329" name="Google Shape;329;p21"/>
                    <p:cNvGrpSpPr/>
                    <p:nvPr/>
                  </p:nvGrpSpPr>
                  <p:grpSpPr>
                    <a:xfrm rot="10800000" flipH="1">
                      <a:off x="1341" y="1062"/>
                      <a:ext cx="1728" cy="564"/>
                      <a:chOff x="1344" y="492"/>
                      <a:chExt cx="1728" cy="564"/>
                    </a:xfrm>
                  </p:grpSpPr>
                  <p:sp>
                    <p:nvSpPr>
                      <p:cNvPr id="330" name="Google Shape;330;p21"/>
                      <p:cNvSpPr/>
                      <p:nvPr/>
                    </p:nvSpPr>
                    <p:spPr>
                      <a:xfrm>
                        <a:off x="1344" y="960"/>
                        <a:ext cx="1728" cy="96"/>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1" name="Google Shape;331;p21"/>
                      <p:cNvSpPr/>
                      <p:nvPr/>
                    </p:nvSpPr>
                    <p:spPr>
                      <a:xfrm>
                        <a:off x="1344" y="858"/>
                        <a:ext cx="1728" cy="19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2" name="Google Shape;332;p21"/>
                      <p:cNvSpPr/>
                      <p:nvPr/>
                    </p:nvSpPr>
                    <p:spPr>
                      <a:xfrm>
                        <a:off x="1344" y="738"/>
                        <a:ext cx="1728" cy="31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3" name="Google Shape;333;p21"/>
                      <p:cNvSpPr/>
                      <p:nvPr/>
                    </p:nvSpPr>
                    <p:spPr>
                      <a:xfrm>
                        <a:off x="1344" y="618"/>
                        <a:ext cx="1728" cy="43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4" name="Google Shape;334;p21"/>
                      <p:cNvSpPr/>
                      <p:nvPr/>
                    </p:nvSpPr>
                    <p:spPr>
                      <a:xfrm>
                        <a:off x="1344" y="492"/>
                        <a:ext cx="1728" cy="564"/>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grpSp>
                <p:nvGrpSpPr>
                  <p:cNvPr id="335" name="Google Shape;335;p21"/>
                  <p:cNvGrpSpPr/>
                  <p:nvPr/>
                </p:nvGrpSpPr>
                <p:grpSpPr>
                  <a:xfrm>
                    <a:off x="4191" y="672"/>
                    <a:ext cx="960" cy="630"/>
                    <a:chOff x="1341" y="492"/>
                    <a:chExt cx="1728" cy="1134"/>
                  </a:xfrm>
                </p:grpSpPr>
                <p:cxnSp>
                  <p:nvCxnSpPr>
                    <p:cNvPr id="336" name="Google Shape;336;p21"/>
                    <p:cNvCxnSpPr/>
                    <p:nvPr/>
                  </p:nvCxnSpPr>
                  <p:spPr>
                    <a:xfrm>
                      <a:off x="1342" y="1056"/>
                      <a:ext cx="1727" cy="0"/>
                    </a:xfrm>
                    <a:prstGeom prst="straightConnector1">
                      <a:avLst/>
                    </a:prstGeom>
                    <a:noFill/>
                    <a:ln w="19050" cap="flat" cmpd="sng">
                      <a:solidFill>
                        <a:srgbClr val="FF3300"/>
                      </a:solidFill>
                      <a:prstDash val="solid"/>
                      <a:round/>
                      <a:headEnd type="none" w="med" len="med"/>
                      <a:tailEnd type="none" w="med" len="med"/>
                    </a:ln>
                  </p:spPr>
                </p:cxnSp>
                <p:grpSp>
                  <p:nvGrpSpPr>
                    <p:cNvPr id="337" name="Google Shape;337;p21"/>
                    <p:cNvGrpSpPr/>
                    <p:nvPr/>
                  </p:nvGrpSpPr>
                  <p:grpSpPr>
                    <a:xfrm>
                      <a:off x="1341" y="492"/>
                      <a:ext cx="1728" cy="564"/>
                      <a:chOff x="1344" y="492"/>
                      <a:chExt cx="1728" cy="564"/>
                    </a:xfrm>
                  </p:grpSpPr>
                  <p:sp>
                    <p:nvSpPr>
                      <p:cNvPr id="338" name="Google Shape;338;p21"/>
                      <p:cNvSpPr/>
                      <p:nvPr/>
                    </p:nvSpPr>
                    <p:spPr>
                      <a:xfrm>
                        <a:off x="1344" y="960"/>
                        <a:ext cx="1728" cy="96"/>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9" name="Google Shape;339;p21"/>
                      <p:cNvSpPr/>
                      <p:nvPr/>
                    </p:nvSpPr>
                    <p:spPr>
                      <a:xfrm>
                        <a:off x="1344" y="858"/>
                        <a:ext cx="1728" cy="19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0" name="Google Shape;340;p21"/>
                      <p:cNvSpPr/>
                      <p:nvPr/>
                    </p:nvSpPr>
                    <p:spPr>
                      <a:xfrm>
                        <a:off x="1344" y="738"/>
                        <a:ext cx="1728" cy="31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1" name="Google Shape;341;p21"/>
                      <p:cNvSpPr/>
                      <p:nvPr/>
                    </p:nvSpPr>
                    <p:spPr>
                      <a:xfrm>
                        <a:off x="1344" y="618"/>
                        <a:ext cx="1728" cy="43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2" name="Google Shape;342;p21"/>
                      <p:cNvSpPr/>
                      <p:nvPr/>
                    </p:nvSpPr>
                    <p:spPr>
                      <a:xfrm>
                        <a:off x="1344" y="492"/>
                        <a:ext cx="1728" cy="564"/>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343" name="Google Shape;343;p21"/>
                    <p:cNvGrpSpPr/>
                    <p:nvPr/>
                  </p:nvGrpSpPr>
                  <p:grpSpPr>
                    <a:xfrm rot="10800000" flipH="1">
                      <a:off x="1341" y="1062"/>
                      <a:ext cx="1728" cy="564"/>
                      <a:chOff x="1344" y="492"/>
                      <a:chExt cx="1728" cy="564"/>
                    </a:xfrm>
                  </p:grpSpPr>
                  <p:sp>
                    <p:nvSpPr>
                      <p:cNvPr id="344" name="Google Shape;344;p21"/>
                      <p:cNvSpPr/>
                      <p:nvPr/>
                    </p:nvSpPr>
                    <p:spPr>
                      <a:xfrm>
                        <a:off x="1344" y="960"/>
                        <a:ext cx="1728" cy="96"/>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5" name="Google Shape;345;p21"/>
                      <p:cNvSpPr/>
                      <p:nvPr/>
                    </p:nvSpPr>
                    <p:spPr>
                      <a:xfrm>
                        <a:off x="1344" y="858"/>
                        <a:ext cx="1728" cy="19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6" name="Google Shape;346;p21"/>
                      <p:cNvSpPr/>
                      <p:nvPr/>
                    </p:nvSpPr>
                    <p:spPr>
                      <a:xfrm>
                        <a:off x="1344" y="738"/>
                        <a:ext cx="1728" cy="31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7" name="Google Shape;347;p21"/>
                      <p:cNvSpPr/>
                      <p:nvPr/>
                    </p:nvSpPr>
                    <p:spPr>
                      <a:xfrm>
                        <a:off x="1344" y="618"/>
                        <a:ext cx="1728" cy="438"/>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8" name="Google Shape;348;p21"/>
                      <p:cNvSpPr/>
                      <p:nvPr/>
                    </p:nvSpPr>
                    <p:spPr>
                      <a:xfrm>
                        <a:off x="1344" y="492"/>
                        <a:ext cx="1728" cy="564"/>
                      </a:xfrm>
                      <a:custGeom>
                        <a:avLst/>
                        <a:gdLst/>
                        <a:ahLst/>
                        <a:cxnLst/>
                        <a:rect l="l" t="t" r="r" b="b"/>
                        <a:pathLst>
                          <a:path w="1728" h="240" extrusionOk="0">
                            <a:moveTo>
                              <a:pt x="0" y="240"/>
                            </a:moveTo>
                            <a:cubicBezTo>
                              <a:pt x="288" y="120"/>
                              <a:pt x="576" y="0"/>
                              <a:pt x="864" y="0"/>
                            </a:cubicBezTo>
                            <a:cubicBezTo>
                              <a:pt x="1152" y="0"/>
                              <a:pt x="1440" y="120"/>
                              <a:pt x="1728" y="240"/>
                            </a:cubicBezTo>
                          </a:path>
                        </a:pathLst>
                      </a:custGeom>
                      <a:noFill/>
                      <a:ln w="19050"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grpSp>
            <p:grpSp>
              <p:nvGrpSpPr>
                <p:cNvPr id="349" name="Google Shape;349;p21"/>
                <p:cNvGrpSpPr/>
                <p:nvPr/>
              </p:nvGrpSpPr>
              <p:grpSpPr>
                <a:xfrm>
                  <a:off x="932" y="1789"/>
                  <a:ext cx="125" cy="805"/>
                  <a:chOff x="1152" y="1968"/>
                  <a:chExt cx="240" cy="930"/>
                </a:xfrm>
              </p:grpSpPr>
              <p:sp>
                <p:nvSpPr>
                  <p:cNvPr id="350" name="Google Shape;350;p21"/>
                  <p:cNvSpPr/>
                  <p:nvPr/>
                </p:nvSpPr>
                <p:spPr>
                  <a:xfrm>
                    <a:off x="1152" y="1968"/>
                    <a:ext cx="240" cy="912"/>
                  </a:xfrm>
                  <a:prstGeom prst="rect">
                    <a:avLst/>
                  </a:prstGeom>
                  <a:solidFill>
                    <a:schemeClr val="lt1"/>
                  </a:solidFill>
                  <a:ln w="9525" cap="flat" cmpd="sng">
                    <a:solidFill>
                      <a:srgbClr val="FF33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003300"/>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351" name="Google Shape;351;p21"/>
                  <p:cNvCxnSpPr/>
                  <p:nvPr/>
                </p:nvCxnSpPr>
                <p:spPr>
                  <a:xfrm>
                    <a:off x="1392" y="1968"/>
                    <a:ext cx="0" cy="930"/>
                  </a:xfrm>
                  <a:prstGeom prst="straightConnector1">
                    <a:avLst/>
                  </a:prstGeom>
                  <a:noFill/>
                  <a:ln w="38100" cap="flat" cmpd="sng">
                    <a:solidFill>
                      <a:srgbClr val="FF3300"/>
                    </a:solidFill>
                    <a:prstDash val="solid"/>
                    <a:round/>
                    <a:headEnd type="none" w="med" len="med"/>
                    <a:tailEnd type="none" w="med" len="med"/>
                  </a:ln>
                </p:spPr>
              </p:cxnSp>
            </p:grpSp>
            <p:sp>
              <p:nvSpPr>
                <p:cNvPr id="352" name="Google Shape;352;p21"/>
                <p:cNvSpPr txBox="1"/>
                <p:nvPr/>
              </p:nvSpPr>
              <p:spPr>
                <a:xfrm>
                  <a:off x="576" y="1776"/>
                  <a:ext cx="446" cy="44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003300"/>
                      </a:solidFill>
                      <a:latin typeface="Times New Roman" panose="02020603050405020304"/>
                      <a:ea typeface="Times New Roman" panose="02020603050405020304"/>
                      <a:cs typeface="Times New Roman" panose="02020603050405020304"/>
                      <a:sym typeface="Times New Roman" panose="02020603050405020304"/>
                    </a:rPr>
                    <a:t>Q</a:t>
                  </a:r>
                  <a:endParaRPr lang="en-US" sz="4000" b="1">
                    <a:solidFill>
                      <a:srgbClr val="0033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53" name="Google Shape;353;p21"/>
                <p:cNvSpPr txBox="1"/>
                <p:nvPr/>
              </p:nvSpPr>
              <p:spPr>
                <a:xfrm>
                  <a:off x="5314" y="1826"/>
                  <a:ext cx="446" cy="44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003300"/>
                      </a:solidFill>
                      <a:latin typeface="Times New Roman" panose="02020603050405020304"/>
                      <a:ea typeface="Times New Roman" panose="02020603050405020304"/>
                      <a:cs typeface="Times New Roman" panose="02020603050405020304"/>
                      <a:sym typeface="Times New Roman" panose="02020603050405020304"/>
                    </a:rPr>
                    <a:t>P</a:t>
                  </a:r>
                  <a:endParaRPr lang="en-US" sz="4000" b="1">
                    <a:solidFill>
                      <a:srgbClr val="003300"/>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354" name="Google Shape;354;p21"/>
                <p:cNvGrpSpPr/>
                <p:nvPr/>
              </p:nvGrpSpPr>
              <p:grpSpPr>
                <a:xfrm>
                  <a:off x="5184" y="1920"/>
                  <a:ext cx="125" cy="805"/>
                  <a:chOff x="1152" y="1968"/>
                  <a:chExt cx="240" cy="930"/>
                </a:xfrm>
              </p:grpSpPr>
              <p:sp>
                <p:nvSpPr>
                  <p:cNvPr id="355" name="Google Shape;355;p21"/>
                  <p:cNvSpPr/>
                  <p:nvPr/>
                </p:nvSpPr>
                <p:spPr>
                  <a:xfrm>
                    <a:off x="1152" y="1968"/>
                    <a:ext cx="240" cy="912"/>
                  </a:xfrm>
                  <a:prstGeom prst="rect">
                    <a:avLst/>
                  </a:prstGeom>
                  <a:solidFill>
                    <a:schemeClr val="lt1"/>
                  </a:solidFill>
                  <a:ln w="9525" cap="flat" cmpd="sng">
                    <a:solidFill>
                      <a:srgbClr val="FF33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003300"/>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356" name="Google Shape;356;p21"/>
                  <p:cNvCxnSpPr/>
                  <p:nvPr/>
                </p:nvCxnSpPr>
                <p:spPr>
                  <a:xfrm>
                    <a:off x="1392" y="1968"/>
                    <a:ext cx="0" cy="930"/>
                  </a:xfrm>
                  <a:prstGeom prst="straightConnector1">
                    <a:avLst/>
                  </a:prstGeom>
                  <a:noFill/>
                  <a:ln w="38100" cap="flat" cmpd="sng">
                    <a:solidFill>
                      <a:srgbClr val="FF3300"/>
                    </a:solidFill>
                    <a:prstDash val="solid"/>
                    <a:round/>
                    <a:headEnd type="none" w="med" len="med"/>
                    <a:tailEnd type="none" w="med" len="med"/>
                  </a:ln>
                </p:spPr>
              </p:cxnSp>
            </p:grpSp>
          </p:grpSp>
          <p:grpSp>
            <p:nvGrpSpPr>
              <p:cNvPr id="357" name="Google Shape;357;p21"/>
              <p:cNvGrpSpPr/>
              <p:nvPr/>
            </p:nvGrpSpPr>
            <p:grpSpPr>
              <a:xfrm>
                <a:off x="1296" y="1632"/>
                <a:ext cx="1075" cy="461"/>
                <a:chOff x="2064" y="1872"/>
                <a:chExt cx="1075" cy="461"/>
              </a:xfrm>
            </p:grpSpPr>
            <p:grpSp>
              <p:nvGrpSpPr>
                <p:cNvPr id="358" name="Google Shape;358;p21"/>
                <p:cNvGrpSpPr/>
                <p:nvPr/>
              </p:nvGrpSpPr>
              <p:grpSpPr>
                <a:xfrm>
                  <a:off x="2064" y="1872"/>
                  <a:ext cx="1059" cy="461"/>
                  <a:chOff x="1926" y="2736"/>
                  <a:chExt cx="1039" cy="960"/>
                </a:xfrm>
              </p:grpSpPr>
              <p:cxnSp>
                <p:nvCxnSpPr>
                  <p:cNvPr id="359" name="Google Shape;359;p21"/>
                  <p:cNvCxnSpPr/>
                  <p:nvPr/>
                </p:nvCxnSpPr>
                <p:spPr>
                  <a:xfrm>
                    <a:off x="1926" y="2736"/>
                    <a:ext cx="0" cy="960"/>
                  </a:xfrm>
                  <a:prstGeom prst="straightConnector1">
                    <a:avLst/>
                  </a:prstGeom>
                  <a:noFill/>
                  <a:ln w="9525" cap="flat" cmpd="sng">
                    <a:solidFill>
                      <a:srgbClr val="FF3300"/>
                    </a:solidFill>
                    <a:prstDash val="solid"/>
                    <a:round/>
                    <a:headEnd type="none" w="med" len="med"/>
                    <a:tailEnd type="none" w="med" len="med"/>
                  </a:ln>
                </p:spPr>
              </p:cxnSp>
              <p:cxnSp>
                <p:nvCxnSpPr>
                  <p:cNvPr id="360" name="Google Shape;360;p21"/>
                  <p:cNvCxnSpPr/>
                  <p:nvPr/>
                </p:nvCxnSpPr>
                <p:spPr>
                  <a:xfrm>
                    <a:off x="2965" y="2736"/>
                    <a:ext cx="0" cy="960"/>
                  </a:xfrm>
                  <a:prstGeom prst="straightConnector1">
                    <a:avLst/>
                  </a:prstGeom>
                  <a:noFill/>
                  <a:ln w="9525" cap="flat" cmpd="sng">
                    <a:solidFill>
                      <a:srgbClr val="FF3300"/>
                    </a:solidFill>
                    <a:prstDash val="solid"/>
                    <a:round/>
                    <a:headEnd type="none" w="med" len="med"/>
                    <a:tailEnd type="none" w="med" len="med"/>
                  </a:ln>
                </p:spPr>
              </p:cxnSp>
            </p:grpSp>
            <p:cxnSp>
              <p:nvCxnSpPr>
                <p:cNvPr id="361" name="Google Shape;361;p21"/>
                <p:cNvCxnSpPr/>
                <p:nvPr/>
              </p:nvCxnSpPr>
              <p:spPr>
                <a:xfrm>
                  <a:off x="2064" y="1920"/>
                  <a:ext cx="1075" cy="0"/>
                </a:xfrm>
                <a:prstGeom prst="straightConnector1">
                  <a:avLst/>
                </a:prstGeom>
                <a:noFill/>
                <a:ln w="9525" cap="flat" cmpd="sng">
                  <a:solidFill>
                    <a:srgbClr val="FF3300"/>
                  </a:solidFill>
                  <a:prstDash val="solid"/>
                  <a:round/>
                  <a:headEnd type="triangle" w="med" len="med"/>
                  <a:tailEnd type="triangle" w="med" len="med"/>
                </a:ln>
              </p:spPr>
            </p:cxnSp>
          </p:grpSp>
          <p:pic>
            <p:nvPicPr>
              <p:cNvPr id="362" name="Google Shape;362;p21"/>
              <p:cNvPicPr preferRelativeResize="0"/>
              <p:nvPr/>
            </p:nvPicPr>
            <p:blipFill rotWithShape="1">
              <a:blip r:embed="rId1"/>
              <a:srcRect/>
              <a:stretch>
                <a:fillRect/>
              </a:stretch>
            </p:blipFill>
            <p:spPr>
              <a:xfrm>
                <a:off x="1680" y="1056"/>
                <a:ext cx="262" cy="624"/>
              </a:xfrm>
              <a:prstGeom prst="rect">
                <a:avLst/>
              </a:prstGeom>
              <a:noFill/>
              <a:ln>
                <a:noFill/>
              </a:ln>
            </p:spPr>
          </p:pic>
          <p:grpSp>
            <p:nvGrpSpPr>
              <p:cNvPr id="363" name="Google Shape;363;p21"/>
              <p:cNvGrpSpPr/>
              <p:nvPr/>
            </p:nvGrpSpPr>
            <p:grpSpPr>
              <a:xfrm>
                <a:off x="2928" y="1632"/>
                <a:ext cx="1075" cy="461"/>
                <a:chOff x="2064" y="1872"/>
                <a:chExt cx="1075" cy="461"/>
              </a:xfrm>
            </p:grpSpPr>
            <p:grpSp>
              <p:nvGrpSpPr>
                <p:cNvPr id="364" name="Google Shape;364;p21"/>
                <p:cNvGrpSpPr/>
                <p:nvPr/>
              </p:nvGrpSpPr>
              <p:grpSpPr>
                <a:xfrm>
                  <a:off x="2064" y="1872"/>
                  <a:ext cx="1059" cy="461"/>
                  <a:chOff x="1926" y="2736"/>
                  <a:chExt cx="1039" cy="960"/>
                </a:xfrm>
              </p:grpSpPr>
              <p:cxnSp>
                <p:nvCxnSpPr>
                  <p:cNvPr id="365" name="Google Shape;365;p21"/>
                  <p:cNvCxnSpPr/>
                  <p:nvPr/>
                </p:nvCxnSpPr>
                <p:spPr>
                  <a:xfrm>
                    <a:off x="1926" y="2736"/>
                    <a:ext cx="0" cy="960"/>
                  </a:xfrm>
                  <a:prstGeom prst="straightConnector1">
                    <a:avLst/>
                  </a:prstGeom>
                  <a:noFill/>
                  <a:ln w="9525" cap="flat" cmpd="sng">
                    <a:solidFill>
                      <a:srgbClr val="FF3300"/>
                    </a:solidFill>
                    <a:prstDash val="solid"/>
                    <a:round/>
                    <a:headEnd type="none" w="med" len="med"/>
                    <a:tailEnd type="none" w="med" len="med"/>
                  </a:ln>
                </p:spPr>
              </p:cxnSp>
              <p:cxnSp>
                <p:nvCxnSpPr>
                  <p:cNvPr id="366" name="Google Shape;366;p21"/>
                  <p:cNvCxnSpPr/>
                  <p:nvPr/>
                </p:nvCxnSpPr>
                <p:spPr>
                  <a:xfrm>
                    <a:off x="2965" y="2736"/>
                    <a:ext cx="0" cy="960"/>
                  </a:xfrm>
                  <a:prstGeom prst="straightConnector1">
                    <a:avLst/>
                  </a:prstGeom>
                  <a:noFill/>
                  <a:ln w="9525" cap="flat" cmpd="sng">
                    <a:solidFill>
                      <a:srgbClr val="FF3300"/>
                    </a:solidFill>
                    <a:prstDash val="solid"/>
                    <a:round/>
                    <a:headEnd type="none" w="med" len="med"/>
                    <a:tailEnd type="none" w="med" len="med"/>
                  </a:ln>
                </p:spPr>
              </p:cxnSp>
            </p:grpSp>
            <p:cxnSp>
              <p:nvCxnSpPr>
                <p:cNvPr id="367" name="Google Shape;367;p21"/>
                <p:cNvCxnSpPr/>
                <p:nvPr/>
              </p:nvCxnSpPr>
              <p:spPr>
                <a:xfrm>
                  <a:off x="2064" y="1920"/>
                  <a:ext cx="1075" cy="0"/>
                </a:xfrm>
                <a:prstGeom prst="straightConnector1">
                  <a:avLst/>
                </a:prstGeom>
                <a:noFill/>
                <a:ln w="9525" cap="flat" cmpd="sng">
                  <a:solidFill>
                    <a:srgbClr val="FF3300"/>
                  </a:solidFill>
                  <a:prstDash val="solid"/>
                  <a:round/>
                  <a:headEnd type="triangle" w="med" len="med"/>
                  <a:tailEnd type="triangle" w="med" len="med"/>
                </a:ln>
              </p:spPr>
            </p:cxnSp>
          </p:grpSp>
          <p:pic>
            <p:nvPicPr>
              <p:cNvPr id="368" name="Google Shape;368;p21"/>
              <p:cNvPicPr preferRelativeResize="0"/>
              <p:nvPr/>
            </p:nvPicPr>
            <p:blipFill rotWithShape="1">
              <a:blip r:embed="rId1"/>
              <a:srcRect/>
              <a:stretch>
                <a:fillRect/>
              </a:stretch>
            </p:blipFill>
            <p:spPr>
              <a:xfrm>
                <a:off x="3360" y="1008"/>
                <a:ext cx="282" cy="672"/>
              </a:xfrm>
              <a:prstGeom prst="rect">
                <a:avLst/>
              </a:prstGeom>
              <a:noFill/>
              <a:ln>
                <a:noFill/>
              </a:ln>
            </p:spPr>
          </p:pic>
        </p:grpSp>
        <p:cxnSp>
          <p:nvCxnSpPr>
            <p:cNvPr id="369" name="Google Shape;369;p21"/>
            <p:cNvCxnSpPr/>
            <p:nvPr/>
          </p:nvCxnSpPr>
          <p:spPr>
            <a:xfrm>
              <a:off x="3984" y="1632"/>
              <a:ext cx="528" cy="0"/>
            </a:xfrm>
            <a:prstGeom prst="straightConnector1">
              <a:avLst/>
            </a:prstGeom>
            <a:noFill/>
            <a:ln w="9525" cap="flat" cmpd="sng">
              <a:solidFill>
                <a:schemeClr val="dk1"/>
              </a:solidFill>
              <a:prstDash val="solid"/>
              <a:round/>
              <a:headEnd type="none" w="med" len="med"/>
              <a:tailEnd type="triangle" w="med" len="med"/>
            </a:ln>
          </p:spPr>
        </p:cxnSp>
        <p:cxnSp>
          <p:nvCxnSpPr>
            <p:cNvPr id="370" name="Google Shape;370;p21"/>
            <p:cNvCxnSpPr/>
            <p:nvPr/>
          </p:nvCxnSpPr>
          <p:spPr>
            <a:xfrm>
              <a:off x="4416" y="2448"/>
              <a:ext cx="0" cy="240"/>
            </a:xfrm>
            <a:prstGeom prst="straightConnector1">
              <a:avLst/>
            </a:prstGeom>
            <a:noFill/>
            <a:ln w="9525" cap="flat" cmpd="sng">
              <a:solidFill>
                <a:schemeClr val="dk1"/>
              </a:solidFill>
              <a:prstDash val="solid"/>
              <a:round/>
              <a:headEnd type="none" w="med" len="med"/>
              <a:tailEnd type="none" w="med" len="med"/>
            </a:ln>
          </p:spPr>
        </p:cxnSp>
        <p:cxnSp>
          <p:nvCxnSpPr>
            <p:cNvPr id="371" name="Google Shape;371;p21"/>
            <p:cNvCxnSpPr/>
            <p:nvPr/>
          </p:nvCxnSpPr>
          <p:spPr>
            <a:xfrm>
              <a:off x="4416" y="2688"/>
              <a:ext cx="528" cy="0"/>
            </a:xfrm>
            <a:prstGeom prst="straightConnector1">
              <a:avLst/>
            </a:prstGeom>
            <a:noFill/>
            <a:ln w="9525" cap="flat" cmpd="sng">
              <a:solidFill>
                <a:schemeClr val="dk1"/>
              </a:solidFill>
              <a:prstDash val="solid"/>
              <a:round/>
              <a:headEnd type="none" w="med" len="med"/>
              <a:tailEnd type="triangle" w="med" len="med"/>
            </a:ln>
          </p:spPr>
        </p:cxnSp>
        <p:sp>
          <p:nvSpPr>
            <p:cNvPr id="372" name="Google Shape;372;p21"/>
            <p:cNvSpPr txBox="1"/>
            <p:nvPr/>
          </p:nvSpPr>
          <p:spPr>
            <a:xfrm>
              <a:off x="4512" y="1296"/>
              <a:ext cx="576" cy="32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003300"/>
                  </a:solidFill>
                  <a:latin typeface="Times New Roman" panose="02020603050405020304"/>
                  <a:ea typeface="Times New Roman" panose="02020603050405020304"/>
                  <a:cs typeface="Times New Roman" panose="02020603050405020304"/>
                  <a:sym typeface="Times New Roman" panose="02020603050405020304"/>
                </a:rPr>
                <a:t>Nút</a:t>
              </a:r>
              <a:endParaRPr lang="en-US" sz="2800" b="1">
                <a:solidFill>
                  <a:srgbClr val="0033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73" name="Google Shape;373;p21"/>
            <p:cNvSpPr txBox="1"/>
            <p:nvPr/>
          </p:nvSpPr>
          <p:spPr>
            <a:xfrm>
              <a:off x="4943" y="2592"/>
              <a:ext cx="960" cy="32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003300"/>
                  </a:solidFill>
                  <a:latin typeface="Times New Roman" panose="02020603050405020304"/>
                  <a:ea typeface="Times New Roman" panose="02020603050405020304"/>
                  <a:cs typeface="Times New Roman" panose="02020603050405020304"/>
                  <a:sym typeface="Times New Roman" panose="02020603050405020304"/>
                </a:rPr>
                <a:t>Bụng</a:t>
              </a:r>
              <a:endParaRPr lang="en-US" sz="2800" b="1">
                <a:solidFill>
                  <a:srgbClr val="003300"/>
                </a:solidFill>
                <a:latin typeface="Times New Roman" panose="02020603050405020304"/>
                <a:ea typeface="Times New Roman" panose="02020603050405020304"/>
                <a:cs typeface="Times New Roman" panose="02020603050405020304"/>
                <a:sym typeface="Times New Roman" panose="020206030504050203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89"/>
                                        </p:tgtEl>
                                        <p:attrNameLst>
                                          <p:attrName>style.visibility</p:attrName>
                                        </p:attrNameLst>
                                      </p:cBhvr>
                                      <p:to>
                                        <p:strVal val="visible"/>
                                      </p:to>
                                    </p:set>
                                    <p:anim calcmode="lin" valueType="num">
                                      <p:cBhvr additive="base">
                                        <p:cTn id="23" dur="500"/>
                                        <p:tgtEl>
                                          <p:spTgt spid="289"/>
                                        </p:tgtEl>
                                        <p:attrNameLst>
                                          <p:attrName>ppt_y</p:attrName>
                                        </p:attrNameLst>
                                      </p:cBhvr>
                                      <p:tavLst>
                                        <p:tav tm="0" fmla="">
                                          <p:val>
                                            <p:strVal val="#ppt_y+1"/>
                                          </p:val>
                                        </p:tav>
                                        <p:tav tm="100000" fmla="">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77" name="Shape 377"/>
        <p:cNvGrpSpPr/>
        <p:nvPr/>
      </p:nvGrpSpPr>
      <p:grpSpPr>
        <a:xfrm>
          <a:off x="0" y="0"/>
          <a:ext cx="0" cy="0"/>
          <a:chOff x="0" y="0"/>
          <a:chExt cx="0" cy="0"/>
        </a:xfrm>
      </p:grpSpPr>
      <p:sp>
        <p:nvSpPr>
          <p:cNvPr id="378" name="Google Shape;378;p22"/>
          <p:cNvSpPr txBox="1"/>
          <p:nvPr>
            <p:ph type="body" idx="1"/>
          </p:nvPr>
        </p:nvSpPr>
        <p:spPr>
          <a:xfrm>
            <a:off x="457200" y="1600200"/>
            <a:ext cx="4495800" cy="4525963"/>
          </a:xfrm>
          <a:prstGeom prst="rect">
            <a:avLst/>
          </a:prstGeom>
          <a:solidFill>
            <a:srgbClr val="92D050"/>
          </a:solidFill>
          <a:ln>
            <a:noFill/>
          </a:ln>
        </p:spPr>
        <p:txBody>
          <a:bodyPr spcFirstLastPara="1" wrap="square" lIns="91425" tIns="45700" rIns="91425" bIns="45700" anchor="t" anchorCtr="0">
            <a:normAutofit fontScale="77500" lnSpcReduction="20000"/>
          </a:bodyPr>
          <a:lstStyle/>
          <a:p>
            <a:pPr marL="0" lvl="0" indent="0" algn="l" rtl="0">
              <a:spcBef>
                <a:spcPts val="0"/>
              </a:spcBef>
              <a:spcAft>
                <a:spcPts val="0"/>
              </a:spcAft>
              <a:buClr>
                <a:schemeClr val="dk1"/>
              </a:buClr>
              <a:buSzPct val="100000"/>
              <a:buNone/>
            </a:pPr>
            <a:r>
              <a:rPr lang="en-US" b="1"/>
              <a:t>II. Giải thích sự tạo thành sóng dừng </a:t>
            </a:r>
            <a:endParaRPr lang="en-US" b="1"/>
          </a:p>
          <a:p>
            <a:pPr marL="0" lvl="0" indent="0" algn="l" rtl="0">
              <a:spcBef>
                <a:spcPts val="495"/>
              </a:spcBef>
              <a:spcAft>
                <a:spcPts val="0"/>
              </a:spcAft>
              <a:buClr>
                <a:schemeClr val="dk1"/>
              </a:buClr>
              <a:buSzPct val="100000"/>
              <a:buNone/>
            </a:pPr>
            <a:r>
              <a:rPr lang="en-US" b="1"/>
              <a:t>1. Đặc điểm của sóng dừng</a:t>
            </a:r>
            <a:endParaRPr lang="en-US" b="1"/>
          </a:p>
          <a:p>
            <a:pPr marL="0" lvl="0" indent="0" algn="l" rtl="0">
              <a:spcBef>
                <a:spcPts val="495"/>
              </a:spcBef>
              <a:spcAft>
                <a:spcPts val="0"/>
              </a:spcAft>
              <a:buClr>
                <a:schemeClr val="dk1"/>
              </a:buClr>
              <a:buSzPct val="100000"/>
              <a:buNone/>
            </a:pPr>
            <a:r>
              <a:rPr lang="en-US"/>
              <a:t>- Sóng dừng là sự giao thoa của hai sóng cùng </a:t>
            </a:r>
            <a:r>
              <a:rPr lang="en-US">
                <a:solidFill>
                  <a:srgbClr val="FF0000"/>
                </a:solidFill>
              </a:rPr>
              <a:t>biên độ cùng tần số </a:t>
            </a:r>
            <a:r>
              <a:rPr lang="en-US"/>
              <a:t>lan truyền ngược nhau trên một phương truyền sóng.</a:t>
            </a:r>
            <a:endParaRPr lang="en-US"/>
          </a:p>
          <a:p>
            <a:pPr marL="0" lvl="0" indent="0" algn="l" rtl="0">
              <a:spcBef>
                <a:spcPts val="495"/>
              </a:spcBef>
              <a:spcAft>
                <a:spcPts val="0"/>
              </a:spcAft>
              <a:buClr>
                <a:schemeClr val="dk1"/>
              </a:buClr>
              <a:buSzPct val="100000"/>
              <a:buNone/>
            </a:pPr>
            <a:r>
              <a:rPr lang="en-US"/>
              <a:t>- Khi có sóng dừng, </a:t>
            </a:r>
            <a:endParaRPr lang="en-US"/>
          </a:p>
          <a:p>
            <a:pPr marL="0" lvl="0" indent="0" algn="l" rtl="0">
              <a:spcBef>
                <a:spcPts val="495"/>
              </a:spcBef>
              <a:spcAft>
                <a:spcPts val="0"/>
              </a:spcAft>
              <a:buClr>
                <a:schemeClr val="dk1"/>
              </a:buClr>
              <a:buSzPct val="100000"/>
              <a:buNone/>
            </a:pPr>
            <a:r>
              <a:rPr lang="en-US"/>
              <a:t>+ Điểm luôn luôn đứng yên gọi là nút sóng </a:t>
            </a:r>
            <a:endParaRPr lang="en-US"/>
          </a:p>
          <a:p>
            <a:pPr marL="0" lvl="0" indent="0" algn="l" rtl="0">
              <a:spcBef>
                <a:spcPts val="495"/>
              </a:spcBef>
              <a:spcAft>
                <a:spcPts val="0"/>
              </a:spcAft>
              <a:buClr>
                <a:schemeClr val="dk1"/>
              </a:buClr>
              <a:buSzPct val="100000"/>
              <a:buNone/>
            </a:pPr>
            <a:r>
              <a:rPr lang="en-US"/>
              <a:t>+ Điểm luôn dao động với biên độc cực đại gọi là bụng sóng.</a:t>
            </a:r>
            <a:endParaRPr lang="en-US"/>
          </a:p>
          <a:p>
            <a:pPr marL="342900" lvl="0" indent="-185420" algn="l" rtl="0">
              <a:spcBef>
                <a:spcPts val="495"/>
              </a:spcBef>
              <a:spcAft>
                <a:spcPts val="0"/>
              </a:spcAft>
              <a:buClr>
                <a:schemeClr val="dk1"/>
              </a:buClr>
              <a:buSzPct val="100000"/>
              <a:buNone/>
            </a:pPr>
          </a:p>
        </p:txBody>
      </p:sp>
      <p:sp>
        <p:nvSpPr>
          <p:cNvPr id="379" name="Google Shape;379;p22"/>
          <p:cNvSpPr/>
          <p:nvPr>
            <p:ph type="title"/>
          </p:nvPr>
        </p:nvSpPr>
        <p:spPr>
          <a:xfrm>
            <a:off x="457200" y="274638"/>
            <a:ext cx="8229600" cy="1143000"/>
          </a:xfrm>
          <a:prstGeom prst="horizontalScroll">
            <a:avLst>
              <a:gd name="adj" fmla="val 12500"/>
            </a:avLst>
          </a:prstGeom>
          <a:solidFill>
            <a:srgbClr val="DAE5F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FC7876"/>
              </a:buClr>
              <a:buSzPts val="3600"/>
              <a:buFont typeface="Times New Roman" panose="02020603050405020304"/>
              <a:buNone/>
            </a:pPr>
            <a:r>
              <a:rPr lang="en-US" sz="3600" b="1" cap="none">
                <a:solidFill>
                  <a:srgbClr val="FC7876"/>
                </a:solidFill>
                <a:latin typeface="Times New Roman" panose="02020603050405020304"/>
                <a:ea typeface="Times New Roman" panose="02020603050405020304"/>
                <a:cs typeface="Times New Roman" panose="02020603050405020304"/>
                <a:sym typeface="Times New Roman" panose="02020603050405020304"/>
              </a:rPr>
              <a:t>BÀI SÓNG DỪNG</a:t>
            </a:r>
            <a:endParaRPr sz="3600" b="1" cap="none">
              <a:solidFill>
                <a:srgbClr val="FC7876"/>
              </a:solidFill>
            </a:endParaRPr>
          </a:p>
        </p:txBody>
      </p:sp>
      <p:sp>
        <p:nvSpPr>
          <p:cNvPr id="380" name="Google Shape;380;p22"/>
          <p:cNvSpPr txBox="1"/>
          <p:nvPr/>
        </p:nvSpPr>
        <p:spPr>
          <a:xfrm>
            <a:off x="4953000" y="1600199"/>
            <a:ext cx="3733800" cy="4525963"/>
          </a:xfrm>
          <a:prstGeom prst="rect">
            <a:avLst/>
          </a:prstGeom>
          <a:noFill/>
          <a:ln>
            <a:noFill/>
          </a:ln>
        </p:spPr>
        <p:txBody>
          <a:bodyPr spcFirstLastPara="1" wrap="square" lIns="91425" tIns="45700" rIns="91425" bIns="45700" anchor="t" anchorCtr="0">
            <a:normAutofit/>
          </a:bodyPr>
          <a:lstStyle/>
          <a:p>
            <a:pPr marL="342900" marR="0" lvl="0" indent="-139700" algn="l" rtl="0">
              <a:spcBef>
                <a:spcPts val="0"/>
              </a:spcBef>
              <a:spcAft>
                <a:spcPts val="0"/>
              </a:spcAft>
              <a:buClr>
                <a:schemeClr val="dk1"/>
              </a:buClr>
              <a:buSzPts val="3200"/>
              <a:buFont typeface="Arial" panose="020B0704020202020204"/>
              <a:buNone/>
            </a:pPr>
            <a:endParaRPr sz="3200">
              <a:solidFill>
                <a:schemeClr val="dk1"/>
              </a:solidFill>
              <a:latin typeface="Calibri"/>
              <a:ea typeface="Calibri"/>
              <a:cs typeface="Calibri"/>
              <a:sym typeface="Calibri"/>
            </a:endParaRPr>
          </a:p>
        </p:txBody>
      </p:sp>
      <p:sp>
        <p:nvSpPr>
          <p:cNvPr id="381" name="Google Shape;381;p22"/>
          <p:cNvSpPr txBox="1"/>
          <p:nvPr/>
        </p:nvSpPr>
        <p:spPr>
          <a:xfrm>
            <a:off x="5248806" y="2529203"/>
            <a:ext cx="3444240" cy="3596960"/>
          </a:xfrm>
          <a:prstGeom prst="rect">
            <a:avLst/>
          </a:prstGeom>
          <a:blipFill rotWithShape="1">
            <a:blip r:embed="rId1"/>
            <a:stretch>
              <a:fillRect l="-3007" t="-1693" r="-283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lang="en-US" sz="1800">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7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85" name="Shape 385"/>
        <p:cNvGrpSpPr/>
        <p:nvPr/>
      </p:nvGrpSpPr>
      <p:grpSpPr>
        <a:xfrm>
          <a:off x="0" y="0"/>
          <a:ext cx="0" cy="0"/>
          <a:chOff x="0" y="0"/>
          <a:chExt cx="0" cy="0"/>
        </a:xfrm>
      </p:grpSpPr>
      <p:pic>
        <p:nvPicPr>
          <p:cNvPr id="386" name="Google Shape;386;p23"/>
          <p:cNvPicPr preferRelativeResize="0"/>
          <p:nvPr/>
        </p:nvPicPr>
        <p:blipFill rotWithShape="1">
          <a:blip r:embed="rId1"/>
          <a:srcRect/>
          <a:stretch>
            <a:fillRect/>
          </a:stretch>
        </p:blipFill>
        <p:spPr>
          <a:xfrm>
            <a:off x="0" y="-89115"/>
            <a:ext cx="9296400" cy="6972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6"/>
                                        </p:tgtEl>
                                        <p:attrNameLst>
                                          <p:attrName>style.visibility</p:attrName>
                                        </p:attrNameLst>
                                      </p:cBhvr>
                                      <p:to>
                                        <p:strVal val="visible"/>
                                      </p:to>
                                    </p:set>
                                    <p:animEffect transition="in" filter="fade">
                                      <p:cBhvr>
                                        <p:cTn id="7" dur="5000"/>
                                        <p:tgtEl>
                                          <p:spTgt spid="3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390" name="Shape 390"/>
        <p:cNvGrpSpPr/>
        <p:nvPr/>
      </p:nvGrpSpPr>
      <p:grpSpPr>
        <a:xfrm>
          <a:off x="0" y="0"/>
          <a:ext cx="0" cy="0"/>
          <a:chOff x="0" y="0"/>
          <a:chExt cx="0" cy="0"/>
        </a:xfrm>
      </p:grpSpPr>
      <p:pic>
        <p:nvPicPr>
          <p:cNvPr id="391" name="Google Shape;391;p24"/>
          <p:cNvPicPr preferRelativeResize="0"/>
          <p:nvPr/>
        </p:nvPicPr>
        <p:blipFill rotWithShape="1">
          <a:blip r:embed="rId1"/>
          <a:srcRect/>
          <a:stretch>
            <a:fillRect/>
          </a:stretch>
        </p:blipFill>
        <p:spPr>
          <a:xfrm>
            <a:off x="0" y="0"/>
            <a:ext cx="9144000" cy="6858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1"/>
                                        </p:tgtEl>
                                        <p:attrNameLst>
                                          <p:attrName>style.visibility</p:attrName>
                                        </p:attrNameLst>
                                      </p:cBhvr>
                                      <p:to>
                                        <p:strVal val="visible"/>
                                      </p:to>
                                    </p:set>
                                    <p:animEffect transition="in" filter="fade">
                                      <p:cBhvr>
                                        <p:cTn id="7" dur="4805"/>
                                        <p:tgtEl>
                                          <p:spTgt spid="3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395" name="Shape 395"/>
        <p:cNvGrpSpPr/>
        <p:nvPr/>
      </p:nvGrpSpPr>
      <p:grpSpPr>
        <a:xfrm>
          <a:off x="0" y="0"/>
          <a:ext cx="0" cy="0"/>
          <a:chOff x="0" y="0"/>
          <a:chExt cx="0" cy="0"/>
        </a:xfrm>
      </p:grpSpPr>
      <p:sp>
        <p:nvSpPr>
          <p:cNvPr id="396" name="Google Shape;396;p25"/>
          <p:cNvSpPr txBox="1"/>
          <p:nvPr>
            <p:ph type="title"/>
          </p:nvPr>
        </p:nvSpPr>
        <p:spPr>
          <a:xfrm>
            <a:off x="-304006" y="32735"/>
            <a:ext cx="80010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FF3300"/>
              </a:buClr>
              <a:buSzPct val="100000"/>
              <a:buFont typeface="Times New Roman" panose="02020603050405020304"/>
              <a:buNone/>
            </a:pPr>
            <a:r>
              <a:rPr lang="en-US" sz="3100" b="1">
                <a:solidFill>
                  <a:srgbClr val="FF3300"/>
                </a:solidFill>
                <a:latin typeface="Times New Roman" panose="02020603050405020304"/>
                <a:ea typeface="Times New Roman" panose="02020603050405020304"/>
                <a:cs typeface="Times New Roman" panose="02020603050405020304"/>
                <a:sym typeface="Times New Roman" panose="02020603050405020304"/>
              </a:rPr>
              <a:t>1. Sóng dừng trên một sợi dây có hai đâu cố định</a:t>
            </a:r>
            <a:br>
              <a:rPr lang="en-US" sz="2800" b="1">
                <a:solidFill>
                  <a:srgbClr val="FF3300"/>
                </a:solidFill>
                <a:latin typeface="Times New Roman" panose="02020603050405020304"/>
                <a:ea typeface="Times New Roman" panose="02020603050405020304"/>
                <a:cs typeface="Times New Roman" panose="02020603050405020304"/>
                <a:sym typeface="Times New Roman" panose="02020603050405020304"/>
              </a:rPr>
            </a:br>
            <a:endParaRPr lang="en-US" sz="2800" b="1">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97" name="Google Shape;397;p25"/>
          <p:cNvPicPr preferRelativeResize="0"/>
          <p:nvPr>
            <p:ph type="body" idx="1"/>
          </p:nvPr>
        </p:nvPicPr>
        <p:blipFill rotWithShape="1">
          <a:blip r:embed="rId1"/>
          <a:srcRect/>
          <a:stretch>
            <a:fillRect/>
          </a:stretch>
        </p:blipFill>
        <p:spPr>
          <a:xfrm>
            <a:off x="228600" y="554662"/>
            <a:ext cx="6781800" cy="2417138"/>
          </a:xfrm>
          <a:prstGeom prst="rect">
            <a:avLst/>
          </a:prstGeom>
          <a:noFill/>
          <a:ln>
            <a:noFill/>
          </a:ln>
        </p:spPr>
      </p:pic>
      <p:pic>
        <p:nvPicPr>
          <p:cNvPr id="398" name="Google Shape;398;p25"/>
          <p:cNvPicPr preferRelativeResize="0"/>
          <p:nvPr/>
        </p:nvPicPr>
        <p:blipFill rotWithShape="1">
          <a:blip r:embed="rId2"/>
          <a:srcRect/>
          <a:stretch>
            <a:fillRect/>
          </a:stretch>
        </p:blipFill>
        <p:spPr>
          <a:xfrm>
            <a:off x="2590800" y="3218766"/>
            <a:ext cx="2971800" cy="1588612"/>
          </a:xfrm>
          <a:prstGeom prst="rect">
            <a:avLst/>
          </a:prstGeom>
          <a:noFill/>
          <a:ln>
            <a:noFill/>
          </a:ln>
        </p:spPr>
      </p:pic>
      <p:sp>
        <p:nvSpPr>
          <p:cNvPr id="399" name="Google Shape;399;p25"/>
          <p:cNvSpPr/>
          <p:nvPr/>
        </p:nvSpPr>
        <p:spPr>
          <a:xfrm>
            <a:off x="381000" y="5186080"/>
            <a:ext cx="822716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rgbClr val="0000FF"/>
                </a:solidFill>
                <a:latin typeface="Times New Roman" panose="02020603050405020304"/>
                <a:ea typeface="Times New Roman" panose="02020603050405020304"/>
                <a:cs typeface="Times New Roman" panose="02020603050405020304"/>
                <a:sym typeface="Times New Roman" panose="02020603050405020304"/>
              </a:rPr>
              <a:t>Với k = 1,2,3,… gọi là múi sóng hay bó sóng</a:t>
            </a:r>
            <a:endParaRPr sz="28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00" name="Google Shape;400;p25"/>
          <p:cNvSpPr txBox="1"/>
          <p:nvPr/>
        </p:nvSpPr>
        <p:spPr>
          <a:xfrm>
            <a:off x="381000" y="5743327"/>
            <a:ext cx="5868988" cy="9461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2800"/>
              <a:buFont typeface="Times New Roman" panose="02020603050405020304"/>
              <a:buNone/>
            </a:pPr>
            <a:r>
              <a:rPr lang="en-US" sz="2800" b="0" i="0" u="none" strike="noStrike" cap="none">
                <a:solidFill>
                  <a:srgbClr val="0000FF"/>
                </a:solidFill>
                <a:latin typeface="Times New Roman" panose="02020603050405020304"/>
                <a:ea typeface="Times New Roman" panose="02020603050405020304"/>
                <a:cs typeface="Times New Roman" panose="02020603050405020304"/>
                <a:sym typeface="Times New Roman" panose="02020603050405020304"/>
              </a:rPr>
              <a:t>Trong đó:  số bó(số múi) = số bụng = k.</a:t>
            </a:r>
            <a:endParaRPr lang="en-US" sz="2800" b="0" i="0" u="none" strike="noStrike" cap="none">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FF"/>
              </a:buClr>
              <a:buSzPts val="2800"/>
              <a:buFont typeface="Times New Roman" panose="02020603050405020304"/>
              <a:buNone/>
            </a:pPr>
            <a:r>
              <a:rPr lang="en-US" sz="2800" b="0" i="0" u="none" strike="noStrike" cap="none">
                <a:solidFill>
                  <a:srgbClr val="0000FF"/>
                </a:solidFill>
                <a:latin typeface="Times New Roman" panose="02020603050405020304"/>
                <a:ea typeface="Times New Roman" panose="02020603050405020304"/>
                <a:cs typeface="Times New Roman" panose="02020603050405020304"/>
                <a:sym typeface="Times New Roman" panose="02020603050405020304"/>
              </a:rPr>
              <a:t>	       Số nút = k + 1</a:t>
            </a:r>
            <a:endParaRPr lang="en-US" sz="2800" b="0" i="0" u="none" strike="noStrike" cap="none">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01" name="Google Shape;401;p25" descr="Standing Wave Fixed End.gif"/>
          <p:cNvPicPr preferRelativeResize="0"/>
          <p:nvPr/>
        </p:nvPicPr>
        <p:blipFill rotWithShape="1">
          <a:blip r:embed="rId3"/>
          <a:srcRect/>
          <a:stretch>
            <a:fillRect/>
          </a:stretch>
        </p:blipFill>
        <p:spPr>
          <a:xfrm>
            <a:off x="7010400" y="762000"/>
            <a:ext cx="1841500" cy="20574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0"/>
                                        </p:tgtEl>
                                        <p:attrNameLst>
                                          <p:attrName>style.visibility</p:attrName>
                                        </p:attrNameLst>
                                      </p:cBhvr>
                                      <p:to>
                                        <p:strVal val="visible"/>
                                      </p:to>
                                    </p:set>
                                    <p:animEffect transition="in" filter="fade">
                                      <p:cBhvr>
                                        <p:cTn id="7" dur="500"/>
                                        <p:tgtEl>
                                          <p:spTgt spid="4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405" name="Shape 405"/>
        <p:cNvGrpSpPr/>
        <p:nvPr/>
      </p:nvGrpSpPr>
      <p:grpSpPr>
        <a:xfrm>
          <a:off x="0" y="0"/>
          <a:ext cx="0" cy="0"/>
          <a:chOff x="0" y="0"/>
          <a:chExt cx="0" cy="0"/>
        </a:xfrm>
      </p:grpSpPr>
      <p:sp>
        <p:nvSpPr>
          <p:cNvPr id="406" name="Google Shape;406;p26"/>
          <p:cNvSpPr txBox="1"/>
          <p:nvPr>
            <p:ph type="title"/>
          </p:nvPr>
        </p:nvSpPr>
        <p:spPr>
          <a:xfrm>
            <a:off x="152400" y="344947"/>
            <a:ext cx="7772400" cy="11430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rgbClr val="FF3300"/>
              </a:buClr>
              <a:buSzPct val="100000"/>
              <a:buFont typeface="Times New Roman" panose="02020603050405020304"/>
              <a:buNone/>
            </a:pPr>
            <a:r>
              <a:rPr lang="en-US" sz="3200" b="1">
                <a:solidFill>
                  <a:srgbClr val="FF3300"/>
                </a:solidFill>
                <a:latin typeface="Times New Roman" panose="02020603050405020304"/>
                <a:ea typeface="Times New Roman" panose="02020603050405020304"/>
                <a:cs typeface="Times New Roman" panose="02020603050405020304"/>
                <a:sym typeface="Times New Roman" panose="02020603050405020304"/>
              </a:rPr>
              <a:t>2.Sóng dừng trên một sợi dây có </a:t>
            </a:r>
            <a:br>
              <a:rPr lang="en-US" sz="3200" b="1">
                <a:solidFill>
                  <a:srgbClr val="FF3300"/>
                </a:solidFill>
                <a:latin typeface="Times New Roman" panose="02020603050405020304"/>
                <a:ea typeface="Times New Roman" panose="02020603050405020304"/>
                <a:cs typeface="Times New Roman" panose="02020603050405020304"/>
                <a:sym typeface="Times New Roman" panose="02020603050405020304"/>
              </a:rPr>
            </a:br>
            <a:r>
              <a:rPr lang="en-US" sz="3200" b="1">
                <a:solidFill>
                  <a:srgbClr val="FF3300"/>
                </a:solidFill>
                <a:latin typeface="Times New Roman" panose="02020603050405020304"/>
                <a:ea typeface="Times New Roman" panose="02020603050405020304"/>
                <a:cs typeface="Times New Roman" panose="02020603050405020304"/>
                <a:sym typeface="Times New Roman" panose="02020603050405020304"/>
              </a:rPr>
              <a:t>một đầu cố định, một đầu tự do</a:t>
            </a:r>
            <a:br>
              <a:rPr lang="en-US" sz="3200" b="1">
                <a:solidFill>
                  <a:srgbClr val="FF3300"/>
                </a:solidFill>
                <a:latin typeface="Times New Roman" panose="02020603050405020304"/>
                <a:ea typeface="Times New Roman" panose="02020603050405020304"/>
                <a:cs typeface="Times New Roman" panose="02020603050405020304"/>
                <a:sym typeface="Times New Roman" panose="02020603050405020304"/>
              </a:rPr>
            </a:br>
            <a:endParaRPr lang="en-US" sz="3200" b="1">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07" name="Google Shape;407;p26"/>
          <p:cNvPicPr preferRelativeResize="0"/>
          <p:nvPr/>
        </p:nvPicPr>
        <p:blipFill rotWithShape="1">
          <a:blip r:embed="rId1"/>
          <a:srcRect/>
          <a:stretch>
            <a:fillRect/>
          </a:stretch>
        </p:blipFill>
        <p:spPr>
          <a:xfrm>
            <a:off x="7091472" y="430242"/>
            <a:ext cx="1622425" cy="5718175"/>
          </a:xfrm>
          <a:prstGeom prst="rect">
            <a:avLst/>
          </a:prstGeom>
          <a:noFill/>
          <a:ln>
            <a:noFill/>
          </a:ln>
        </p:spPr>
      </p:pic>
      <p:pic>
        <p:nvPicPr>
          <p:cNvPr id="408" name="Google Shape;408;p26"/>
          <p:cNvPicPr preferRelativeResize="0"/>
          <p:nvPr/>
        </p:nvPicPr>
        <p:blipFill rotWithShape="1">
          <a:blip r:embed="rId2"/>
          <a:srcRect/>
          <a:stretch>
            <a:fillRect/>
          </a:stretch>
        </p:blipFill>
        <p:spPr>
          <a:xfrm>
            <a:off x="5922960" y="2108200"/>
            <a:ext cx="3114675" cy="12700"/>
          </a:xfrm>
          <a:prstGeom prst="rect">
            <a:avLst/>
          </a:prstGeom>
          <a:noFill/>
          <a:ln>
            <a:noFill/>
          </a:ln>
        </p:spPr>
      </p:pic>
      <p:pic>
        <p:nvPicPr>
          <p:cNvPr id="409" name="Google Shape;409;p26"/>
          <p:cNvPicPr preferRelativeResize="0"/>
          <p:nvPr/>
        </p:nvPicPr>
        <p:blipFill rotWithShape="1">
          <a:blip r:embed="rId2"/>
          <a:srcRect/>
          <a:stretch>
            <a:fillRect/>
          </a:stretch>
        </p:blipFill>
        <p:spPr>
          <a:xfrm>
            <a:off x="5922961" y="3644900"/>
            <a:ext cx="3114675" cy="12700"/>
          </a:xfrm>
          <a:prstGeom prst="rect">
            <a:avLst/>
          </a:prstGeom>
          <a:noFill/>
          <a:ln>
            <a:noFill/>
          </a:ln>
        </p:spPr>
      </p:pic>
      <p:pic>
        <p:nvPicPr>
          <p:cNvPr id="410" name="Google Shape;410;p26"/>
          <p:cNvPicPr preferRelativeResize="0"/>
          <p:nvPr/>
        </p:nvPicPr>
        <p:blipFill rotWithShape="1">
          <a:blip r:embed="rId2"/>
          <a:srcRect/>
          <a:stretch>
            <a:fillRect/>
          </a:stretch>
        </p:blipFill>
        <p:spPr>
          <a:xfrm>
            <a:off x="5922962" y="5218676"/>
            <a:ext cx="3114675" cy="12700"/>
          </a:xfrm>
          <a:prstGeom prst="rect">
            <a:avLst/>
          </a:prstGeom>
          <a:noFill/>
          <a:ln>
            <a:noFill/>
          </a:ln>
        </p:spPr>
      </p:pic>
      <p:pic>
        <p:nvPicPr>
          <p:cNvPr id="411" name="Google Shape;411;p26"/>
          <p:cNvPicPr preferRelativeResize="0"/>
          <p:nvPr/>
        </p:nvPicPr>
        <p:blipFill rotWithShape="1">
          <a:blip r:embed="rId3"/>
          <a:srcRect/>
          <a:stretch>
            <a:fillRect/>
          </a:stretch>
        </p:blipFill>
        <p:spPr>
          <a:xfrm>
            <a:off x="7924800" y="242865"/>
            <a:ext cx="244651" cy="1930400"/>
          </a:xfrm>
          <a:prstGeom prst="rect">
            <a:avLst/>
          </a:prstGeom>
          <a:noFill/>
          <a:ln>
            <a:noFill/>
          </a:ln>
        </p:spPr>
      </p:pic>
      <p:pic>
        <p:nvPicPr>
          <p:cNvPr id="412" name="Google Shape;412;p26"/>
          <p:cNvPicPr preferRelativeResize="0"/>
          <p:nvPr/>
        </p:nvPicPr>
        <p:blipFill rotWithShape="1">
          <a:blip r:embed="rId4"/>
          <a:srcRect/>
          <a:stretch>
            <a:fillRect/>
          </a:stretch>
        </p:blipFill>
        <p:spPr>
          <a:xfrm>
            <a:off x="6383883" y="263647"/>
            <a:ext cx="738187" cy="5854290"/>
          </a:xfrm>
          <a:prstGeom prst="rect">
            <a:avLst/>
          </a:prstGeom>
          <a:noFill/>
          <a:ln>
            <a:noFill/>
          </a:ln>
        </p:spPr>
      </p:pic>
      <p:pic>
        <p:nvPicPr>
          <p:cNvPr id="413" name="Google Shape;413;p26"/>
          <p:cNvPicPr preferRelativeResize="0"/>
          <p:nvPr>
            <p:ph type="body" idx="1"/>
          </p:nvPr>
        </p:nvPicPr>
        <p:blipFill rotWithShape="1">
          <a:blip r:embed="rId5"/>
          <a:srcRect/>
          <a:stretch>
            <a:fillRect/>
          </a:stretch>
        </p:blipFill>
        <p:spPr>
          <a:xfrm>
            <a:off x="892427" y="1320900"/>
            <a:ext cx="2361905" cy="1600000"/>
          </a:xfrm>
          <a:prstGeom prst="rect">
            <a:avLst/>
          </a:prstGeom>
          <a:noFill/>
          <a:ln>
            <a:noFill/>
          </a:ln>
        </p:spPr>
      </p:pic>
      <p:sp>
        <p:nvSpPr>
          <p:cNvPr id="414" name="Google Shape;414;p26"/>
          <p:cNvSpPr txBox="1"/>
          <p:nvPr/>
        </p:nvSpPr>
        <p:spPr>
          <a:xfrm>
            <a:off x="990600" y="3573923"/>
            <a:ext cx="3619500" cy="9461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2800"/>
              <a:buFont typeface="Times New Roman" panose="02020603050405020304"/>
              <a:buNone/>
            </a:pPr>
            <a:r>
              <a:rPr lang="en-US" sz="2800" b="0" i="0" u="none" strike="noStrike" cap="none">
                <a:solidFill>
                  <a:srgbClr val="0000FF"/>
                </a:solidFill>
                <a:latin typeface="Times New Roman" panose="02020603050405020304"/>
                <a:ea typeface="Times New Roman" panose="02020603050405020304"/>
                <a:cs typeface="Times New Roman" panose="02020603050405020304"/>
                <a:sym typeface="Times New Roman" panose="02020603050405020304"/>
              </a:rPr>
              <a:t>Trong đó:</a:t>
            </a:r>
            <a:endParaRPr lang="en-US" sz="2800" b="0" i="0" u="none" strike="noStrike" cap="none">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FF"/>
              </a:buClr>
              <a:buSzPts val="2800"/>
              <a:buFont typeface="Times New Roman" panose="02020603050405020304"/>
              <a:buNone/>
            </a:pPr>
            <a:r>
              <a:rPr lang="en-US" sz="2800" b="0" i="0" u="none" strike="noStrike" cap="none">
                <a:solidFill>
                  <a:srgbClr val="0000FF"/>
                </a:solidFill>
                <a:latin typeface="Times New Roman" panose="02020603050405020304"/>
                <a:ea typeface="Times New Roman" panose="02020603050405020304"/>
                <a:cs typeface="Times New Roman" panose="02020603050405020304"/>
                <a:sym typeface="Times New Roman" panose="02020603050405020304"/>
              </a:rPr>
              <a:t>Số bụng = số nút = k +1</a:t>
            </a:r>
            <a:endParaRPr lang="en-US" sz="2800" b="0" i="0" u="none" strike="noStrike" cap="none">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15" name="Google Shape;415;p26"/>
          <p:cNvSpPr/>
          <p:nvPr/>
        </p:nvSpPr>
        <p:spPr>
          <a:xfrm>
            <a:off x="3733800" y="1846590"/>
            <a:ext cx="2475358"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a:solidFill>
                  <a:srgbClr val="5B5249"/>
                </a:solidFill>
                <a:latin typeface="Times New Roman" panose="02020603050405020304"/>
                <a:ea typeface="Times New Roman" panose="02020603050405020304"/>
                <a:cs typeface="Times New Roman" panose="02020603050405020304"/>
                <a:sym typeface="Times New Roman" panose="02020603050405020304"/>
              </a:rPr>
              <a:t>k = 0, 1, 2, 3 </a:t>
            </a:r>
            <a:r>
              <a:rPr lang="en-US" sz="2800" b="1">
                <a:solidFill>
                  <a:srgbClr val="5B5249"/>
                </a:solidFill>
                <a:latin typeface="Arial" panose="020B0704020202020204"/>
                <a:ea typeface="Arial" panose="020B0704020202020204"/>
                <a:cs typeface="Arial" panose="020B0704020202020204"/>
                <a:sym typeface="Arial" panose="020B0704020202020204"/>
              </a:rPr>
              <a:t>…</a:t>
            </a:r>
            <a:endParaRPr lang="en-US" sz="2800" b="1">
              <a:solidFill>
                <a:srgbClr val="5B5249"/>
              </a:solidFill>
              <a:latin typeface="Arial" panose="020B0704020202020204"/>
              <a:ea typeface="Arial" panose="020B0704020202020204"/>
              <a:cs typeface="Arial" panose="020B0704020202020204"/>
              <a:sym typeface="Arial" panose="020B07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4">
                                            <p:txEl>
                                              <p:pRg st="0" end="0"/>
                                            </p:txEl>
                                          </p:spTgt>
                                        </p:tgtEl>
                                        <p:attrNameLst>
                                          <p:attrName>style.visibility</p:attrName>
                                        </p:attrNameLst>
                                      </p:cBhvr>
                                      <p:to>
                                        <p:strVal val="visible"/>
                                      </p:to>
                                    </p:set>
                                    <p:animEffect transition="in" filter="fade">
                                      <p:cBhvr>
                                        <p:cTn id="7" dur="500"/>
                                        <p:tgtEl>
                                          <p:spTgt spid="4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4">
                                            <p:txEl>
                                              <p:pRg st="1" end="1"/>
                                            </p:txEl>
                                          </p:spTgt>
                                        </p:tgtEl>
                                        <p:attrNameLst>
                                          <p:attrName>style.visibility</p:attrName>
                                        </p:attrNameLst>
                                      </p:cBhvr>
                                      <p:to>
                                        <p:strVal val="visible"/>
                                      </p:to>
                                    </p:set>
                                    <p:animEffect transition="in" filter="fade">
                                      <p:cBhvr>
                                        <p:cTn id="12" dur="500"/>
                                        <p:tgtEl>
                                          <p:spTgt spid="414">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419" name="Shape 419"/>
        <p:cNvGrpSpPr/>
        <p:nvPr/>
      </p:nvGrpSpPr>
      <p:grpSpPr>
        <a:xfrm>
          <a:off x="0" y="0"/>
          <a:ext cx="0" cy="0"/>
          <a:chOff x="0" y="0"/>
          <a:chExt cx="0" cy="0"/>
        </a:xfrm>
      </p:grpSpPr>
      <p:sp>
        <p:nvSpPr>
          <p:cNvPr id="420" name="Google Shape;420;p27"/>
          <p:cNvSpPr txBox="1"/>
          <p:nvPr>
            <p:ph type="body" idx="1"/>
          </p:nvPr>
        </p:nvSpPr>
        <p:spPr>
          <a:xfrm>
            <a:off x="457200" y="1600200"/>
            <a:ext cx="4495800" cy="4525963"/>
          </a:xfrm>
          <a:prstGeom prst="rect">
            <a:avLst/>
          </a:prstGeom>
          <a:gradFill>
            <a:gsLst>
              <a:gs pos="0">
                <a:srgbClr val="BDF295"/>
              </a:gs>
              <a:gs pos="50000">
                <a:srgbClr val="D5F5BE"/>
              </a:gs>
              <a:gs pos="100000">
                <a:srgbClr val="EAFADE"/>
              </a:gs>
            </a:gsLst>
            <a:lin ang="10800000" scaled="0"/>
          </a:gradFill>
          <a:ln>
            <a:noFill/>
          </a:ln>
        </p:spPr>
        <p:txBody>
          <a:bodyPr spcFirstLastPara="1" wrap="square" lIns="91425" tIns="45700" rIns="91425" bIns="45700" anchor="t" anchorCtr="0">
            <a:normAutofit fontScale="70000" lnSpcReduction="20000"/>
          </a:bodyPr>
          <a:lstStyle/>
          <a:p>
            <a:pPr marL="342900" lvl="0" indent="-342900" algn="l" rtl="0">
              <a:spcBef>
                <a:spcPts val="0"/>
              </a:spcBef>
              <a:spcAft>
                <a:spcPts val="0"/>
              </a:spcAft>
              <a:buClr>
                <a:schemeClr val="dk1"/>
              </a:buClr>
              <a:buSzPct val="100000"/>
              <a:buChar char="•"/>
            </a:pPr>
            <a:r>
              <a:rPr lang="en-US" b="1"/>
              <a:t>PHIẾU HỌC TẬP SỐ 3</a:t>
            </a:r>
            <a:endParaRPr lang="en-US" b="1"/>
          </a:p>
          <a:p>
            <a:pPr marL="342900" lvl="0" indent="-342900" algn="l" rtl="0">
              <a:spcBef>
                <a:spcPts val="450"/>
              </a:spcBef>
              <a:spcAft>
                <a:spcPts val="0"/>
              </a:spcAft>
              <a:buClr>
                <a:schemeClr val="dk1"/>
              </a:buClr>
              <a:buSzPct val="100000"/>
              <a:buChar char="•"/>
            </a:pPr>
            <a:r>
              <a:rPr lang="en-US"/>
              <a:t>Quan sát hình 13.3, trên dây đang có mấy bó sóng, điều kiện về chiều dài dây để có sóng dừng? Khi đó trên dây có bao nhiêu bụng và bao nhiêu nút?</a:t>
            </a:r>
            <a:endParaRPr lang="en-US"/>
          </a:p>
          <a:p>
            <a:pPr marL="342900" lvl="0" indent="-342900" algn="l" rtl="0">
              <a:spcBef>
                <a:spcPts val="450"/>
              </a:spcBef>
              <a:spcAft>
                <a:spcPts val="0"/>
              </a:spcAft>
              <a:buClr>
                <a:schemeClr val="dk1"/>
              </a:buClr>
              <a:buSzPct val="100000"/>
              <a:buChar char="•"/>
            </a:pPr>
            <a:r>
              <a:rPr lang="en-US"/>
              <a:t>Tổng quát, nêu điều kiện để có sóng dừng ứng với trường hợp hai đầu dây đều là nút? Xác định số bụng, số nút?</a:t>
            </a:r>
            <a:endParaRPr lang="en-US"/>
          </a:p>
          <a:p>
            <a:pPr marL="342900" lvl="0" indent="-342900" algn="l" rtl="0">
              <a:spcBef>
                <a:spcPts val="450"/>
              </a:spcBef>
              <a:spcAft>
                <a:spcPts val="0"/>
              </a:spcAft>
              <a:buClr>
                <a:schemeClr val="dk1"/>
              </a:buClr>
              <a:buSzPct val="100000"/>
              <a:buChar char="•"/>
            </a:pPr>
            <a:r>
              <a:rPr lang="en-US"/>
              <a:t>Tìm điều kiện về tần số để có sóng dừng trên dây với hai đầu đều là nút?</a:t>
            </a:r>
            <a:endParaRPr lang="en-US"/>
          </a:p>
        </p:txBody>
      </p:sp>
      <p:sp>
        <p:nvSpPr>
          <p:cNvPr id="421" name="Google Shape;421;p27"/>
          <p:cNvSpPr/>
          <p:nvPr>
            <p:ph type="title"/>
          </p:nvPr>
        </p:nvSpPr>
        <p:spPr>
          <a:xfrm>
            <a:off x="457200" y="274638"/>
            <a:ext cx="8229600" cy="1143000"/>
          </a:xfrm>
          <a:prstGeom prst="horizontalScroll">
            <a:avLst>
              <a:gd name="adj" fmla="val 12500"/>
            </a:avLst>
          </a:prstGeom>
          <a:solidFill>
            <a:srgbClr val="DAE5F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FC7876"/>
              </a:buClr>
              <a:buSzPts val="3600"/>
              <a:buFont typeface="Times New Roman" panose="02020603050405020304"/>
              <a:buNone/>
            </a:pPr>
            <a:r>
              <a:rPr lang="en-US" sz="3600" b="1" cap="none">
                <a:solidFill>
                  <a:srgbClr val="FC7876"/>
                </a:solidFill>
                <a:latin typeface="Times New Roman" panose="02020603050405020304"/>
                <a:ea typeface="Times New Roman" panose="02020603050405020304"/>
                <a:cs typeface="Times New Roman" panose="02020603050405020304"/>
                <a:sym typeface="Times New Roman" panose="02020603050405020304"/>
              </a:rPr>
              <a:t>BÀI SÓNG DỪNG</a:t>
            </a:r>
            <a:endParaRPr sz="3600" b="1" cap="none">
              <a:solidFill>
                <a:srgbClr val="FC7876"/>
              </a:solidFill>
            </a:endParaRPr>
          </a:p>
        </p:txBody>
      </p:sp>
      <p:sp>
        <p:nvSpPr>
          <p:cNvPr id="422" name="Google Shape;422;p27"/>
          <p:cNvSpPr txBox="1"/>
          <p:nvPr/>
        </p:nvSpPr>
        <p:spPr>
          <a:xfrm>
            <a:off x="4953000" y="1600199"/>
            <a:ext cx="3733800" cy="4525963"/>
          </a:xfrm>
          <a:prstGeom prst="rect">
            <a:avLst/>
          </a:prstGeom>
          <a:noFill/>
          <a:ln>
            <a:noFill/>
          </a:ln>
        </p:spPr>
        <p:txBody>
          <a:bodyPr spcFirstLastPara="1" wrap="square" lIns="91425" tIns="45700" rIns="91425" bIns="45700" anchor="t" anchorCtr="0">
            <a:normAutofit/>
          </a:bodyPr>
          <a:lstStyle/>
          <a:p>
            <a:pPr marL="342900" marR="0" lvl="0" indent="-139700" algn="l" rtl="0">
              <a:spcBef>
                <a:spcPts val="0"/>
              </a:spcBef>
              <a:spcAft>
                <a:spcPts val="0"/>
              </a:spcAft>
              <a:buClr>
                <a:schemeClr val="dk1"/>
              </a:buClr>
              <a:buSzPts val="3200"/>
              <a:buFont typeface="Arial" panose="020B0704020202020204"/>
              <a:buNone/>
            </a:pPr>
            <a:endParaRPr sz="3200">
              <a:solidFill>
                <a:schemeClr val="dk1"/>
              </a:solidFill>
              <a:latin typeface="Calibri"/>
              <a:ea typeface="Calibri"/>
              <a:cs typeface="Calibri"/>
              <a:sym typeface="Calibri"/>
            </a:endParaRPr>
          </a:p>
        </p:txBody>
      </p:sp>
      <p:pic>
        <p:nvPicPr>
          <p:cNvPr id="423" name="Google Shape;423;p27"/>
          <p:cNvPicPr preferRelativeResize="0"/>
          <p:nvPr/>
        </p:nvPicPr>
        <p:blipFill rotWithShape="1">
          <a:blip r:embed="rId1"/>
          <a:srcRect/>
          <a:stretch>
            <a:fillRect/>
          </a:stretch>
        </p:blipFill>
        <p:spPr>
          <a:xfrm>
            <a:off x="5137978" y="1600198"/>
            <a:ext cx="3296110" cy="3962402"/>
          </a:xfrm>
          <a:prstGeom prst="rect">
            <a:avLst/>
          </a:prstGeom>
          <a:noFill/>
          <a:ln>
            <a:noFill/>
          </a:ln>
        </p:spPr>
      </p:pic>
      <p:sp>
        <p:nvSpPr>
          <p:cNvPr id="424" name="Google Shape;424;p27"/>
          <p:cNvSpPr txBox="1"/>
          <p:nvPr/>
        </p:nvSpPr>
        <p:spPr>
          <a:xfrm>
            <a:off x="524933" y="1600199"/>
            <a:ext cx="4436533" cy="4525963"/>
          </a:xfrm>
          <a:prstGeom prst="rect">
            <a:avLst/>
          </a:prstGeom>
          <a:blipFill rotWithShape="1">
            <a:blip r:embed="rId2"/>
            <a:stretch>
              <a:fillRect l="-3432" t="-161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lang="en-US" sz="1800">
              <a:latin typeface="Calibri"/>
              <a:ea typeface="Calibri"/>
              <a:cs typeface="Calibri"/>
              <a:sym typeface="Calibri"/>
            </a:endParaRPr>
          </a:p>
        </p:txBody>
      </p:sp>
      <p:sp>
        <p:nvSpPr>
          <p:cNvPr id="425" name="Google Shape;425;p27"/>
          <p:cNvSpPr txBox="1"/>
          <p:nvPr/>
        </p:nvSpPr>
        <p:spPr>
          <a:xfrm>
            <a:off x="5129511" y="1617130"/>
            <a:ext cx="4014489" cy="4525963"/>
          </a:xfrm>
          <a:prstGeom prst="rect">
            <a:avLst/>
          </a:prstGeom>
          <a:blipFill rotWithShape="1">
            <a:blip r:embed="rId3"/>
            <a:stretch>
              <a:fillRect l="-3793" t="-1749" r="-106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lang="en-US" sz="1800">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2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25">
                                            <p:txEl>
                                              <p:pRg st="0" end="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429" name="Shape 429"/>
        <p:cNvGrpSpPr/>
        <p:nvPr/>
      </p:nvGrpSpPr>
      <p:grpSpPr>
        <a:xfrm>
          <a:off x="0" y="0"/>
          <a:ext cx="0" cy="0"/>
          <a:chOff x="0" y="0"/>
          <a:chExt cx="0" cy="0"/>
        </a:xfrm>
      </p:grpSpPr>
      <p:sp>
        <p:nvSpPr>
          <p:cNvPr id="430" name="Google Shape;430;p28"/>
          <p:cNvSpPr txBox="1"/>
          <p:nvPr>
            <p:ph type="title"/>
          </p:nvPr>
        </p:nvSpPr>
        <p:spPr>
          <a:xfrm>
            <a:off x="152400" y="1143000"/>
            <a:ext cx="8915400" cy="1447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2800"/>
              <a:buFont typeface="Times New Roman" panose="02020603050405020304"/>
              <a:buNone/>
            </a:pPr>
            <a:r>
              <a:rPr lang="en-US" sz="2800" b="1">
                <a:solidFill>
                  <a:srgbClr val="000000"/>
                </a:solidFill>
                <a:latin typeface="Times New Roman" panose="02020603050405020304"/>
                <a:ea typeface="Times New Roman" panose="02020603050405020304"/>
                <a:cs typeface="Times New Roman" panose="02020603050405020304"/>
                <a:sym typeface="Times New Roman" panose="02020603050405020304"/>
              </a:rPr>
              <a:t> Bài toán: Trên một sợi dây dài 1,2 m có một hệ sóng dừng. Kể cả hai đầu dây, thì trên dây có tất cả bốn nút. Biết tốc độ truyền sóng trên dây là v = 80m/s. Tính tần số và chu kỳ dao động của sóng?</a:t>
            </a:r>
            <a:br>
              <a:rPr lang="en-US" sz="2800" b="1">
                <a:solidFill>
                  <a:srgbClr val="000000"/>
                </a:solidFill>
                <a:latin typeface="Times New Roman" panose="02020603050405020304"/>
                <a:ea typeface="Times New Roman" panose="02020603050405020304"/>
                <a:cs typeface="Times New Roman" panose="02020603050405020304"/>
                <a:sym typeface="Times New Roman" panose="02020603050405020304"/>
              </a:rPr>
            </a:br>
            <a:r>
              <a:rPr lang="en-US" sz="2800" b="1">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sz="2800"/>
          </a:p>
        </p:txBody>
      </p:sp>
      <p:sp>
        <p:nvSpPr>
          <p:cNvPr id="431" name="Google Shape;431;p28"/>
          <p:cNvSpPr txBox="1"/>
          <p:nvPr>
            <p:ph type="body" idx="1"/>
          </p:nvPr>
        </p:nvSpPr>
        <p:spPr>
          <a:xfrm>
            <a:off x="380632" y="2667000"/>
            <a:ext cx="82296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Arial" panose="020B0704020202020204"/>
              <a:buNone/>
            </a:pPr>
            <a:r>
              <a:rPr lang="en-US" sz="24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Bài giải</a:t>
            </a:r>
            <a:endParaRPr sz="24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432" name="Google Shape;432;p28"/>
          <p:cNvGrpSpPr/>
          <p:nvPr/>
        </p:nvGrpSpPr>
        <p:grpSpPr>
          <a:xfrm>
            <a:off x="380632" y="3833430"/>
            <a:ext cx="2408606" cy="2672143"/>
            <a:chOff x="-240" y="2120"/>
            <a:chExt cx="1536" cy="1960"/>
          </a:xfrm>
        </p:grpSpPr>
        <p:sp>
          <p:nvSpPr>
            <p:cNvPr id="433" name="Google Shape;433;p28"/>
            <p:cNvSpPr txBox="1"/>
            <p:nvPr/>
          </p:nvSpPr>
          <p:spPr>
            <a:xfrm>
              <a:off x="-240" y="2120"/>
              <a:ext cx="1536" cy="166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1">
                  <a:solidFill>
                    <a:srgbClr val="000000"/>
                  </a:solidFill>
                  <a:latin typeface="Times New Roman" panose="02020603050405020304"/>
                  <a:ea typeface="Times New Roman" panose="02020603050405020304"/>
                  <a:cs typeface="Times New Roman" panose="02020603050405020304"/>
                  <a:sym typeface="Times New Roman" panose="02020603050405020304"/>
                </a:rPr>
                <a:t>l</a:t>
              </a:r>
              <a:r>
                <a:rPr lang="en-US" sz="2400" b="1">
                  <a:solidFill>
                    <a:srgbClr val="000000"/>
                  </a:solidFill>
                  <a:latin typeface="Times New Roman" panose="02020603050405020304"/>
                  <a:ea typeface="Times New Roman" panose="02020603050405020304"/>
                  <a:cs typeface="Times New Roman" panose="02020603050405020304"/>
                  <a:sym typeface="Times New Roman" panose="02020603050405020304"/>
                </a:rPr>
                <a:t> = 1,2 m</a:t>
              </a:r>
              <a:endParaRPr lang="en-US" sz="2400" b="1">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1200"/>
                </a:spcBef>
                <a:spcAft>
                  <a:spcPts val="0"/>
                </a:spcAft>
                <a:buNone/>
              </a:pPr>
              <a:r>
                <a:rPr lang="en-US" sz="2400" b="1">
                  <a:solidFill>
                    <a:srgbClr val="000000"/>
                  </a:solidFill>
                  <a:latin typeface="Times New Roman" panose="02020603050405020304"/>
                  <a:ea typeface="Times New Roman" panose="02020603050405020304"/>
                  <a:cs typeface="Times New Roman" panose="02020603050405020304"/>
                  <a:sym typeface="Times New Roman" panose="02020603050405020304"/>
                </a:rPr>
                <a:t>k = 3</a:t>
              </a:r>
              <a:endParaRPr lang="en-US" sz="2400" b="1">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1200"/>
                </a:spcBef>
                <a:spcAft>
                  <a:spcPts val="0"/>
                </a:spcAft>
                <a:buNone/>
              </a:pPr>
              <a:r>
                <a:rPr lang="en-US" sz="2400" b="1">
                  <a:solidFill>
                    <a:srgbClr val="000000"/>
                  </a:solidFill>
                  <a:latin typeface="Times New Roman" panose="02020603050405020304"/>
                  <a:ea typeface="Times New Roman" panose="02020603050405020304"/>
                  <a:cs typeface="Times New Roman" panose="02020603050405020304"/>
                  <a:sym typeface="Times New Roman" panose="02020603050405020304"/>
                </a:rPr>
                <a:t>v = 80 m/s</a:t>
              </a:r>
              <a:endParaRPr lang="en-US" sz="2400" b="1">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1200"/>
                </a:spcBef>
                <a:spcAft>
                  <a:spcPts val="0"/>
                </a:spcAft>
                <a:buNone/>
              </a:pPr>
              <a:r>
                <a:rPr lang="en-US" sz="2400" b="1">
                  <a:solidFill>
                    <a:srgbClr val="000000"/>
                  </a:solidFill>
                  <a:latin typeface="Times New Roman" panose="02020603050405020304"/>
                  <a:ea typeface="Times New Roman" panose="02020603050405020304"/>
                  <a:cs typeface="Times New Roman" panose="02020603050405020304"/>
                  <a:sym typeface="Times New Roman" panose="02020603050405020304"/>
                </a:rPr>
                <a:t> f = ?</a:t>
              </a:r>
              <a:endParaRPr lang="en-US" sz="2400" b="1">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1200"/>
                </a:spcBef>
                <a:spcAft>
                  <a:spcPts val="0"/>
                </a:spcAft>
                <a:buNone/>
              </a:pPr>
              <a:r>
                <a:rPr lang="en-US" sz="2400" b="1">
                  <a:solidFill>
                    <a:srgbClr val="000000"/>
                  </a:solidFill>
                  <a:latin typeface="Times New Roman" panose="02020603050405020304"/>
                  <a:ea typeface="Times New Roman" panose="02020603050405020304"/>
                  <a:cs typeface="Times New Roman" panose="02020603050405020304"/>
                  <a:sym typeface="Times New Roman" panose="02020603050405020304"/>
                </a:rPr>
                <a:t>T = ?</a:t>
              </a:r>
              <a:endParaRPr lang="en-US" sz="2400" b="1">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434" name="Google Shape;434;p28"/>
            <p:cNvCxnSpPr/>
            <p:nvPr/>
          </p:nvCxnSpPr>
          <p:spPr>
            <a:xfrm>
              <a:off x="1277" y="2145"/>
              <a:ext cx="19" cy="1935"/>
            </a:xfrm>
            <a:prstGeom prst="straightConnector1">
              <a:avLst/>
            </a:prstGeom>
            <a:noFill/>
            <a:ln w="9525" cap="flat" cmpd="sng">
              <a:solidFill>
                <a:srgbClr val="000000"/>
              </a:solidFill>
              <a:prstDash val="solid"/>
              <a:round/>
              <a:headEnd type="none" w="med" len="med"/>
              <a:tailEnd type="none" w="med" len="med"/>
            </a:ln>
          </p:spPr>
        </p:cxnSp>
      </p:grpSp>
      <p:sp>
        <p:nvSpPr>
          <p:cNvPr id="435" name="Google Shape;435;p28"/>
          <p:cNvSpPr/>
          <p:nvPr/>
        </p:nvSpPr>
        <p:spPr>
          <a:xfrm>
            <a:off x="3200400" y="3405485"/>
            <a:ext cx="4179349"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a:solidFill>
                  <a:srgbClr val="000000"/>
                </a:solidFill>
                <a:latin typeface="Times New Roman" panose="02020603050405020304"/>
                <a:ea typeface="Times New Roman" panose="02020603050405020304"/>
                <a:cs typeface="Times New Roman" panose="02020603050405020304"/>
                <a:sym typeface="Times New Roman" panose="02020603050405020304"/>
              </a:rPr>
              <a:t>Vì dây có hai đầu cố định nên:</a:t>
            </a:r>
            <a:endParaRPr lang="en-US" sz="2400" b="1">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36" name="Google Shape;436;p28"/>
          <p:cNvPicPr preferRelativeResize="0"/>
          <p:nvPr/>
        </p:nvPicPr>
        <p:blipFill rotWithShape="1">
          <a:blip r:embed="rId1"/>
          <a:srcRect/>
          <a:stretch>
            <a:fillRect/>
          </a:stretch>
        </p:blipFill>
        <p:spPr>
          <a:xfrm>
            <a:off x="2819400" y="3851910"/>
            <a:ext cx="5029200" cy="995363"/>
          </a:xfrm>
          <a:prstGeom prst="rect">
            <a:avLst/>
          </a:prstGeom>
          <a:noFill/>
          <a:ln>
            <a:noFill/>
          </a:ln>
        </p:spPr>
      </p:pic>
      <p:pic>
        <p:nvPicPr>
          <p:cNvPr id="437" name="Google Shape;437;p28"/>
          <p:cNvPicPr preferRelativeResize="0"/>
          <p:nvPr/>
        </p:nvPicPr>
        <p:blipFill rotWithShape="1">
          <a:blip r:embed="rId2"/>
          <a:srcRect/>
          <a:stretch>
            <a:fillRect/>
          </a:stretch>
        </p:blipFill>
        <p:spPr>
          <a:xfrm>
            <a:off x="2789238" y="4691243"/>
            <a:ext cx="5507037" cy="990600"/>
          </a:xfrm>
          <a:prstGeom prst="rect">
            <a:avLst/>
          </a:prstGeom>
          <a:noFill/>
          <a:ln>
            <a:noFill/>
          </a:ln>
        </p:spPr>
      </p:pic>
      <p:pic>
        <p:nvPicPr>
          <p:cNvPr id="438" name="Google Shape;438;p28"/>
          <p:cNvPicPr preferRelativeResize="0"/>
          <p:nvPr/>
        </p:nvPicPr>
        <p:blipFill rotWithShape="1">
          <a:blip r:embed="rId3"/>
          <a:srcRect/>
          <a:stretch>
            <a:fillRect/>
          </a:stretch>
        </p:blipFill>
        <p:spPr>
          <a:xfrm>
            <a:off x="3156846" y="5746115"/>
            <a:ext cx="4038600" cy="774700"/>
          </a:xfrm>
          <a:prstGeom prst="rect">
            <a:avLst/>
          </a:prstGeom>
          <a:noFill/>
          <a:ln>
            <a:noFill/>
          </a:ln>
        </p:spPr>
      </p:pic>
      <p:sp>
        <p:nvSpPr>
          <p:cNvPr id="439" name="Google Shape;439;p28"/>
          <p:cNvSpPr txBox="1"/>
          <p:nvPr/>
        </p:nvSpPr>
        <p:spPr>
          <a:xfrm>
            <a:off x="1396613" y="29261"/>
            <a:ext cx="7559065"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FF0000"/>
                </a:solidFill>
                <a:latin typeface="Times New Roman" panose="02020603050405020304"/>
                <a:ea typeface="Times New Roman" panose="02020603050405020304"/>
                <a:cs typeface="Times New Roman" panose="02020603050405020304"/>
                <a:sym typeface="Times New Roman" panose="02020603050405020304"/>
              </a:rPr>
              <a:t>            Bài toán áp dụng</a:t>
            </a:r>
            <a:endParaRPr sz="3600" b="1">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40" name="Google Shape;440;p28"/>
          <p:cNvSpPr txBox="1"/>
          <p:nvPr/>
        </p:nvSpPr>
        <p:spPr>
          <a:xfrm>
            <a:off x="762000" y="3313181"/>
            <a:ext cx="97334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Times New Roman" panose="02020603050405020304"/>
                <a:ea typeface="Times New Roman" panose="02020603050405020304"/>
                <a:cs typeface="Times New Roman" panose="02020603050405020304"/>
                <a:sym typeface="Times New Roman" panose="02020603050405020304"/>
              </a:rPr>
              <a:t>Tóm tắt</a:t>
            </a:r>
            <a:endParaRPr sz="18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444" name="Shape 444"/>
        <p:cNvGrpSpPr/>
        <p:nvPr/>
      </p:nvGrpSpPr>
      <p:grpSpPr>
        <a:xfrm>
          <a:off x="0" y="0"/>
          <a:ext cx="0" cy="0"/>
          <a:chOff x="0" y="0"/>
          <a:chExt cx="0" cy="0"/>
        </a:xfrm>
      </p:grpSpPr>
      <p:sp>
        <p:nvSpPr>
          <p:cNvPr id="445" name="Google Shape;445;p29"/>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b="1"/>
              <a:t>PHIẾU HỌC TẬP SỐ 4</a:t>
            </a:r>
            <a:endParaRPr lang="en-US" b="1"/>
          </a:p>
          <a:p>
            <a:pPr marL="342900" lvl="0" indent="-342900" algn="l" rtl="0">
              <a:spcBef>
                <a:spcPts val="640"/>
              </a:spcBef>
              <a:spcAft>
                <a:spcPts val="0"/>
              </a:spcAft>
              <a:buClr>
                <a:schemeClr val="dk1"/>
              </a:buClr>
              <a:buSzPts val="3200"/>
              <a:buChar char="•"/>
            </a:pPr>
            <a:r>
              <a:rPr lang="en-US"/>
              <a:t>Nêu và giải thích sự hình thành sóng dừng trong các nhạc cụ dây và nhạc cụ khí?</a:t>
            </a:r>
            <a:endParaRPr lang="en-US"/>
          </a:p>
          <a:p>
            <a:pPr marL="342900" lvl="0" indent="-342900" algn="l" rtl="0">
              <a:spcBef>
                <a:spcPts val="640"/>
              </a:spcBef>
              <a:spcAft>
                <a:spcPts val="0"/>
              </a:spcAft>
              <a:buClr>
                <a:schemeClr val="dk1"/>
              </a:buClr>
              <a:buSzPts val="3200"/>
              <a:buChar char="•"/>
            </a:pPr>
            <a:r>
              <a:rPr lang="en-US"/>
              <a:t>Xét trường hợp có sóng dừng với một đầu cố định, và một đầu tự do, hãy viết điều kiện có sóng dừng? Xác định số nút, số bụng?</a:t>
            </a:r>
            <a:endParaRPr lang="en-US"/>
          </a:p>
        </p:txBody>
      </p:sp>
      <p:sp>
        <p:nvSpPr>
          <p:cNvPr id="446" name="Google Shape;446;p29"/>
          <p:cNvSpPr/>
          <p:nvPr>
            <p:ph type="title"/>
          </p:nvPr>
        </p:nvSpPr>
        <p:spPr>
          <a:xfrm>
            <a:off x="457200" y="274638"/>
            <a:ext cx="8229600" cy="1143000"/>
          </a:xfrm>
          <a:prstGeom prst="horizontalScroll">
            <a:avLst>
              <a:gd name="adj" fmla="val 12500"/>
            </a:avLst>
          </a:prstGeom>
          <a:solidFill>
            <a:srgbClr val="DAE5F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FC7876"/>
              </a:buClr>
              <a:buSzPts val="3600"/>
              <a:buFont typeface="Times New Roman" panose="02020603050405020304"/>
              <a:buNone/>
            </a:pPr>
            <a:r>
              <a:rPr lang="en-US" sz="3600" b="1" cap="none">
                <a:solidFill>
                  <a:srgbClr val="FC7876"/>
                </a:solidFill>
                <a:latin typeface="Times New Roman" panose="02020603050405020304"/>
                <a:ea typeface="Times New Roman" panose="02020603050405020304"/>
                <a:cs typeface="Times New Roman" panose="02020603050405020304"/>
                <a:sym typeface="Times New Roman" panose="02020603050405020304"/>
              </a:rPr>
              <a:t>BÀI SÓNG DỪNG</a:t>
            </a:r>
            <a:endParaRPr sz="3600" b="1" cap="none">
              <a:solidFill>
                <a:srgbClr val="FC7876"/>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450" name="Shape 450"/>
        <p:cNvGrpSpPr/>
        <p:nvPr/>
      </p:nvGrpSpPr>
      <p:grpSpPr>
        <a:xfrm>
          <a:off x="0" y="0"/>
          <a:ext cx="0" cy="0"/>
          <a:chOff x="0" y="0"/>
          <a:chExt cx="0" cy="0"/>
        </a:xfrm>
      </p:grpSpPr>
      <p:sp>
        <p:nvSpPr>
          <p:cNvPr id="451" name="Google Shape;451;p30"/>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p>
        </p:txBody>
      </p:sp>
      <p:sp>
        <p:nvSpPr>
          <p:cNvPr id="452" name="Google Shape;452;p30"/>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p>
        </p:txBody>
      </p:sp>
      <p:pic>
        <p:nvPicPr>
          <p:cNvPr id="453" name="Google Shape;453;p30"/>
          <p:cNvPicPr preferRelativeResize="0"/>
          <p:nvPr/>
        </p:nvPicPr>
        <p:blipFill rotWithShape="1">
          <a:blip r:embed="rId1"/>
          <a:srcRect/>
          <a:stretch>
            <a:fillRect/>
          </a:stretch>
        </p:blipFill>
        <p:spPr>
          <a:xfrm>
            <a:off x="533400" y="76200"/>
            <a:ext cx="8077200" cy="5791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458" name="Shape 458"/>
        <p:cNvGrpSpPr/>
        <p:nvPr/>
      </p:nvGrpSpPr>
      <p:grpSpPr>
        <a:xfrm>
          <a:off x="0" y="0"/>
          <a:ext cx="0" cy="0"/>
          <a:chOff x="0" y="0"/>
          <a:chExt cx="0" cy="0"/>
        </a:xfrm>
      </p:grpSpPr>
      <p:sp>
        <p:nvSpPr>
          <p:cNvPr id="459" name="Google Shape;459;p3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p>
        </p:txBody>
      </p:sp>
      <p:sp>
        <p:nvSpPr>
          <p:cNvPr id="460" name="Google Shape;460;p3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p>
        </p:txBody>
      </p:sp>
      <p:pic>
        <p:nvPicPr>
          <p:cNvPr id="461" name="Google Shape;461;p31">
            <a:hlinkClick r:id="rId1"/>
          </p:cNvPr>
          <p:cNvPicPr preferRelativeResize="0"/>
          <p:nvPr/>
        </p:nvPicPr>
        <p:blipFill rotWithShape="1">
          <a:blip r:embed="rId2"/>
          <a:srcRect/>
          <a:stretch>
            <a:fillRect/>
          </a:stretch>
        </p:blipFill>
        <p:spPr>
          <a:xfrm>
            <a:off x="533400" y="228600"/>
            <a:ext cx="8610600" cy="6400800"/>
          </a:xfrm>
          <a:prstGeom prst="rect">
            <a:avLst/>
          </a:prstGeom>
          <a:noFill/>
          <a:ln>
            <a:noFill/>
          </a:ln>
        </p:spPr>
      </p:pic>
      <p:sp>
        <p:nvSpPr>
          <p:cNvPr id="462" name="Google Shape;462;p31">
            <a:hlinkClick r:id="rId1"/>
          </p:cNvPr>
          <p:cNvSpPr/>
          <p:nvPr/>
        </p:nvSpPr>
        <p:spPr>
          <a:xfrm>
            <a:off x="8446008" y="6449429"/>
            <a:ext cx="489204" cy="484632"/>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3" name="Google Shape;463;p31">
            <a:hlinkClick r:id="rId1"/>
          </p:cNvPr>
          <p:cNvSpPr/>
          <p:nvPr/>
        </p:nvSpPr>
        <p:spPr>
          <a:xfrm>
            <a:off x="7706591" y="6691744"/>
            <a:ext cx="381000" cy="166255"/>
          </a:xfrm>
          <a:custGeom>
            <a:avLst/>
            <a:gdLst/>
            <a:ahLst/>
            <a:cxnLst/>
            <a:rect l="l" t="t" r="r" b="b"/>
            <a:pathLst>
              <a:path w="120000" h="120000" extrusionOk="0">
                <a:moveTo>
                  <a:pt x="0" y="0"/>
                </a:moveTo>
                <a:lnTo>
                  <a:pt x="120000" y="0"/>
                </a:lnTo>
                <a:lnTo>
                  <a:pt x="120000" y="120000"/>
                </a:lnTo>
                <a:lnTo>
                  <a:pt x="0" y="120000"/>
                </a:lnTo>
                <a:close/>
                <a:moveTo>
                  <a:pt x="40364" y="60000"/>
                </a:moveTo>
                <a:lnTo>
                  <a:pt x="79636" y="15000"/>
                </a:lnTo>
                <a:lnTo>
                  <a:pt x="79636" y="105000"/>
                </a:lnTo>
                <a:close/>
              </a:path>
              <a:path w="120000" h="120000" fill="darken" extrusionOk="0">
                <a:moveTo>
                  <a:pt x="40364" y="60000"/>
                </a:moveTo>
                <a:lnTo>
                  <a:pt x="79636" y="15000"/>
                </a:lnTo>
                <a:lnTo>
                  <a:pt x="79636" y="105000"/>
                </a:lnTo>
                <a:close/>
              </a:path>
              <a:path w="120000" h="120000" fill="none" extrusionOk="0">
                <a:moveTo>
                  <a:pt x="40364" y="60000"/>
                </a:moveTo>
                <a:lnTo>
                  <a:pt x="79636" y="15000"/>
                </a:lnTo>
                <a:lnTo>
                  <a:pt x="79636" y="105000"/>
                </a:lnTo>
                <a:close/>
              </a:path>
              <a:path w="120000" h="120000" fill="none" extrusionOk="0">
                <a:moveTo>
                  <a:pt x="0" y="0"/>
                </a:moveTo>
                <a:lnTo>
                  <a:pt x="120000" y="0"/>
                </a:lnTo>
                <a:lnTo>
                  <a:pt x="120000" y="120000"/>
                </a:lnTo>
                <a:lnTo>
                  <a:pt x="0" y="120000"/>
                </a:lnTo>
                <a:close/>
              </a:path>
            </a:pathLst>
          </a:cu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467" name="Shape 467"/>
        <p:cNvGrpSpPr/>
        <p:nvPr/>
      </p:nvGrpSpPr>
      <p:grpSpPr>
        <a:xfrm>
          <a:off x="0" y="0"/>
          <a:ext cx="0" cy="0"/>
          <a:chOff x="0" y="0"/>
          <a:chExt cx="0" cy="0"/>
        </a:xfrm>
      </p:grpSpPr>
      <p:sp>
        <p:nvSpPr>
          <p:cNvPr id="468" name="Google Shape;468;p32"/>
          <p:cNvSpPr txBox="1"/>
          <p:nvPr>
            <p:ph type="body" idx="1"/>
          </p:nvPr>
        </p:nvSpPr>
        <p:spPr>
          <a:xfrm>
            <a:off x="457200" y="838200"/>
            <a:ext cx="4343400" cy="5287963"/>
          </a:xfrm>
          <a:prstGeom prst="rect">
            <a:avLst/>
          </a:prstGeom>
          <a:blipFill rotWithShape="1">
            <a:blip r:embed="rId1"/>
            <a:stretch>
              <a:fillRect l="-2383" t="-2650" r="-2382" b="-1960"/>
            </a:stretch>
          </a:blip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3200"/>
              <a:buChar char="•"/>
            </a:pPr>
            <a:r>
              <a:rPr lang="en-US"/>
              <a:t> </a:t>
            </a:r>
            <a:endParaRPr lang="en-US"/>
          </a:p>
        </p:txBody>
      </p:sp>
      <p:sp>
        <p:nvSpPr>
          <p:cNvPr id="469" name="Google Shape;469;p32"/>
          <p:cNvSpPr/>
          <p:nvPr>
            <p:ph type="title"/>
          </p:nvPr>
        </p:nvSpPr>
        <p:spPr>
          <a:xfrm>
            <a:off x="465666" y="-152400"/>
            <a:ext cx="8229600" cy="1143000"/>
          </a:xfrm>
          <a:prstGeom prst="horizontalScroll">
            <a:avLst>
              <a:gd name="adj" fmla="val 12500"/>
            </a:avLst>
          </a:prstGeom>
          <a:solidFill>
            <a:srgbClr val="DAE5F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FC7876"/>
              </a:buClr>
              <a:buSzPts val="3600"/>
              <a:buFont typeface="Times New Roman" panose="02020603050405020304"/>
              <a:buNone/>
            </a:pPr>
            <a:r>
              <a:rPr lang="en-US" sz="3600" b="1" cap="none">
                <a:solidFill>
                  <a:srgbClr val="FC7876"/>
                </a:solidFill>
                <a:latin typeface="Times New Roman" panose="02020603050405020304"/>
                <a:ea typeface="Times New Roman" panose="02020603050405020304"/>
                <a:cs typeface="Times New Roman" panose="02020603050405020304"/>
                <a:sym typeface="Times New Roman" panose="02020603050405020304"/>
              </a:rPr>
              <a:t>BÀI SÓNG DỪNG</a:t>
            </a:r>
            <a:endParaRPr sz="3600" b="1" cap="none">
              <a:solidFill>
                <a:srgbClr val="FC7876"/>
              </a:solidFill>
            </a:endParaRPr>
          </a:p>
        </p:txBody>
      </p:sp>
      <p:sp>
        <p:nvSpPr>
          <p:cNvPr id="470" name="Google Shape;470;p32"/>
          <p:cNvSpPr txBox="1"/>
          <p:nvPr/>
        </p:nvSpPr>
        <p:spPr>
          <a:xfrm>
            <a:off x="4990197" y="983288"/>
            <a:ext cx="3742266" cy="5161613"/>
          </a:xfrm>
          <a:prstGeom prst="rect">
            <a:avLst/>
          </a:prstGeom>
          <a:blipFill rotWithShape="1">
            <a:blip r:embed="rId2"/>
            <a:stretch>
              <a:fillRect l="-2772" t="-1534" r="-1466" b="-35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lang="en-US" sz="1800">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474" name="Shape 474"/>
        <p:cNvGrpSpPr/>
        <p:nvPr/>
      </p:nvGrpSpPr>
      <p:grpSpPr>
        <a:xfrm>
          <a:off x="0" y="0"/>
          <a:ext cx="0" cy="0"/>
          <a:chOff x="0" y="0"/>
          <a:chExt cx="0" cy="0"/>
        </a:xfrm>
      </p:grpSpPr>
      <p:sp>
        <p:nvSpPr>
          <p:cNvPr id="475" name="Google Shape;475;p33"/>
          <p:cNvSpPr/>
          <p:nvPr/>
        </p:nvSpPr>
        <p:spPr>
          <a:xfrm>
            <a:off x="955730" y="304800"/>
            <a:ext cx="8153399" cy="2819400"/>
          </a:xfrm>
          <a:prstGeom prst="cloudCallout">
            <a:avLst>
              <a:gd name="adj1" fmla="val -20833"/>
              <a:gd name="adj2" fmla="val 62500"/>
            </a:avLst>
          </a:prstGeom>
          <a:solidFill>
            <a:srgbClr val="E5B8B7"/>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400" b="1">
                <a:solidFill>
                  <a:srgbClr val="000000"/>
                </a:solidFill>
                <a:latin typeface="Times New Roman" panose="02020603050405020304"/>
                <a:ea typeface="Times New Roman" panose="02020603050405020304"/>
                <a:cs typeface="Times New Roman" panose="02020603050405020304"/>
                <a:sym typeface="Times New Roman" panose="02020603050405020304"/>
              </a:rPr>
              <a:t>Sóng dừng có ứng dụng gì?</a:t>
            </a:r>
            <a:endParaRPr sz="1800" b="1">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76" name="Google Shape;476;p33" descr="Ảnh có chứa đồ chơi, búp bê, đồ họa véc-tơ&#10;&#10;Mô tả được tạo tự động"/>
          <p:cNvPicPr preferRelativeResize="0"/>
          <p:nvPr/>
        </p:nvPicPr>
        <p:blipFill rotWithShape="1">
          <a:blip r:embed="rId1"/>
          <a:srcRect/>
          <a:stretch>
            <a:fillRect/>
          </a:stretch>
        </p:blipFill>
        <p:spPr>
          <a:xfrm>
            <a:off x="-304800" y="2960023"/>
            <a:ext cx="3657600" cy="389797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480" name="Shape 480"/>
        <p:cNvGrpSpPr/>
        <p:nvPr/>
      </p:nvGrpSpPr>
      <p:grpSpPr>
        <a:xfrm>
          <a:off x="0" y="0"/>
          <a:ext cx="0" cy="0"/>
          <a:chOff x="0" y="0"/>
          <a:chExt cx="0" cy="0"/>
        </a:xfrm>
      </p:grpSpPr>
      <p:sp>
        <p:nvSpPr>
          <p:cNvPr id="481" name="Google Shape;481;p3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C00000"/>
              </a:buClr>
              <a:buSzPts val="4400"/>
              <a:buFont typeface="Calibri"/>
              <a:buNone/>
            </a:pPr>
            <a:r>
              <a:rPr lang="en-US">
                <a:solidFill>
                  <a:srgbClr val="C00000"/>
                </a:solidFill>
              </a:rPr>
              <a:t>Ứng dụng của sóng dừng</a:t>
            </a:r>
            <a:endParaRPr>
              <a:solidFill>
                <a:srgbClr val="C00000"/>
              </a:solidFill>
            </a:endParaRPr>
          </a:p>
        </p:txBody>
      </p:sp>
      <p:sp>
        <p:nvSpPr>
          <p:cNvPr id="482" name="Google Shape;482;p34"/>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85000" lnSpcReduction="10000"/>
          </a:bodyPr>
          <a:lstStyle/>
          <a:p>
            <a:pPr marL="0" lvl="0" indent="0" algn="just" rtl="0">
              <a:lnSpc>
                <a:spcPct val="150000"/>
              </a:lnSpc>
              <a:spcBef>
                <a:spcPts val="0"/>
              </a:spcBef>
              <a:spcAft>
                <a:spcPts val="0"/>
              </a:spcAft>
              <a:buClr>
                <a:schemeClr val="dk1"/>
              </a:buClr>
              <a:buSzPct val="133000"/>
              <a:buNone/>
            </a:pPr>
            <a:r>
              <a:rPr lang="en-US">
                <a:latin typeface="Times New Roman" panose="02020603050405020304"/>
                <a:ea typeface="Times New Roman" panose="02020603050405020304"/>
                <a:cs typeface="Times New Roman" panose="02020603050405020304"/>
                <a:sym typeface="Times New Roman" panose="02020603050405020304"/>
              </a:rPr>
              <a:t>Có thể </a:t>
            </a:r>
            <a:r>
              <a:rPr lang="en-US" b="1">
                <a:solidFill>
                  <a:srgbClr val="FF0000"/>
                </a:solidFill>
                <a:latin typeface="Times New Roman" panose="02020603050405020304"/>
                <a:ea typeface="Times New Roman" panose="02020603050405020304"/>
                <a:cs typeface="Times New Roman" panose="02020603050405020304"/>
                <a:sym typeface="Times New Roman" panose="02020603050405020304"/>
              </a:rPr>
              <a:t>xác định tốc độ truyền sóng </a:t>
            </a:r>
            <a:r>
              <a:rPr lang="en-US">
                <a:latin typeface="Times New Roman" panose="02020603050405020304"/>
                <a:ea typeface="Times New Roman" panose="02020603050405020304"/>
                <a:cs typeface="Times New Roman" panose="02020603050405020304"/>
                <a:sym typeface="Times New Roman" panose="02020603050405020304"/>
              </a:rPr>
              <a:t>trên dây bằng cách sử dụng phương pháp sóng dừng như sau:</a:t>
            </a:r>
            <a:endParaRPr sz="2400"/>
          </a:p>
          <a:p>
            <a:pPr marL="0" lvl="0" indent="0" algn="just" rtl="0">
              <a:lnSpc>
                <a:spcPct val="150000"/>
              </a:lnSpc>
              <a:spcBef>
                <a:spcPts val="1300"/>
              </a:spcBef>
              <a:spcAft>
                <a:spcPts val="0"/>
              </a:spcAft>
              <a:buClr>
                <a:schemeClr val="dk1"/>
              </a:buClr>
              <a:buSzPct val="133000"/>
              <a:buNone/>
            </a:pPr>
            <a:r>
              <a:rPr lang="en-US">
                <a:latin typeface="Times New Roman" panose="02020603050405020304"/>
                <a:ea typeface="Times New Roman" panose="02020603050405020304"/>
                <a:cs typeface="Times New Roman" panose="02020603050405020304"/>
                <a:sym typeface="Times New Roman" panose="02020603050405020304"/>
              </a:rPr>
              <a:t>- Tạo sóng dừng trên một sợi dây có hai đầu cố định, hoặc trên một sợi dây có một đầu cố định, một đầu tự do.</a:t>
            </a:r>
            <a:endParaRPr sz="2400"/>
          </a:p>
          <a:p>
            <a:pPr marL="0" lvl="0" indent="0" algn="just" rtl="0">
              <a:lnSpc>
                <a:spcPct val="150000"/>
              </a:lnSpc>
              <a:spcBef>
                <a:spcPts val="900"/>
              </a:spcBef>
              <a:spcAft>
                <a:spcPts val="0"/>
              </a:spcAft>
              <a:buClr>
                <a:schemeClr val="dk1"/>
              </a:buClr>
              <a:buSzPct val="133000"/>
              <a:buNone/>
            </a:pPr>
            <a:r>
              <a:rPr lang="en-US">
                <a:latin typeface="Times New Roman" panose="02020603050405020304"/>
                <a:ea typeface="Times New Roman" panose="02020603050405020304"/>
                <a:cs typeface="Times New Roman" panose="02020603050405020304"/>
                <a:sym typeface="Times New Roman" panose="02020603050405020304"/>
              </a:rPr>
              <a:t>- Đo chiều dài dây, căn cứ số nút sóng (hoặc bụng sóng) để tính bước sóng λ. </a:t>
            </a:r>
            <a:endParaRPr sz="2400"/>
          </a:p>
          <a:p>
            <a:pPr marL="0" lvl="0" indent="0" algn="l" rtl="0">
              <a:spcBef>
                <a:spcPts val="1145"/>
              </a:spcBef>
              <a:spcAft>
                <a:spcPts val="0"/>
              </a:spcAft>
              <a:buClr>
                <a:schemeClr val="dk1"/>
              </a:buClr>
              <a:buSzPct val="100000"/>
              <a:buNone/>
            </a:pPr>
            <a:r>
              <a:rPr lang="en-US">
                <a:latin typeface="Times New Roman" panose="02020603050405020304"/>
                <a:ea typeface="Times New Roman" panose="02020603050405020304"/>
                <a:cs typeface="Times New Roman" panose="02020603050405020304"/>
                <a:sym typeface="Times New Roman" panose="02020603050405020304"/>
              </a:rPr>
              <a:t>- Tính tốc độ truyền sóng</a:t>
            </a:r>
            <a:r>
              <a:rPr lang="en-US" u="sng">
                <a:solidFill>
                  <a:srgbClr val="008080"/>
                </a:solidFill>
                <a:latin typeface="Times New Roman" panose="02020603050405020304"/>
                <a:ea typeface="Times New Roman" panose="02020603050405020304"/>
                <a:cs typeface="Times New Roman" panose="02020603050405020304"/>
                <a:sym typeface="Times New Roman" panose="02020603050405020304"/>
              </a:rPr>
              <a:t> </a:t>
            </a:r>
            <a:r>
              <a:rPr lang="en-US">
                <a:latin typeface="Times New Roman" panose="02020603050405020304"/>
                <a:ea typeface="Times New Roman" panose="02020603050405020304"/>
                <a:cs typeface="Times New Roman" panose="02020603050405020304"/>
                <a:sym typeface="Times New Roman" panose="02020603050405020304"/>
              </a:rPr>
              <a:t>theo công thức : </a:t>
            </a:r>
            <a:endParaRPr lang="en-US">
              <a:latin typeface="Times New Roman" panose="02020603050405020304"/>
              <a:ea typeface="Times New Roman" panose="02020603050405020304"/>
              <a:cs typeface="Times New Roman" panose="02020603050405020304"/>
              <a:sym typeface="Times New Roman" panose="02020603050405020304"/>
            </a:endParaRPr>
          </a:p>
        </p:txBody>
      </p:sp>
      <p:pic>
        <p:nvPicPr>
          <p:cNvPr id="483" name="Google Shape;483;p34"/>
          <p:cNvPicPr preferRelativeResize="0"/>
          <p:nvPr/>
        </p:nvPicPr>
        <p:blipFill rotWithShape="1">
          <a:blip r:embed="rId1"/>
          <a:srcRect/>
          <a:stretch>
            <a:fillRect/>
          </a:stretch>
        </p:blipFill>
        <p:spPr>
          <a:xfrm>
            <a:off x="6705600" y="5375189"/>
            <a:ext cx="1219200" cy="527222"/>
          </a:xfrm>
          <a:prstGeom prst="rect">
            <a:avLst/>
          </a:prstGeom>
          <a:noFill/>
          <a:ln>
            <a:noFill/>
          </a:ln>
        </p:spPr>
      </p:pic>
      <p:pic>
        <p:nvPicPr>
          <p:cNvPr id="484" name="Google Shape;484;p34"/>
          <p:cNvPicPr preferRelativeResize="0"/>
          <p:nvPr/>
        </p:nvPicPr>
        <p:blipFill rotWithShape="1">
          <a:blip r:embed="rId2"/>
          <a:srcRect/>
          <a:stretch>
            <a:fillRect/>
          </a:stretch>
        </p:blipFill>
        <p:spPr>
          <a:xfrm>
            <a:off x="3581400" y="4785472"/>
            <a:ext cx="1524000" cy="7446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488" name="Shape 488"/>
        <p:cNvGrpSpPr/>
        <p:nvPr/>
      </p:nvGrpSpPr>
      <p:grpSpPr>
        <a:xfrm>
          <a:off x="0" y="0"/>
          <a:ext cx="0" cy="0"/>
          <a:chOff x="0" y="0"/>
          <a:chExt cx="0" cy="0"/>
        </a:xfrm>
      </p:grpSpPr>
      <p:sp>
        <p:nvSpPr>
          <p:cNvPr id="489" name="Google Shape;489;p35"/>
          <p:cNvSpPr/>
          <p:nvPr/>
        </p:nvSpPr>
        <p:spPr>
          <a:xfrm>
            <a:off x="990601" y="304800"/>
            <a:ext cx="8153399" cy="2819400"/>
          </a:xfrm>
          <a:prstGeom prst="cloudCallout">
            <a:avLst>
              <a:gd name="adj1" fmla="val -20833"/>
              <a:gd name="adj2" fmla="val 62500"/>
            </a:avLst>
          </a:prstGeom>
          <a:solidFill>
            <a:srgbClr val="E5B8B7"/>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400" b="1">
                <a:solidFill>
                  <a:srgbClr val="000000"/>
                </a:solidFill>
                <a:latin typeface="Times New Roman" panose="02020603050405020304"/>
                <a:ea typeface="Times New Roman" panose="02020603050405020304"/>
                <a:cs typeface="Times New Roman" panose="02020603050405020304"/>
                <a:sym typeface="Times New Roman" panose="02020603050405020304"/>
              </a:rPr>
              <a:t>Nêu một số ứng dụng khác của sóng dừng mà em biêt?</a:t>
            </a:r>
            <a:endParaRPr sz="1800" b="1">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90" name="Google Shape;490;p35" descr="Ảnh có chứa đồ chơi, búp bê, đồ họa véc-tơ&#10;&#10;Mô tả được tạo tự động"/>
          <p:cNvPicPr preferRelativeResize="0"/>
          <p:nvPr/>
        </p:nvPicPr>
        <p:blipFill rotWithShape="1">
          <a:blip r:embed="rId1"/>
          <a:srcRect/>
          <a:stretch>
            <a:fillRect/>
          </a:stretch>
        </p:blipFill>
        <p:spPr>
          <a:xfrm>
            <a:off x="-304800" y="2960023"/>
            <a:ext cx="3657600" cy="389797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494" name="Shape 494"/>
        <p:cNvGrpSpPr/>
        <p:nvPr/>
      </p:nvGrpSpPr>
      <p:grpSpPr>
        <a:xfrm>
          <a:off x="0" y="0"/>
          <a:ext cx="0" cy="0"/>
          <a:chOff x="0" y="0"/>
          <a:chExt cx="0" cy="0"/>
        </a:xfrm>
      </p:grpSpPr>
      <p:sp>
        <p:nvSpPr>
          <p:cNvPr id="495" name="Google Shape;495;p3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FF0000"/>
              </a:buClr>
              <a:buSzPts val="4400"/>
              <a:buFont typeface="Times New Roman" panose="02020603050405020304"/>
              <a:buNone/>
            </a:pPr>
            <a:r>
              <a:rPr lang="en-US" b="1">
                <a:solidFill>
                  <a:srgbClr val="FF0000"/>
                </a:solidFill>
                <a:latin typeface="Times New Roman" panose="02020603050405020304"/>
                <a:ea typeface="Times New Roman" panose="02020603050405020304"/>
                <a:cs typeface="Times New Roman" panose="02020603050405020304"/>
                <a:sym typeface="Times New Roman" panose="02020603050405020304"/>
              </a:rPr>
              <a:t>Củng cố</a:t>
            </a:r>
            <a:endParaRPr b="1">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96" name="Google Shape;496;p36"/>
          <p:cNvSpPr txBox="1"/>
          <p:nvPr>
            <p:ph type="body" idx="1"/>
          </p:nvPr>
        </p:nvSpPr>
        <p:spPr>
          <a:xfrm>
            <a:off x="381000" y="1447800"/>
            <a:ext cx="8305800" cy="46021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000000"/>
              </a:buClr>
              <a:buSzPts val="2800"/>
              <a:buNone/>
            </a:pPr>
            <a:r>
              <a:rPr lang="en-US" sz="2800" b="1">
                <a:solidFill>
                  <a:srgbClr val="000000"/>
                </a:solidFill>
                <a:latin typeface="Times New Roman" panose="02020603050405020304"/>
                <a:ea typeface="Times New Roman" panose="02020603050405020304"/>
                <a:cs typeface="Times New Roman" panose="02020603050405020304"/>
                <a:sym typeface="Times New Roman" panose="02020603050405020304"/>
              </a:rPr>
              <a:t>Câu 1. </a:t>
            </a:r>
            <a:r>
              <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rPr>
              <a:t>Chọn đáp án </a:t>
            </a:r>
            <a:r>
              <a:rPr lang="en-US" sz="2800" b="1">
                <a:solidFill>
                  <a:srgbClr val="000000"/>
                </a:solidFill>
                <a:latin typeface="Times New Roman" panose="02020603050405020304"/>
                <a:ea typeface="Times New Roman" panose="02020603050405020304"/>
                <a:cs typeface="Times New Roman" panose="02020603050405020304"/>
                <a:sym typeface="Times New Roman" panose="02020603050405020304"/>
              </a:rPr>
              <a:t>đúng:</a:t>
            </a:r>
            <a:endParaRPr lang="en-US" sz="2800" b="1">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400"/>
              </a:spcBef>
              <a:spcAft>
                <a:spcPts val="0"/>
              </a:spcAft>
              <a:buClr>
                <a:srgbClr val="000000"/>
              </a:buClr>
              <a:buSzPts val="2800"/>
              <a:buNone/>
            </a:pPr>
            <a:r>
              <a:rPr lang="en-US" sz="2800" b="1">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rPr>
              <a:t>Trong hệ sóng dừng trên một sợi dây, khoảng cách giữa hai nút hoặc hai bụng liên tiếp bằng </a:t>
            </a:r>
            <a:endPar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400"/>
              </a:spcBef>
              <a:spcAft>
                <a:spcPts val="0"/>
              </a:spcAft>
              <a:buClr>
                <a:srgbClr val="000000"/>
              </a:buClr>
              <a:buSzPts val="2800"/>
              <a:buNone/>
            </a:pPr>
            <a:r>
              <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rPr>
              <a:t>  A. một bước sóng</a:t>
            </a:r>
            <a:endParaRPr sz="2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400"/>
              </a:spcBef>
              <a:spcAft>
                <a:spcPts val="0"/>
              </a:spcAft>
              <a:buClr>
                <a:srgbClr val="000000"/>
              </a:buClr>
              <a:buSzPts val="2800"/>
              <a:buNone/>
            </a:pPr>
            <a:r>
              <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rPr>
              <a:t>  B. hai bước sóng</a:t>
            </a:r>
            <a:endParaRPr sz="2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400"/>
              </a:spcBef>
              <a:spcAft>
                <a:spcPts val="0"/>
              </a:spcAft>
              <a:buClr>
                <a:srgbClr val="000000"/>
              </a:buClr>
              <a:buSzPts val="2800"/>
              <a:buNone/>
            </a:pPr>
            <a:r>
              <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rPr>
              <a:t>  C. một nửa bước sóng </a:t>
            </a:r>
            <a:endPar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400"/>
              </a:spcBef>
              <a:spcAft>
                <a:spcPts val="0"/>
              </a:spcAft>
              <a:buClr>
                <a:srgbClr val="000000"/>
              </a:buClr>
              <a:buSzPts val="2800"/>
              <a:buNone/>
            </a:pPr>
            <a:r>
              <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rPr>
              <a:t>  D. một phần tư bước sóng</a:t>
            </a:r>
            <a:endParaRPr sz="2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spcBef>
                <a:spcPts val="640"/>
              </a:spcBef>
              <a:spcAft>
                <a:spcPts val="0"/>
              </a:spcAft>
              <a:buClr>
                <a:schemeClr val="dk1"/>
              </a:buClr>
              <a:buSzPts val="3200"/>
              <a:buNone/>
            </a:pPr>
          </a:p>
        </p:txBody>
      </p:sp>
      <p:sp>
        <p:nvSpPr>
          <p:cNvPr id="497" name="Google Shape;497;p36"/>
          <p:cNvSpPr/>
          <p:nvPr/>
        </p:nvSpPr>
        <p:spPr>
          <a:xfrm>
            <a:off x="457200" y="4450080"/>
            <a:ext cx="609600" cy="762000"/>
          </a:xfrm>
          <a:prstGeom prst="ellipse">
            <a:avLst/>
          </a:prstGeom>
          <a:solidFill>
            <a:schemeClr val="lt1"/>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C</a:t>
            </a:r>
            <a:endPar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501" name="Shape 501"/>
        <p:cNvGrpSpPr/>
        <p:nvPr/>
      </p:nvGrpSpPr>
      <p:grpSpPr>
        <a:xfrm>
          <a:off x="0" y="0"/>
          <a:ext cx="0" cy="0"/>
          <a:chOff x="0" y="0"/>
          <a:chExt cx="0" cy="0"/>
        </a:xfrm>
      </p:grpSpPr>
      <p:sp>
        <p:nvSpPr>
          <p:cNvPr id="502" name="Google Shape;502;p3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FF0000"/>
              </a:buClr>
              <a:buSzPts val="4400"/>
              <a:buFont typeface="Times New Roman" panose="02020603050405020304"/>
              <a:buNone/>
            </a:pPr>
            <a:r>
              <a:rPr lang="en-US" b="1">
                <a:solidFill>
                  <a:srgbClr val="FF0000"/>
                </a:solidFill>
                <a:latin typeface="Times New Roman" panose="02020603050405020304"/>
                <a:ea typeface="Times New Roman" panose="02020603050405020304"/>
                <a:cs typeface="Times New Roman" panose="02020603050405020304"/>
                <a:sym typeface="Times New Roman" panose="02020603050405020304"/>
              </a:rPr>
              <a:t>Củng cố</a:t>
            </a:r>
            <a:endParaRPr b="1">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03" name="Google Shape;503;p37"/>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85000" lnSpcReduction="10000"/>
          </a:bodyPr>
          <a:lstStyle/>
          <a:p>
            <a:pPr marL="0" lvl="0" indent="0" algn="just" rtl="0">
              <a:lnSpc>
                <a:spcPct val="150000"/>
              </a:lnSpc>
              <a:spcBef>
                <a:spcPts val="0"/>
              </a:spcBef>
              <a:spcAft>
                <a:spcPts val="0"/>
              </a:spcAft>
              <a:buClr>
                <a:srgbClr val="1F1F1F"/>
              </a:buClr>
              <a:buSzPct val="133000"/>
              <a:buNone/>
            </a:pPr>
            <a:r>
              <a:rPr lang="en-US" b="1">
                <a:solidFill>
                  <a:srgbClr val="1F1F1F"/>
                </a:solidFill>
                <a:latin typeface="Times New Roman" panose="02020603050405020304"/>
                <a:ea typeface="Times New Roman" panose="02020603050405020304"/>
                <a:cs typeface="Times New Roman" panose="02020603050405020304"/>
                <a:sym typeface="Times New Roman" panose="02020603050405020304"/>
              </a:rPr>
              <a:t>Câu 2:</a:t>
            </a:r>
            <a:r>
              <a:rPr lang="en-US">
                <a:solidFill>
                  <a:srgbClr val="1F1F1F"/>
                </a:solidFill>
                <a:latin typeface="Times New Roman" panose="02020603050405020304"/>
                <a:ea typeface="Times New Roman" panose="02020603050405020304"/>
                <a:cs typeface="Times New Roman" panose="02020603050405020304"/>
                <a:sym typeface="Times New Roman" panose="02020603050405020304"/>
              </a:rPr>
              <a:t> Chọn đáp án </a:t>
            </a:r>
            <a:r>
              <a:rPr lang="en-US" b="1" i="1">
                <a:solidFill>
                  <a:srgbClr val="1F1F1F"/>
                </a:solidFill>
                <a:latin typeface="Times New Roman" panose="02020603050405020304"/>
                <a:ea typeface="Times New Roman" panose="02020603050405020304"/>
                <a:cs typeface="Times New Roman" panose="02020603050405020304"/>
                <a:sym typeface="Times New Roman" panose="02020603050405020304"/>
              </a:rPr>
              <a:t>đúng</a:t>
            </a:r>
            <a:r>
              <a:rPr lang="en-US">
                <a:solidFill>
                  <a:srgbClr val="1F1F1F"/>
                </a:solidFill>
                <a:latin typeface="Times New Roman" panose="02020603050405020304"/>
                <a:ea typeface="Times New Roman" panose="02020603050405020304"/>
                <a:cs typeface="Times New Roman" panose="02020603050405020304"/>
                <a:sym typeface="Times New Roman" panose="02020603050405020304"/>
              </a:rPr>
              <a:t>. Tại điểm phản xạ thì sóng phản xạ</a:t>
            </a:r>
            <a:endParaRPr sz="2400"/>
          </a:p>
          <a:p>
            <a:pPr marL="0" lvl="0" indent="0" algn="just" rtl="0">
              <a:lnSpc>
                <a:spcPct val="150000"/>
              </a:lnSpc>
              <a:spcBef>
                <a:spcPts val="1145"/>
              </a:spcBef>
              <a:spcAft>
                <a:spcPts val="0"/>
              </a:spcAft>
              <a:buClr>
                <a:srgbClr val="1F1F1F"/>
              </a:buClr>
              <a:buSzPct val="133000"/>
              <a:buNone/>
            </a:pPr>
            <a:r>
              <a:rPr lang="en-US">
                <a:solidFill>
                  <a:srgbClr val="1F1F1F"/>
                </a:solidFill>
                <a:latin typeface="Times New Roman" panose="02020603050405020304"/>
                <a:ea typeface="Times New Roman" panose="02020603050405020304"/>
                <a:cs typeface="Times New Roman" panose="02020603050405020304"/>
                <a:sym typeface="Times New Roman" panose="02020603050405020304"/>
              </a:rPr>
              <a:t>	A. luôn ngược pha với sóng tới.		</a:t>
            </a:r>
            <a:endParaRPr sz="2400"/>
          </a:p>
          <a:p>
            <a:pPr marL="342900" lvl="0" indent="0" algn="just" rtl="0">
              <a:lnSpc>
                <a:spcPct val="150000"/>
              </a:lnSpc>
              <a:spcBef>
                <a:spcPts val="1145"/>
              </a:spcBef>
              <a:spcAft>
                <a:spcPts val="0"/>
              </a:spcAft>
              <a:buClr>
                <a:srgbClr val="1F1F1F"/>
              </a:buClr>
              <a:buSzPct val="133000"/>
              <a:buNone/>
            </a:pPr>
            <a:r>
              <a:rPr lang="en-US">
                <a:solidFill>
                  <a:srgbClr val="1F1F1F"/>
                </a:solidFill>
                <a:latin typeface="Times New Roman" panose="02020603050405020304"/>
                <a:ea typeface="Times New Roman" panose="02020603050405020304"/>
                <a:cs typeface="Times New Roman" panose="02020603050405020304"/>
                <a:sym typeface="Times New Roman" panose="02020603050405020304"/>
              </a:rPr>
              <a:t>	B. ngược pha với sóng tới nếu vật cản cố định.</a:t>
            </a:r>
            <a:endParaRPr sz="2400"/>
          </a:p>
          <a:p>
            <a:pPr marL="0" lvl="0" indent="0" algn="just" rtl="0">
              <a:lnSpc>
                <a:spcPct val="150000"/>
              </a:lnSpc>
              <a:spcBef>
                <a:spcPts val="1145"/>
              </a:spcBef>
              <a:spcAft>
                <a:spcPts val="0"/>
              </a:spcAft>
              <a:buClr>
                <a:srgbClr val="1F1F1F"/>
              </a:buClr>
              <a:buSzPct val="133000"/>
              <a:buNone/>
            </a:pPr>
            <a:r>
              <a:rPr lang="en-US">
                <a:solidFill>
                  <a:srgbClr val="1F1F1F"/>
                </a:solidFill>
                <a:latin typeface="Times New Roman" panose="02020603050405020304"/>
                <a:ea typeface="Times New Roman" panose="02020603050405020304"/>
                <a:cs typeface="Times New Roman" panose="02020603050405020304"/>
                <a:sym typeface="Times New Roman" panose="02020603050405020304"/>
              </a:rPr>
              <a:t>	C. ngược pha với sóng tới nếu vật cản tự do.</a:t>
            </a:r>
            <a:endParaRPr sz="2400"/>
          </a:p>
          <a:p>
            <a:pPr marL="0" lvl="0" indent="0" algn="just" rtl="0">
              <a:lnSpc>
                <a:spcPct val="150000"/>
              </a:lnSpc>
              <a:spcBef>
                <a:spcPts val="1145"/>
              </a:spcBef>
              <a:spcAft>
                <a:spcPts val="0"/>
              </a:spcAft>
              <a:buClr>
                <a:srgbClr val="1F1F1F"/>
              </a:buClr>
              <a:buSzPct val="133000"/>
              <a:buNone/>
            </a:pPr>
            <a:r>
              <a:rPr lang="en-US">
                <a:solidFill>
                  <a:srgbClr val="1F1F1F"/>
                </a:solidFill>
                <a:latin typeface="Times New Roman" panose="02020603050405020304"/>
                <a:ea typeface="Times New Roman" panose="02020603050405020304"/>
                <a:cs typeface="Times New Roman" panose="02020603050405020304"/>
                <a:sym typeface="Times New Roman" panose="02020603050405020304"/>
              </a:rPr>
              <a:t>	D. cùng pha với sóng tới nếu vật cản là cố định.</a:t>
            </a:r>
            <a:endParaRPr sz="2400"/>
          </a:p>
          <a:p>
            <a:pPr marL="342900" lvl="0" indent="-170180" algn="l" rtl="0">
              <a:spcBef>
                <a:spcPts val="1145"/>
              </a:spcBef>
              <a:spcAft>
                <a:spcPts val="0"/>
              </a:spcAft>
              <a:buClr>
                <a:schemeClr val="dk1"/>
              </a:buClr>
              <a:buSzPct val="100000"/>
              <a:buNone/>
            </a:pPr>
          </a:p>
        </p:txBody>
      </p:sp>
      <p:sp>
        <p:nvSpPr>
          <p:cNvPr id="504" name="Google Shape;504;p37"/>
          <p:cNvSpPr/>
          <p:nvPr/>
        </p:nvSpPr>
        <p:spPr>
          <a:xfrm>
            <a:off x="990600" y="3703320"/>
            <a:ext cx="685800" cy="685800"/>
          </a:xfrm>
          <a:prstGeom prst="ellipse">
            <a:avLst/>
          </a:prstGeom>
          <a:solidFill>
            <a:schemeClr val="lt1"/>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B</a:t>
            </a:r>
            <a:endPar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508" name="Shape 508"/>
        <p:cNvGrpSpPr/>
        <p:nvPr/>
      </p:nvGrpSpPr>
      <p:grpSpPr>
        <a:xfrm>
          <a:off x="0" y="0"/>
          <a:ext cx="0" cy="0"/>
          <a:chOff x="0" y="0"/>
          <a:chExt cx="0" cy="0"/>
        </a:xfrm>
      </p:grpSpPr>
      <p:sp>
        <p:nvSpPr>
          <p:cNvPr id="509" name="Google Shape;509;p3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FF0000"/>
              </a:buClr>
              <a:buSzPts val="4400"/>
              <a:buFont typeface="Times New Roman" panose="02020603050405020304"/>
              <a:buNone/>
            </a:pPr>
            <a:r>
              <a:rPr lang="en-US" b="1">
                <a:solidFill>
                  <a:srgbClr val="FF0000"/>
                </a:solidFill>
                <a:latin typeface="Times New Roman" panose="02020603050405020304"/>
                <a:ea typeface="Times New Roman" panose="02020603050405020304"/>
                <a:cs typeface="Times New Roman" panose="02020603050405020304"/>
                <a:sym typeface="Times New Roman" panose="02020603050405020304"/>
              </a:rPr>
              <a:t>Củng cố</a:t>
            </a:r>
            <a:endParaRPr b="1">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10" name="Google Shape;510;p38"/>
          <p:cNvSpPr txBox="1"/>
          <p:nvPr>
            <p:ph type="body" idx="1"/>
          </p:nvPr>
        </p:nvSpPr>
        <p:spPr>
          <a:xfrm>
            <a:off x="533400" y="1524000"/>
            <a:ext cx="8229600" cy="4525963"/>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1F1F1F"/>
              </a:buClr>
              <a:buSzPts val="3200"/>
              <a:buNone/>
            </a:pPr>
            <a:r>
              <a:rPr lang="en-US" b="1">
                <a:solidFill>
                  <a:srgbClr val="1F1F1F"/>
                </a:solidFill>
                <a:latin typeface="Times New Roman" panose="02020603050405020304"/>
                <a:ea typeface="Times New Roman" panose="02020603050405020304"/>
                <a:cs typeface="Times New Roman" panose="02020603050405020304"/>
                <a:sym typeface="Times New Roman" panose="02020603050405020304"/>
              </a:rPr>
              <a:t>Câu 3:</a:t>
            </a:r>
            <a:r>
              <a:rPr lang="en-US">
                <a:solidFill>
                  <a:srgbClr val="1F1F1F"/>
                </a:solidFill>
                <a:latin typeface="Times New Roman" panose="02020603050405020304"/>
                <a:ea typeface="Times New Roman" panose="02020603050405020304"/>
                <a:cs typeface="Times New Roman" panose="02020603050405020304"/>
                <a:sym typeface="Times New Roman" panose="02020603050405020304"/>
              </a:rPr>
              <a:t> Một sợi dây dài 2 m, hai đầu cố định. Kích thích để có sóng dừng trên dây với 4 bó sóng. Khoảng cách ngắn nhất giữa hai điểm không dao động trên dây bằng</a:t>
            </a:r>
            <a:endParaRPr sz="2400"/>
          </a:p>
          <a:p>
            <a:pPr marL="0" lvl="0" indent="0" algn="just" rtl="0">
              <a:lnSpc>
                <a:spcPct val="150000"/>
              </a:lnSpc>
              <a:spcBef>
                <a:spcPts val="1240"/>
              </a:spcBef>
              <a:spcAft>
                <a:spcPts val="0"/>
              </a:spcAft>
              <a:buClr>
                <a:srgbClr val="1F1F1F"/>
              </a:buClr>
              <a:buSzPts val="3200"/>
              <a:buNone/>
            </a:pPr>
            <a:r>
              <a:rPr lang="en-US">
                <a:solidFill>
                  <a:srgbClr val="1F1F1F"/>
                </a:solidFill>
                <a:latin typeface="Times New Roman" panose="02020603050405020304"/>
                <a:ea typeface="Times New Roman" panose="02020603050405020304"/>
                <a:cs typeface="Times New Roman" panose="02020603050405020304"/>
                <a:sym typeface="Times New Roman" panose="02020603050405020304"/>
              </a:rPr>
              <a:t>A. 1m.	B. 0,5m. 	C. 0,25m.		D. 2m.</a:t>
            </a:r>
            <a:endParaRPr sz="2400"/>
          </a:p>
          <a:p>
            <a:pPr marL="342900" lvl="0" indent="-139700" algn="l" rtl="0">
              <a:spcBef>
                <a:spcPts val="1240"/>
              </a:spcBef>
              <a:spcAft>
                <a:spcPts val="0"/>
              </a:spcAft>
              <a:buClr>
                <a:schemeClr val="dk1"/>
              </a:buClr>
              <a:buSzPts val="3200"/>
              <a:buNone/>
            </a:pPr>
          </a:p>
        </p:txBody>
      </p:sp>
      <p:sp>
        <p:nvSpPr>
          <p:cNvPr id="511" name="Google Shape;511;p38"/>
          <p:cNvSpPr/>
          <p:nvPr/>
        </p:nvSpPr>
        <p:spPr>
          <a:xfrm>
            <a:off x="2209800" y="4800600"/>
            <a:ext cx="762000" cy="762000"/>
          </a:xfrm>
          <a:prstGeom prst="ellipse">
            <a:avLst/>
          </a:prstGeom>
          <a:solidFill>
            <a:schemeClr val="lt1"/>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dk1"/>
                </a:solidFill>
                <a:latin typeface="Times New Roman" panose="02020603050405020304"/>
                <a:ea typeface="Times New Roman" panose="02020603050405020304"/>
                <a:cs typeface="Times New Roman" panose="02020603050405020304"/>
                <a:sym typeface="Times New Roman" panose="02020603050405020304"/>
              </a:rPr>
              <a:t>B</a:t>
            </a:r>
            <a:endParaRPr sz="28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4075</Words>
  <Application>WPS Spreadsheets</Application>
  <PresentationFormat/>
  <Paragraphs>196</Paragraphs>
  <Slides>26</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26</vt:i4>
      </vt:variant>
    </vt:vector>
  </HeadingPairs>
  <TitlesOfParts>
    <vt:vector size="40" baseType="lpstr">
      <vt:lpstr>Arial</vt:lpstr>
      <vt:lpstr>SimSun</vt:lpstr>
      <vt:lpstr>Wingdings</vt:lpstr>
      <vt:lpstr>Arial</vt:lpstr>
      <vt:lpstr>Calibri</vt:lpstr>
      <vt:lpstr>Helvetica Neue</vt:lpstr>
      <vt:lpstr>Times New Roman</vt:lpstr>
      <vt:lpstr>Microsoft YaHei</vt:lpstr>
      <vt:lpstr>汉仪旗黑</vt:lpstr>
      <vt:lpstr>Arial Unicode MS</vt:lpstr>
      <vt:lpstr>宋体-简</vt:lpstr>
      <vt:lpstr>Times New Roman</vt:lpstr>
      <vt:lpstr>Silom</vt:lpstr>
      <vt:lpstr>Office Theme</vt:lpstr>
      <vt:lpstr>PowerPoint 演示文稿</vt:lpstr>
      <vt:lpstr>PowerPoint 演示文稿</vt:lpstr>
      <vt:lpstr>PHIẾU HỌC TẬP SỐ 1 </vt:lpstr>
      <vt:lpstr>I. THÍ NGHIỆM TẠO SÓNG DỪNG </vt:lpstr>
      <vt:lpstr>BÀI SÓNG DỪNG</vt:lpstr>
      <vt:lpstr>PowerPoint 演示文稿</vt:lpstr>
      <vt:lpstr>PowerPoint 演示文稿</vt:lpstr>
      <vt:lpstr>BÀI SÓNG DỪNG</vt:lpstr>
      <vt:lpstr>PowerPoint 演示文稿</vt:lpstr>
      <vt:lpstr>BÀI SÓNG DỪNG</vt:lpstr>
      <vt:lpstr>PowerPoint 演示文稿</vt:lpstr>
      <vt:lpstr>PowerPoint 演示文稿</vt:lpstr>
      <vt:lpstr>1. Sóng dừng trên một sợi dây có hai đâu cố định </vt:lpstr>
      <vt:lpstr>2.Sóng dừng trên một sợi dây có  một đầu cố định, một đầu tự do </vt:lpstr>
      <vt:lpstr>BÀI SÓNG DỪNG</vt:lpstr>
      <vt:lpstr> Bài toán: Trên một sợi dây dài 1,2 m có một hệ sóng dừng. Kể cả hai đầu dây, thì trên dây có tất cả bốn nút. Biết tốc độ truyền sóng trên dây là v = 80m/s. Tính tần số và chu kỳ dao động của sóng?  </vt:lpstr>
      <vt:lpstr>BÀI SÓNG DỪNG</vt:lpstr>
      <vt:lpstr>PowerPoint 演示文稿</vt:lpstr>
      <vt:lpstr>PowerPoint 演示文稿</vt:lpstr>
      <vt:lpstr>BÀI SÓNG DỪNG</vt:lpstr>
      <vt:lpstr>PowerPoint 演示文稿</vt:lpstr>
      <vt:lpstr>Ứng dụng của sóng dừng</vt:lpstr>
      <vt:lpstr>PowerPoint 演示文稿</vt:lpstr>
      <vt:lpstr>Củng cố</vt:lpstr>
      <vt:lpstr>Củng cố</vt:lpstr>
      <vt:lpstr>Củng cố</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VnTeach.Com</dc:creator>
  <cp:keywords>VnTeach.Com</cp:keywords>
  <cp:lastModifiedBy>vietchung</cp:lastModifiedBy>
  <cp:revision>1</cp:revision>
  <dcterms:created xsi:type="dcterms:W3CDTF">2025-09-17T07:10:50Z</dcterms:created>
  <dcterms:modified xsi:type="dcterms:W3CDTF">2025-09-17T07:10:50Z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35810D41E438F384FA5ECA68187A9916_42</vt:lpwstr>
  </property>
  <property fmtid="{D5CDD505-2E9C-101B-9397-08002B2CF9AE}" pid="3" name="KSOProductBuildVer">
    <vt:lpwstr>1033-12.1.22553.22553</vt:lpwstr>
  </property>
</Properties>
</file>