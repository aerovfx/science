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6858000" cy="9144000"/>
  <p:embeddedFontLst>
    <p:embeddedFont>
      <p:font typeface="Hammersmith One" panose="02010703030501060504"/>
      <p:regular r:id="rId33"/>
    </p:embeddedFont>
    <p:embeddedFont>
      <p:font typeface="Quicksand Medium"/>
      <p:regular r:id="rId34"/>
    </p:embeddedFont>
    <p:embeddedFont>
      <p:font typeface="Bebas Neue" panose="020B0606020202050201"/>
      <p:regular r:id="rId35"/>
    </p:embeddedFont>
    <p:embeddedFont>
      <p:font typeface="Lobster" panose="0000050000000000000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7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4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7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8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9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1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13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14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15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6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17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18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2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7" name="Google Shape;307;p21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2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p23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24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25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p26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679600" y="1410550"/>
            <a:ext cx="5962200" cy="20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9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2679600" y="3266550"/>
            <a:ext cx="59184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8100000">
            <a:off x="-192229" y="-17447"/>
            <a:ext cx="853142" cy="1104889"/>
            <a:chOff x="2833850" y="2350550"/>
            <a:chExt cx="853150" cy="1104900"/>
          </a:xfrm>
        </p:grpSpPr>
        <p:sp>
          <p:nvSpPr>
            <p:cNvPr id="12" name="Google Shape;12;p2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8697874">
            <a:off x="826879" y="-244004"/>
            <a:ext cx="804944" cy="1182559"/>
            <a:chOff x="9601332" y="3570186"/>
            <a:chExt cx="1128185" cy="1562192"/>
          </a:xfrm>
        </p:grpSpPr>
        <p:sp>
          <p:nvSpPr>
            <p:cNvPr id="15" name="Google Shape;15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-1506053">
            <a:off x="7352656" y="3850784"/>
            <a:ext cx="1021051" cy="1629906"/>
            <a:chOff x="8529317" y="3813271"/>
            <a:chExt cx="934909" cy="1492397"/>
          </a:xfrm>
        </p:grpSpPr>
        <p:sp>
          <p:nvSpPr>
            <p:cNvPr id="24" name="Google Shape;24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 rot="-1506053">
            <a:off x="8166512" y="3503552"/>
            <a:ext cx="1232138" cy="1706131"/>
            <a:chOff x="9601332" y="3570186"/>
            <a:chExt cx="1128185" cy="1562192"/>
          </a:xfrm>
        </p:grpSpPr>
        <p:sp>
          <p:nvSpPr>
            <p:cNvPr id="27" name="Google Shape;27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35" name="Google Shape;35;p2"/>
          <p:cNvGrpSpPr/>
          <p:nvPr/>
        </p:nvGrpSpPr>
        <p:grpSpPr>
          <a:xfrm rot="-8100000">
            <a:off x="7581850" y="-532084"/>
            <a:ext cx="1016742" cy="1623027"/>
            <a:chOff x="8529317" y="3813271"/>
            <a:chExt cx="934909" cy="1492397"/>
          </a:xfrm>
        </p:grpSpPr>
        <p:sp>
          <p:nvSpPr>
            <p:cNvPr id="36" name="Google Shape;36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 rot="-6600067">
            <a:off x="8121577" y="-50117"/>
            <a:ext cx="1441567" cy="1680320"/>
            <a:chOff x="6332867" y="4307670"/>
            <a:chExt cx="1325460" cy="1544983"/>
          </a:xfrm>
        </p:grpSpPr>
        <p:sp>
          <p:nvSpPr>
            <p:cNvPr id="39" name="Google Shape;39;p2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avLst/>
              <a:gdLst/>
              <a:ahLst/>
              <a:cxnLst/>
              <a:rect l="l" t="t" r="r" b="b"/>
              <a:pathLst>
                <a:path w="42534" h="46116" extrusionOk="0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avLst/>
              <a:gdLst/>
              <a:ahLst/>
              <a:cxnLst/>
              <a:rect l="l" t="t" r="r" b="b"/>
              <a:pathLst>
                <a:path w="23451" h="44399" extrusionOk="0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1083900" y="16691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" name="Google Shape;43;p3"/>
          <p:cNvSpPr txBox="1"/>
          <p:nvPr>
            <p:ph type="subTitle" idx="1"/>
          </p:nvPr>
        </p:nvSpPr>
        <p:spPr>
          <a:xfrm>
            <a:off x="2319248" y="1959150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type="title" idx="2"/>
          </p:nvPr>
        </p:nvSpPr>
        <p:spPr>
          <a:xfrm>
            <a:off x="4646650" y="16691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" name="Google Shape;45;p3"/>
          <p:cNvSpPr txBox="1"/>
          <p:nvPr>
            <p:ph type="subTitle" idx="3"/>
          </p:nvPr>
        </p:nvSpPr>
        <p:spPr>
          <a:xfrm>
            <a:off x="5794188" y="1959150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type="title" idx="4"/>
          </p:nvPr>
        </p:nvSpPr>
        <p:spPr>
          <a:xfrm>
            <a:off x="1083900" y="30775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" name="Google Shape;47;p3"/>
          <p:cNvSpPr txBox="1"/>
          <p:nvPr>
            <p:ph type="subTitle" idx="5"/>
          </p:nvPr>
        </p:nvSpPr>
        <p:spPr>
          <a:xfrm>
            <a:off x="2319248" y="3372074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type="title" idx="6"/>
          </p:nvPr>
        </p:nvSpPr>
        <p:spPr>
          <a:xfrm>
            <a:off x="4646650" y="3077566"/>
            <a:ext cx="10860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3"/>
          <p:cNvSpPr txBox="1"/>
          <p:nvPr>
            <p:ph type="subTitle" idx="7"/>
          </p:nvPr>
        </p:nvSpPr>
        <p:spPr>
          <a:xfrm>
            <a:off x="5794188" y="3372074"/>
            <a:ext cx="226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type="subTitle" idx="9"/>
          </p:nvPr>
        </p:nvSpPr>
        <p:spPr>
          <a:xfrm>
            <a:off x="2313287" y="1624000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2" name="Google Shape;52;p3"/>
          <p:cNvSpPr txBox="1"/>
          <p:nvPr>
            <p:ph type="subTitle" idx="13"/>
          </p:nvPr>
        </p:nvSpPr>
        <p:spPr>
          <a:xfrm>
            <a:off x="5794200" y="1624000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3" name="Google Shape;53;p3"/>
          <p:cNvSpPr txBox="1"/>
          <p:nvPr>
            <p:ph type="subTitle" idx="14"/>
          </p:nvPr>
        </p:nvSpPr>
        <p:spPr>
          <a:xfrm>
            <a:off x="2313287" y="3033276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4" name="Google Shape;54;p3"/>
          <p:cNvSpPr txBox="1"/>
          <p:nvPr>
            <p:ph type="subTitle" idx="15"/>
          </p:nvPr>
        </p:nvSpPr>
        <p:spPr>
          <a:xfrm>
            <a:off x="5794200" y="3033276"/>
            <a:ext cx="2265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grpSp>
        <p:nvGrpSpPr>
          <p:cNvPr id="55" name="Google Shape;55;p3"/>
          <p:cNvGrpSpPr/>
          <p:nvPr/>
        </p:nvGrpSpPr>
        <p:grpSpPr>
          <a:xfrm rot="8100000">
            <a:off x="-111539" y="87865"/>
            <a:ext cx="853142" cy="1104889"/>
            <a:chOff x="2833850" y="2350550"/>
            <a:chExt cx="853150" cy="1104900"/>
          </a:xfrm>
        </p:grpSpPr>
        <p:sp>
          <p:nvSpPr>
            <p:cNvPr id="56" name="Google Shape;56;p3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58" name="Google Shape;58;p3"/>
          <p:cNvGrpSpPr/>
          <p:nvPr/>
        </p:nvGrpSpPr>
        <p:grpSpPr>
          <a:xfrm rot="8697874">
            <a:off x="907569" y="-138691"/>
            <a:ext cx="804944" cy="1182559"/>
            <a:chOff x="9601332" y="3570186"/>
            <a:chExt cx="1128185" cy="1562192"/>
          </a:xfrm>
        </p:grpSpPr>
        <p:sp>
          <p:nvSpPr>
            <p:cNvPr id="59" name="Google Shape;59;p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67" name="Google Shape;67;p3"/>
          <p:cNvGrpSpPr/>
          <p:nvPr/>
        </p:nvGrpSpPr>
        <p:grpSpPr>
          <a:xfrm rot="-7962588">
            <a:off x="7925248" y="-327356"/>
            <a:ext cx="534274" cy="1121215"/>
            <a:chOff x="3912125" y="621725"/>
            <a:chExt cx="668000" cy="1401850"/>
          </a:xfrm>
        </p:grpSpPr>
        <p:sp>
          <p:nvSpPr>
            <p:cNvPr id="68" name="Google Shape;68;p3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 rot="-7525031">
            <a:off x="8343491" y="158626"/>
            <a:ext cx="829856" cy="1221801"/>
            <a:chOff x="2943425" y="3566975"/>
            <a:chExt cx="981275" cy="1444875"/>
          </a:xfrm>
        </p:grpSpPr>
        <p:sp>
          <p:nvSpPr>
            <p:cNvPr id="71" name="Google Shape;71;p3"/>
            <p:cNvSpPr/>
            <p:nvPr/>
          </p:nvSpPr>
          <p:spPr>
            <a:xfrm>
              <a:off x="2943425" y="3566975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062825" y="3709950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 rot="-2014825">
            <a:off x="8390463" y="3916099"/>
            <a:ext cx="591268" cy="1451257"/>
            <a:chOff x="2978125" y="596500"/>
            <a:chExt cx="591275" cy="1451275"/>
          </a:xfrm>
        </p:grpSpPr>
        <p:sp>
          <p:nvSpPr>
            <p:cNvPr id="74" name="Google Shape;74;p3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8" name="Google Shape;78;p4"/>
          <p:cNvGrpSpPr/>
          <p:nvPr/>
        </p:nvGrpSpPr>
        <p:grpSpPr>
          <a:xfrm rot="8697874">
            <a:off x="-38671" y="-191779"/>
            <a:ext cx="804944" cy="1182559"/>
            <a:chOff x="9601332" y="3570186"/>
            <a:chExt cx="1128185" cy="1562192"/>
          </a:xfrm>
        </p:grpSpPr>
        <p:sp>
          <p:nvSpPr>
            <p:cNvPr id="79" name="Google Shape;79;p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87" name="Google Shape;87;p4"/>
          <p:cNvGrpSpPr/>
          <p:nvPr/>
        </p:nvGrpSpPr>
        <p:grpSpPr>
          <a:xfrm rot="-1506053">
            <a:off x="-146719" y="3868384"/>
            <a:ext cx="1021051" cy="1629906"/>
            <a:chOff x="8529317" y="3813271"/>
            <a:chExt cx="934909" cy="1492397"/>
          </a:xfrm>
        </p:grpSpPr>
        <p:sp>
          <p:nvSpPr>
            <p:cNvPr id="88" name="Google Shape;88;p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90" name="Google Shape;90;p4"/>
          <p:cNvGrpSpPr/>
          <p:nvPr/>
        </p:nvGrpSpPr>
        <p:grpSpPr>
          <a:xfrm rot="-6599768">
            <a:off x="8072505" y="-355468"/>
            <a:ext cx="1295395" cy="1509938"/>
            <a:chOff x="6332867" y="4307670"/>
            <a:chExt cx="1325460" cy="1544983"/>
          </a:xfrm>
        </p:grpSpPr>
        <p:sp>
          <p:nvSpPr>
            <p:cNvPr id="91" name="Google Shape;91;p4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avLst/>
              <a:gdLst/>
              <a:ahLst/>
              <a:cxnLst/>
              <a:rect l="l" t="t" r="r" b="b"/>
              <a:pathLst>
                <a:path w="42534" h="46116" extrusionOk="0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avLst/>
              <a:gdLst/>
              <a:ahLst/>
              <a:cxnLst/>
              <a:rect l="l" t="t" r="r" b="b"/>
              <a:pathLst>
                <a:path w="23451" h="44399" extrusionOk="0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type="subTitle" idx="1"/>
          </p:nvPr>
        </p:nvSpPr>
        <p:spPr>
          <a:xfrm>
            <a:off x="937523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type="subTitle" idx="2"/>
          </p:nvPr>
        </p:nvSpPr>
        <p:spPr>
          <a:xfrm>
            <a:off x="3469769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type="subTitle" idx="3"/>
          </p:nvPr>
        </p:nvSpPr>
        <p:spPr>
          <a:xfrm>
            <a:off x="6002014" y="2230087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type="subTitle" idx="4"/>
          </p:nvPr>
        </p:nvSpPr>
        <p:spPr>
          <a:xfrm>
            <a:off x="937523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type="subTitle" idx="5"/>
          </p:nvPr>
        </p:nvSpPr>
        <p:spPr>
          <a:xfrm>
            <a:off x="3469769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type="subTitle" idx="6"/>
          </p:nvPr>
        </p:nvSpPr>
        <p:spPr>
          <a:xfrm>
            <a:off x="6002014" y="3715501"/>
            <a:ext cx="220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"/>
          <p:cNvSpPr txBox="1"/>
          <p:nvPr>
            <p:ph type="subTitle" idx="7"/>
          </p:nvPr>
        </p:nvSpPr>
        <p:spPr>
          <a:xfrm>
            <a:off x="932900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02" name="Google Shape;102;p5"/>
          <p:cNvSpPr txBox="1"/>
          <p:nvPr>
            <p:ph type="subTitle" idx="8"/>
          </p:nvPr>
        </p:nvSpPr>
        <p:spPr>
          <a:xfrm>
            <a:off x="3469769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03" name="Google Shape;103;p5"/>
          <p:cNvSpPr txBox="1"/>
          <p:nvPr>
            <p:ph type="subTitle" idx="9"/>
          </p:nvPr>
        </p:nvSpPr>
        <p:spPr>
          <a:xfrm>
            <a:off x="6006637" y="1835491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04" name="Google Shape;104;p5"/>
          <p:cNvSpPr txBox="1"/>
          <p:nvPr>
            <p:ph type="subTitle" idx="13"/>
          </p:nvPr>
        </p:nvSpPr>
        <p:spPr>
          <a:xfrm>
            <a:off x="932900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type="subTitle" idx="14"/>
          </p:nvPr>
        </p:nvSpPr>
        <p:spPr>
          <a:xfrm>
            <a:off x="3469769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type="subTitle" idx="15"/>
          </p:nvPr>
        </p:nvSpPr>
        <p:spPr>
          <a:xfrm>
            <a:off x="6006637" y="3333164"/>
            <a:ext cx="2204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200" b="1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grpSp>
        <p:nvGrpSpPr>
          <p:cNvPr id="107" name="Google Shape;107;p5"/>
          <p:cNvGrpSpPr/>
          <p:nvPr/>
        </p:nvGrpSpPr>
        <p:grpSpPr>
          <a:xfrm rot="-8100000">
            <a:off x="8499349" y="145324"/>
            <a:ext cx="667994" cy="1401837"/>
            <a:chOff x="3912125" y="621725"/>
            <a:chExt cx="668000" cy="1401850"/>
          </a:xfrm>
        </p:grpSpPr>
        <p:sp>
          <p:nvSpPr>
            <p:cNvPr id="108" name="Google Shape;108;p5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 rot="2195099">
            <a:off x="-71377" y="4003324"/>
            <a:ext cx="764910" cy="859169"/>
            <a:chOff x="1603825" y="2277075"/>
            <a:chExt cx="1062450" cy="1193375"/>
          </a:xfrm>
        </p:grpSpPr>
        <p:sp>
          <p:nvSpPr>
            <p:cNvPr id="111" name="Google Shape;111;p5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13" name="Google Shape;113;p5"/>
          <p:cNvGrpSpPr/>
          <p:nvPr/>
        </p:nvGrpSpPr>
        <p:grpSpPr>
          <a:xfrm rot="388111">
            <a:off x="626939" y="4350682"/>
            <a:ext cx="706403" cy="1040141"/>
            <a:chOff x="3922000" y="2234050"/>
            <a:chExt cx="981275" cy="1444875"/>
          </a:xfrm>
        </p:grpSpPr>
        <p:sp>
          <p:nvSpPr>
            <p:cNvPr id="114" name="Google Shape;114;p5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117" name="Google Shape;117;p5"/>
            <p:cNvSpPr/>
            <p:nvPr/>
          </p:nvSpPr>
          <p:spPr>
            <a:xfrm>
              <a:off x="5213900" y="2291150"/>
              <a:ext cx="619625" cy="1079225"/>
            </a:xfrm>
            <a:custGeom>
              <a:avLst/>
              <a:gdLst/>
              <a:ahLst/>
              <a:cxnLst/>
              <a:rect l="l" t="t" r="r" b="b"/>
              <a:pathLst>
                <a:path w="24785" h="43169" extrusionOk="0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5333975" y="2434475"/>
              <a:ext cx="258550" cy="1178175"/>
            </a:xfrm>
            <a:custGeom>
              <a:avLst/>
              <a:gdLst/>
              <a:ahLst/>
              <a:cxnLst/>
              <a:rect l="l" t="t" r="r" b="b"/>
              <a:pathLst>
                <a:path w="10342" h="47127" extrusionOk="0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19" name="Google Shape;119;p5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120" name="Google Shape;120;p5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22" name="Google Shape;122;p5"/>
          <p:cNvGrpSpPr/>
          <p:nvPr/>
        </p:nvGrpSpPr>
        <p:grpSpPr>
          <a:xfrm rot="-1611584">
            <a:off x="8339834" y="3404468"/>
            <a:ext cx="981258" cy="1444850"/>
            <a:chOff x="3922000" y="2234050"/>
            <a:chExt cx="981275" cy="1444875"/>
          </a:xfrm>
        </p:grpSpPr>
        <p:sp>
          <p:nvSpPr>
            <p:cNvPr id="123" name="Google Shape;123;p5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25" name="Google Shape;125;p5"/>
          <p:cNvGrpSpPr/>
          <p:nvPr/>
        </p:nvGrpSpPr>
        <p:grpSpPr>
          <a:xfrm rot="709829" flipH="1">
            <a:off x="7365448" y="4220602"/>
            <a:ext cx="878393" cy="986637"/>
            <a:chOff x="1603825" y="2277075"/>
            <a:chExt cx="1062450" cy="1193375"/>
          </a:xfrm>
        </p:grpSpPr>
        <p:sp>
          <p:nvSpPr>
            <p:cNvPr id="126" name="Google Shape;126;p5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28" name="Google Shape;128;p5"/>
          <p:cNvGrpSpPr/>
          <p:nvPr/>
        </p:nvGrpSpPr>
        <p:grpSpPr>
          <a:xfrm rot="-8100000">
            <a:off x="7721912" y="-384257"/>
            <a:ext cx="880089" cy="1235076"/>
            <a:chOff x="4841950" y="633750"/>
            <a:chExt cx="1039100" cy="1458225"/>
          </a:xfrm>
        </p:grpSpPr>
        <p:sp>
          <p:nvSpPr>
            <p:cNvPr id="129" name="Google Shape;129;p5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7"/>
          <p:cNvGrpSpPr/>
          <p:nvPr/>
        </p:nvGrpSpPr>
        <p:grpSpPr>
          <a:xfrm rot="-7434548">
            <a:off x="7859941" y="-385355"/>
            <a:ext cx="767392" cy="993836"/>
            <a:chOff x="2833850" y="2350550"/>
            <a:chExt cx="853150" cy="1104900"/>
          </a:xfrm>
        </p:grpSpPr>
        <p:sp>
          <p:nvSpPr>
            <p:cNvPr id="140" name="Google Shape;140;p7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42" name="Google Shape;142;p7"/>
          <p:cNvGrpSpPr/>
          <p:nvPr/>
        </p:nvGrpSpPr>
        <p:grpSpPr>
          <a:xfrm rot="990298">
            <a:off x="-143447" y="3833239"/>
            <a:ext cx="1039105" cy="1458232"/>
            <a:chOff x="4841950" y="633750"/>
            <a:chExt cx="1039100" cy="1458225"/>
          </a:xfrm>
        </p:grpSpPr>
        <p:sp>
          <p:nvSpPr>
            <p:cNvPr id="143" name="Google Shape;143;p7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51" name="Google Shape;151;p7"/>
          <p:cNvGrpSpPr/>
          <p:nvPr/>
        </p:nvGrpSpPr>
        <p:grpSpPr>
          <a:xfrm>
            <a:off x="814926" y="4421294"/>
            <a:ext cx="913176" cy="1025825"/>
            <a:chOff x="1603825" y="2277075"/>
            <a:chExt cx="1062450" cy="1193375"/>
          </a:xfrm>
        </p:grpSpPr>
        <p:sp>
          <p:nvSpPr>
            <p:cNvPr id="152" name="Google Shape;152;p7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54" name="Google Shape;154;p7"/>
          <p:cNvGrpSpPr/>
          <p:nvPr/>
        </p:nvGrpSpPr>
        <p:grpSpPr>
          <a:xfrm rot="6477070">
            <a:off x="599121" y="-353241"/>
            <a:ext cx="619612" cy="1321473"/>
            <a:chOff x="5213900" y="2291150"/>
            <a:chExt cx="619625" cy="1321500"/>
          </a:xfrm>
        </p:grpSpPr>
        <p:sp>
          <p:nvSpPr>
            <p:cNvPr id="155" name="Google Shape;155;p7"/>
            <p:cNvSpPr/>
            <p:nvPr/>
          </p:nvSpPr>
          <p:spPr>
            <a:xfrm>
              <a:off x="5213900" y="2291150"/>
              <a:ext cx="619625" cy="1079225"/>
            </a:xfrm>
            <a:custGeom>
              <a:avLst/>
              <a:gdLst/>
              <a:ahLst/>
              <a:cxnLst/>
              <a:rect l="l" t="t" r="r" b="b"/>
              <a:pathLst>
                <a:path w="24785" h="43169" extrusionOk="0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5333975" y="2434475"/>
              <a:ext cx="258550" cy="1178175"/>
            </a:xfrm>
            <a:custGeom>
              <a:avLst/>
              <a:gdLst/>
              <a:ahLst/>
              <a:cxnLst/>
              <a:rect l="l" t="t" r="r" b="b"/>
              <a:pathLst>
                <a:path w="10342" h="47127" extrusionOk="0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57" name="Google Shape;157;p7"/>
          <p:cNvGrpSpPr/>
          <p:nvPr/>
        </p:nvGrpSpPr>
        <p:grpSpPr>
          <a:xfrm rot="8564605">
            <a:off x="32264" y="-29697"/>
            <a:ext cx="700788" cy="1470658"/>
            <a:chOff x="3912125" y="621725"/>
            <a:chExt cx="668000" cy="1401850"/>
          </a:xfrm>
        </p:grpSpPr>
        <p:sp>
          <p:nvSpPr>
            <p:cNvPr id="158" name="Google Shape;158;p7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  <p:grpSp>
        <p:nvGrpSpPr>
          <p:cNvPr id="160" name="Google Shape;160;p7"/>
          <p:cNvGrpSpPr/>
          <p:nvPr/>
        </p:nvGrpSpPr>
        <p:grpSpPr>
          <a:xfrm rot="-10067064">
            <a:off x="8569648" y="-98103"/>
            <a:ext cx="668028" cy="1401910"/>
            <a:chOff x="3912125" y="621725"/>
            <a:chExt cx="668000" cy="1401850"/>
          </a:xfrm>
        </p:grpSpPr>
        <p:sp>
          <p:nvSpPr>
            <p:cNvPr id="161" name="Google Shape;161;p7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7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  <a:defRPr sz="3500" b="1" i="0" u="none" strike="noStrike" cap="none">
                <a:solidFill>
                  <a:schemeClr val="dk1"/>
                </a:solidFill>
                <a:latin typeface="Hammersmith One" panose="02010703030501060504"/>
                <a:ea typeface="Hammersmith One" panose="02010703030501060504"/>
                <a:cs typeface="Hammersmith One" panose="02010703030501060504"/>
                <a:sym typeface="Hammersmith One" panose="020107030305010605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8856744" y="6228974"/>
            <a:ext cx="3952969" cy="1085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/>
          <p:cNvPicPr preferRelativeResize="0"/>
          <p:nvPr/>
        </p:nvPicPr>
        <p:blipFill rotWithShape="1">
          <a:blip r:embed="rId2"/>
          <a:srcRect l="4927" b="46222"/>
          <a:stretch>
            <a:fillRect/>
          </a:stretch>
        </p:blipFill>
        <p:spPr>
          <a:xfrm>
            <a:off x="13949503" y="6229222"/>
            <a:ext cx="3952970" cy="108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1"/>
            <a:ext cx="9143999" cy="51198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345878" y="634624"/>
            <a:ext cx="835397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704020202020204"/>
              <a:buNone/>
            </a:pPr>
            <a:r>
              <a:rPr lang="en-US" sz="6000" b="0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  </a:t>
            </a:r>
            <a:r>
              <a:rPr lang="en-US" sz="6000" b="0" i="0" u="none" strike="noStrike" cap="none">
                <a:solidFill>
                  <a:srgbClr val="FFFF00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Bài 3: Vận tốc, gia tốc trong dao động điều hòa </a:t>
            </a:r>
            <a:endParaRPr sz="6000" b="0" i="0" u="none" strike="noStrike" cap="none">
              <a:solidFill>
                <a:srgbClr val="FFFF00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87656" y="2600195"/>
            <a:ext cx="3026896" cy="2735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/>
          <p:nvPr/>
        </p:nvSpPr>
        <p:spPr>
          <a:xfrm>
            <a:off x="413654" y="821886"/>
            <a:ext cx="908834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US" sz="4400" b="1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.</a:t>
            </a:r>
            <a:r>
              <a:rPr lang="en-US" sz="4400" b="0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Vận tốc trong dao động điều hòa </a:t>
            </a:r>
            <a:endParaRPr sz="4400" b="0" i="0" u="none" strike="noStrike" cap="none">
              <a:solidFill>
                <a:srgbClr val="434343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55660" y="1459632"/>
            <a:ext cx="835397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704020202020204"/>
              <a:buNone/>
            </a:pPr>
            <a:r>
              <a:rPr lang="en-US" sz="6000" b="0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  </a:t>
            </a:r>
            <a:r>
              <a:rPr lang="en-US" sz="44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II.</a:t>
            </a:r>
            <a:r>
              <a:rPr lang="en-US" sz="4400" b="0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 Gia tốc trong dao động điều hòa </a:t>
            </a:r>
            <a:endParaRPr sz="4400" b="0" i="0" u="none" strike="noStrike" cap="none">
              <a:solidFill>
                <a:srgbClr val="434343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14552" y="2600195"/>
            <a:ext cx="3275089" cy="273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2600194"/>
            <a:ext cx="3087656" cy="2543305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2288540" y="269875"/>
            <a:ext cx="3992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2800"/>
              <a:t>NỘI DUNG </a:t>
            </a:r>
            <a:r>
              <a:rPr lang="vi-VN" altLang="en-US" sz="2800" u="sng"/>
              <a:t>CHÍNH</a:t>
            </a:r>
            <a:endParaRPr lang="vi-VN" altLang="en-US" sz="28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004551" y="3565280"/>
            <a:ext cx="8511429" cy="233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201044" y="0"/>
            <a:ext cx="8495037" cy="233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 rotWithShape="1">
          <a:blip r:embed="rId3"/>
          <a:srcRect l="4927" b="46222"/>
          <a:stretch>
            <a:fillRect/>
          </a:stretch>
        </p:blipFill>
        <p:spPr>
          <a:xfrm>
            <a:off x="967230" y="7831078"/>
            <a:ext cx="8513381" cy="2337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1" y="-5602"/>
            <a:ext cx="91440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Ta có thể dựa vào đồ thị (x-t) của dao động điều hòa để xác định vận tốc, gia tốc của vật được không?</a:t>
            </a:r>
            <a:endParaRPr sz="32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01725" y="1510665"/>
            <a:ext cx="673100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/>
        </p:nvSpPr>
        <p:spPr>
          <a:xfrm>
            <a:off x="413654" y="821886"/>
            <a:ext cx="908834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US" sz="4400" b="1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.</a:t>
            </a:r>
            <a:r>
              <a:rPr lang="en-US" sz="4400" b="0" i="0" u="none" strike="noStrike" cap="none">
                <a:solidFill>
                  <a:srgbClr val="434343"/>
                </a:solidFill>
                <a:latin typeface="Lobster" panose="00000500000000000000"/>
                <a:ea typeface="Lobster" panose="00000500000000000000"/>
                <a:cs typeface="Lobster" panose="00000500000000000000"/>
                <a:sym typeface="Lobster" panose="00000500000000000000"/>
              </a:rPr>
              <a:t>Vận tốc trong dao động điều hòa </a:t>
            </a:r>
            <a:endParaRPr sz="4400" b="0" i="0" u="none" strike="noStrike" cap="none">
              <a:solidFill>
                <a:srgbClr val="434343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/>
        </p:nvSpPr>
        <p:spPr>
          <a:xfrm>
            <a:off x="151261" y="1171193"/>
            <a:ext cx="908834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Phiếu học tập số 1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1/ Viết phương trình vận tốc của vật dao động điều hòa? Tại các vị trí: Biên và VT cân bằng, độ lớn vận tốc nhận giá trị thế nào? Đơn vị của vận tốc?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2/ Công thức liên hệ giữa vận tốc và li độ?</a:t>
            </a:r>
            <a:endParaRPr sz="3600" b="0" i="0" u="none" strike="noStrike" cap="none">
              <a:solidFill>
                <a:srgbClr val="4343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55660" y="119269"/>
            <a:ext cx="90883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Phương trình của vận tốc.</a:t>
            </a:r>
            <a:endParaRPr sz="3200" b="0" i="0" u="none" strike="noStrike" cap="none">
              <a:solidFill>
                <a:srgbClr val="4343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/>
        </p:nvSpPr>
        <p:spPr>
          <a:xfrm>
            <a:off x="151261" y="-103367"/>
            <a:ext cx="90883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Phương trình của vận tốc.</a:t>
            </a:r>
            <a:endParaRPr sz="3200" b="0" i="0" u="none" strike="noStrike" cap="none">
              <a:solidFill>
                <a:srgbClr val="4343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0" y="2174058"/>
            <a:ext cx="908834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Như vậy vận tốc của vật dao động điều hòa biến thiên điều hòa cùng tần số nhưng sớm pha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π/2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so với với li độ.</a:t>
            </a:r>
            <a:endParaRPr sz="3200" b="0" i="0" u="none" strike="noStrike" cap="none">
              <a:solidFill>
                <a:srgbClr val="00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500" y="821690"/>
            <a:ext cx="9024620" cy="1011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151261" y="381663"/>
            <a:ext cx="8992739" cy="458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/>
              <a:t>▪ 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Nhận xét: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▪ Vận tốc của vật luôn cùng chiều với chiều chuyển động; vật chuyển động theo chiều dương ⇒ </a:t>
            </a:r>
            <a:r>
              <a:rPr lang="en-US" sz="3200" i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v &gt;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0 ; vật chuyển động ngược chiều dương ⇒ </a:t>
            </a:r>
            <a:r>
              <a:rPr lang="en-US" sz="3200" i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v &lt;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0 </a:t>
            </a:r>
            <a:endParaRPr sz="3200"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▪ Vận tốc của vật DĐ ĐH biến thiên điều hòa cùng tần số nhưng sớm pha 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π/2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so với với li độ.</a:t>
            </a:r>
            <a:endParaRPr sz="3200"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▪ Vận tốc đổi chiều tại vị trí biên. </a:t>
            </a:r>
            <a:b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</a:b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▪ Ở vị trí biên (x</a:t>
            </a:r>
            <a:r>
              <a:rPr lang="en-US" sz="3200" i="1" baseline="-250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= ± </a:t>
            </a:r>
            <a:r>
              <a:rPr lang="en-US" sz="3200" i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A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):     Độ lớn cực tiểu: 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v</a:t>
            </a:r>
            <a:r>
              <a:rPr lang="en-US" sz="3200" b="1" i="1" baseline="-250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= 0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endParaRPr sz="3200"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▪ Ở VTCB  (x</a:t>
            </a:r>
            <a:r>
              <a:rPr lang="en-US" sz="3200" i="1" baseline="-250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</a:t>
            </a:r>
            <a:r>
              <a:rPr lang="en-US" sz="32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= 0 ): Độ lớn cực đại : 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v</a:t>
            </a:r>
            <a:r>
              <a:rPr lang="en-US" sz="3200" b="1" i="1" baseline="-25000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max 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= ω</a:t>
            </a:r>
            <a:r>
              <a:rPr lang="en-US" sz="3200" b="1" i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.A</a:t>
            </a:r>
            <a:r>
              <a:rPr lang="en-US"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. </a:t>
            </a:r>
            <a:endParaRPr sz="3200"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151261" y="-103367"/>
            <a:ext cx="90883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Phương trình của vận tốc.</a:t>
            </a:r>
            <a:endParaRPr sz="3200" b="0" i="0" u="none" strike="noStrike" cap="none">
              <a:solidFill>
                <a:srgbClr val="4343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/>
          <p:nvPr>
            <p:ph type="title"/>
          </p:nvPr>
        </p:nvSpPr>
        <p:spPr>
          <a:xfrm>
            <a:off x="664341" y="70741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600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 v</a:t>
            </a:r>
            <a: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sớm pha hơn </a:t>
            </a:r>
            <a:r>
              <a:rPr lang="en-US" sz="3600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x</a:t>
            </a:r>
            <a: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góc π/2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1562" y="1393438"/>
            <a:ext cx="8611263" cy="37500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 txBox="1"/>
          <p:nvPr/>
        </p:nvSpPr>
        <p:spPr>
          <a:xfrm>
            <a:off x="-63610" y="151074"/>
            <a:ext cx="920761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Liên hệ giữa vận tốc và li độ tại cùng một thời điểm.</a:t>
            </a:r>
            <a:endParaRPr sz="3200" b="0" i="0" u="none" strike="noStrike" cap="none">
              <a:solidFill>
                <a:srgbClr val="4343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692170" y="-8746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Đồ thị của vận tốc</a:t>
            </a:r>
            <a:b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659" y="588397"/>
            <a:ext cx="8977023" cy="4412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D3"/>
        </a:solidFill>
        <a:effectLst/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337582" y="5316647"/>
            <a:ext cx="8511429" cy="233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501195" y="2393872"/>
            <a:ext cx="8783898" cy="2337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7"/>
          <p:cNvPicPr preferRelativeResize="0"/>
          <p:nvPr/>
        </p:nvPicPr>
        <p:blipFill rotWithShape="1">
          <a:blip r:embed="rId3"/>
          <a:srcRect l="4927" b="46222"/>
          <a:stretch>
            <a:fillRect/>
          </a:stretch>
        </p:blipFill>
        <p:spPr>
          <a:xfrm>
            <a:off x="10813071" y="6716420"/>
            <a:ext cx="8513381" cy="233712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/>
        </p:nvSpPr>
        <p:spPr>
          <a:xfrm>
            <a:off x="87464" y="119270"/>
            <a:ext cx="905653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Đồ thị li độ và vận tốc trong dao động điều hòa ứng với φ=0</a:t>
            </a:r>
            <a:endParaRPr sz="3200" b="0" i="0" u="none" strike="noStrike" cap="none">
              <a:solidFill>
                <a:srgbClr val="434343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  <p:pic>
        <p:nvPicPr>
          <p:cNvPr id="235" name="Google Shape;235;p1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82271" y="1129085"/>
            <a:ext cx="8495969" cy="380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/>
          <p:nvPr>
            <p:ph type="title"/>
          </p:nvPr>
        </p:nvSpPr>
        <p:spPr>
          <a:xfrm>
            <a:off x="0" y="0"/>
            <a:ext cx="9144000" cy="160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Phiếu học tập số 2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Nêu dạng đồ thị của vận tốc theo thời gian?Lấy ví dụ? Từ đồ thị sau đây đọc và tính các giá trị liên quan?</a:t>
            </a:r>
            <a:endParaRPr lang="en-US"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1" name="Google Shape;241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510748"/>
            <a:ext cx="9143999" cy="363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63610" y="485237"/>
            <a:ext cx="9167854" cy="465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Đồ thị (v- t): có dạng là một đường hình sin.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Trên đồ thị như hình vẽ là đồ thị vận tốc – thời gian của hai dao động điều hòa: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Vận tốc cực đại v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max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v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max1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4π cm/s; v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max2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2π cm/s.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Chu kì T = 0,2 s ⇨ T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T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0,4 s.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Tần số góc ω: ω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ω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 = 5π (rad/s).</a:t>
            </a:r>
            <a:b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Biên độ A: A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 = 0,8 cm; A</a:t>
            </a:r>
            <a:r>
              <a:rPr lang="en-US" sz="3200" baseline="-25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 = 0,4 cm.</a:t>
            </a:r>
            <a:br>
              <a:rPr lang="en-US"/>
            </a:br>
            <a:endParaRPr lang="en-US"/>
          </a:p>
        </p:txBody>
      </p:sp>
      <p:sp>
        <p:nvSpPr>
          <p:cNvPr id="247" name="Google Shape;247;p19"/>
          <p:cNvSpPr txBox="1"/>
          <p:nvPr/>
        </p:nvSpPr>
        <p:spPr>
          <a:xfrm>
            <a:off x="692170" y="-8746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Đồ thị của vận tốc</a:t>
            </a:r>
            <a:b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3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08507" cy="1733385"/>
          </a:xfrm>
          <a:prstGeom prst="rect">
            <a:avLst/>
          </a:prstGeom>
          <a:solidFill>
            <a:srgbClr val="2DFF8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53" name="Google Shape;253;p20"/>
          <p:cNvSpPr/>
          <p:nvPr/>
        </p:nvSpPr>
        <p:spPr>
          <a:xfrm>
            <a:off x="5144495" y="1121133"/>
            <a:ext cx="341906" cy="310101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254" name="Google Shape;254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1733384"/>
            <a:ext cx="9162466" cy="147894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55" name="Google Shape;255;p20"/>
          <p:cNvSpPr/>
          <p:nvPr/>
        </p:nvSpPr>
        <p:spPr>
          <a:xfrm>
            <a:off x="5709037" y="2274073"/>
            <a:ext cx="333954" cy="31805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256" name="Google Shape;256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" y="3212326"/>
            <a:ext cx="9108506" cy="19311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57" name="Google Shape;257;p20"/>
          <p:cNvSpPr/>
          <p:nvPr/>
        </p:nvSpPr>
        <p:spPr>
          <a:xfrm>
            <a:off x="159026" y="4552121"/>
            <a:ext cx="318052" cy="310101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151076" y="567067"/>
            <a:ext cx="8913411" cy="69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Phương trình gia tốc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71563" y="1115831"/>
            <a:ext cx="9072438" cy="413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Phiếu học tập số 3</a:t>
            </a:r>
            <a:endParaRPr lang="en-US" sz="3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1/ Viết phương trình gia tốc của vật dao động điều hòa? Tại các vị trí: Biên và VT cân bằng, độ lớn gia tốc nhận giá trị thế nào? Đơn vị của gia tốc?</a:t>
            </a:r>
            <a:endParaRPr sz="3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2/ Công thức liên hệ giữa vận tốc và gia tốc?</a:t>
            </a:r>
            <a:endParaRPr sz="3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81461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II. Gia tốc trong dao động điều hòa</a:t>
            </a:r>
            <a:endParaRPr sz="35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119271" y="-151322"/>
            <a:ext cx="8913411" cy="69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Phương trình gia tốc</a:t>
            </a:r>
            <a:endParaRPr sz="3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0" name="Google Shape;270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460" y="333955"/>
            <a:ext cx="8980222" cy="77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-69186" y="854310"/>
            <a:ext cx="9223513" cy="5300000"/>
          </a:xfrm>
          <a:prstGeom prst="rect">
            <a:avLst/>
          </a:prstGeom>
          <a:blipFill rotWithShape="1">
            <a:blip r:embed="rId2"/>
            <a:stretch>
              <a:fillRect l="-1385" t="-3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 </a:t>
            </a:r>
            <a:endParaRPr lang="en-US" sz="1400" b="0" i="0" u="none" strike="noStrike" cap="none"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/>
          <p:nvPr>
            <p:ph type="title"/>
          </p:nvPr>
        </p:nvSpPr>
        <p:spPr>
          <a:xfrm>
            <a:off x="190832" y="254193"/>
            <a:ext cx="8830924" cy="784994"/>
          </a:xfrm>
          <a:prstGeom prst="rect">
            <a:avLst/>
          </a:prstGeom>
          <a:blipFill rotWithShape="1">
            <a:blip r:embed="rId1"/>
            <a:stretch>
              <a:fillRect b="-10937"/>
            </a:stretch>
          </a:blip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 </a:t>
            </a:r>
            <a:endParaRPr lang="en-US"/>
          </a:p>
        </p:txBody>
      </p:sp>
      <p:pic>
        <p:nvPicPr>
          <p:cNvPr id="277" name="Google Shape;277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127" y="1039187"/>
            <a:ext cx="8916629" cy="235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/>
          <p:nvPr>
            <p:ph type="title"/>
          </p:nvPr>
        </p:nvSpPr>
        <p:spPr>
          <a:xfrm>
            <a:off x="103369" y="0"/>
            <a:ext cx="8913411" cy="69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Đồ thị của gia tốc</a:t>
            </a:r>
            <a:endParaRPr sz="3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168305" y="963433"/>
            <a:ext cx="8913411" cy="28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Phiếu học tập số 4:</a:t>
            </a:r>
            <a:endParaRPr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Nêu dạng đồ thị của gia tốc theo thời gian? Từ đó nêu dạng đồ thị của các đại lượng: x, v, a.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Lấy ví dụ? Từ đồ thị đọc và tính các giá trị liên quan?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>
            <p:ph type="title"/>
          </p:nvPr>
        </p:nvSpPr>
        <p:spPr>
          <a:xfrm>
            <a:off x="103369" y="0"/>
            <a:ext cx="8913411" cy="69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Đồ thị của gia tốc</a:t>
            </a:r>
            <a:endParaRPr sz="3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587322"/>
            <a:ext cx="9144000" cy="4556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D3"/>
        </a:solidFill>
        <a:effectLst/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7685139" y="1246271"/>
            <a:ext cx="6593723" cy="1810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7670934" y="-4466820"/>
            <a:ext cx="6579518" cy="181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0899" y="-5540414"/>
            <a:ext cx="6803241" cy="181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-1" y="405427"/>
            <a:ext cx="9088341" cy="467545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151074" y="0"/>
            <a:ext cx="893726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4343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Đồ thị li độ, vận tốc và gia tốc trong dao động điều hòa ứng với φ=0</a:t>
            </a:r>
            <a:endParaRPr sz="3200" b="0" i="0" u="none" strike="noStrike" cap="none">
              <a:solidFill>
                <a:srgbClr val="434343"/>
              </a:solidFill>
              <a:latin typeface="Lobster" panose="00000500000000000000"/>
              <a:ea typeface="Lobster" panose="00000500000000000000"/>
              <a:cs typeface="Lobster" panose="00000500000000000000"/>
              <a:sym typeface="Lobster" panose="0000050000000000000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751806" y="8721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LUYỆN TẬP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0" y="1130161"/>
            <a:ext cx="9072438" cy="4873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Ví dụ : Một vật dao động điều hòa với phương trình x = 2cos(πt + π/6) cm. Lấy π</a:t>
            </a:r>
            <a:r>
              <a:rPr lang="en-US" sz="3500" b="1" i="0" u="none" strike="noStrike" cap="none" baseline="30000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2</a:t>
            </a:r>
            <a:r>
              <a:rPr lang="en-US" sz="35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 = 10. </a:t>
            </a:r>
            <a:endParaRPr sz="3500" b="1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a) Viết phương trình vận tốc, gia tốc của vật.</a:t>
            </a:r>
            <a:endParaRPr sz="3500" b="1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b) Xác định vận tốc, gia tốc của vật ở thời điểm t = 0,5 (s).</a:t>
            </a:r>
            <a:endParaRPr sz="3500" b="1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c) Tính tốc độ cực đại, gia tốc cực đại của vật.</a:t>
            </a:r>
            <a:endParaRPr sz="3500" b="1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759757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LUYỆN TẬP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10" name="Google Shape;310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675860"/>
            <a:ext cx="9088341" cy="441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705423" y="6336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VẬN DỤNG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95416" y="971136"/>
            <a:ext cx="8937266" cy="399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Bài tập tự luận . Một vật dao động điều hòa với tần số góc 10 rad/s. Khi vật có li độ 3 cm thì vận tốc của vật có giá trị 40 cm/s. Hãy tính: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a) Gia tốc của vật khi x = 2,5 cm.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b) Biên độ dao động của vật.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c) Độ lớn vận tốc cực đại và độ lớn gia tốc cực đại.</a:t>
            </a:r>
            <a:endParaRPr lang="en-US"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705423" y="6336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VẬN DỤNG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95416" y="971136"/>
            <a:ext cx="8937266" cy="399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 panose="02010703030501060504"/>
              <a:buNone/>
            </a:pPr>
            <a:endParaRPr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23" name="Google Shape;323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1520" y="718388"/>
            <a:ext cx="7758947" cy="4404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686628"/>
            <a:ext cx="9112313" cy="22707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/>
          <p:nvPr/>
        </p:nvSpPr>
        <p:spPr>
          <a:xfrm>
            <a:off x="4627659" y="2445026"/>
            <a:ext cx="318052" cy="310101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" y="2957358"/>
            <a:ext cx="9112313" cy="218614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/>
          <p:nvPr/>
        </p:nvSpPr>
        <p:spPr>
          <a:xfrm>
            <a:off x="4556155" y="4460682"/>
            <a:ext cx="325946" cy="326003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32" name="Google Shape;332;p31"/>
          <p:cNvSpPr txBox="1"/>
          <p:nvPr>
            <p:ph type="title"/>
          </p:nvPr>
        </p:nvSpPr>
        <p:spPr>
          <a:xfrm>
            <a:off x="704156" y="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VẬN DỤNG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484" y="1013096"/>
            <a:ext cx="9015003" cy="344758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/>
          <p:nvPr/>
        </p:nvSpPr>
        <p:spPr>
          <a:xfrm>
            <a:off x="2417197" y="3816626"/>
            <a:ext cx="333954" cy="310101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DAF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339" name="Google Shape;339;p32"/>
          <p:cNvSpPr txBox="1"/>
          <p:nvPr>
            <p:ph type="title"/>
          </p:nvPr>
        </p:nvSpPr>
        <p:spPr>
          <a:xfrm>
            <a:off x="705423" y="6336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VẬN DỤNG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vironmental Activist CV by Slidesgo">
  <a:themeElements>
    <a:clrScheme name="Simple Light">
      <a:dk1>
        <a:srgbClr val="003D1B"/>
      </a:dk1>
      <a:lt1>
        <a:srgbClr val="005A2A"/>
      </a:lt1>
      <a:dk2>
        <a:srgbClr val="0F7437"/>
      </a:dk2>
      <a:lt2>
        <a:srgbClr val="89BB4A"/>
      </a:lt2>
      <a:accent1>
        <a:srgbClr val="D8F1C1"/>
      </a:accent1>
      <a:accent2>
        <a:srgbClr val="F5FAE9"/>
      </a:accent2>
      <a:accent3>
        <a:srgbClr val="EA9E00"/>
      </a:accent3>
      <a:accent4>
        <a:srgbClr val="FFFFFF"/>
      </a:accent4>
      <a:accent5>
        <a:srgbClr val="FFFFFF"/>
      </a:accent5>
      <a:accent6>
        <a:srgbClr val="FFFFFF"/>
      </a:accent6>
      <a:hlink>
        <a:srgbClr val="003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2804</Words>
  <Application>WPS Presentation</Application>
  <PresentationFormat/>
  <Paragraphs>89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SimSun</vt:lpstr>
      <vt:lpstr>Wingdings</vt:lpstr>
      <vt:lpstr>Arial</vt:lpstr>
      <vt:lpstr>Hammersmith One</vt:lpstr>
      <vt:lpstr>Quicksand Medium</vt:lpstr>
      <vt:lpstr>Bebas Neue</vt:lpstr>
      <vt:lpstr>Lobster</vt:lpstr>
      <vt:lpstr>Times New Roman</vt:lpstr>
      <vt:lpstr>Microsoft YaHei</vt:lpstr>
      <vt:lpstr>汉仪旗黑</vt:lpstr>
      <vt:lpstr>Arial Unicode MS</vt:lpstr>
      <vt:lpstr>宋体-简</vt:lpstr>
      <vt:lpstr>Environmental Activist CV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▪ Ở VTCB  (x = 0 ): Độ lớn cực đại : vmax = ω.A. </vt:lpstr>
      <vt:lpstr>Do v sớm pha hơn x góc π/2</vt:lpstr>
      <vt:lpstr>2. Đồ thị của vận tốc </vt:lpstr>
      <vt:lpstr>PowerPoint 演示文稿</vt:lpstr>
      <vt:lpstr>Phiếu học tập số 2 Nêu dạng đồ thị của vận tốc theo thời gian?Lấy ví dụ? Từ đồ thị sau đây đọc và tính các giá trị liên quan?</vt:lpstr>
      <vt:lpstr>- Đồ thị (v- t): có dạng là một đường hình sin. - Trên đồ thị như hình vẽ là đồ thị vận tốc – thời gian của hai dao động điều hòa: - Vận tốc cực đại vmax: vmax1 = 4π cm/s; vmax2 = 2π cm/s. - Chu kì T = 0,2 s ⇨ T1 = T2 = 0,4 s. - Tần số góc ω: ω1 = ω2 =  = 5π (rad/s). - Biên độ A: A1 =  = 0,8 cm; A2 =  = 0,4 cm. </vt:lpstr>
      <vt:lpstr>PowerPoint 演示文稿</vt:lpstr>
      <vt:lpstr>1. Phương trình gia tốc</vt:lpstr>
      <vt:lpstr>1. Phương trình gia tốc</vt:lpstr>
      <vt:lpstr> </vt:lpstr>
      <vt:lpstr>2. Đồ thị của gia tốc</vt:lpstr>
      <vt:lpstr>2. Đồ thị của gia tốc</vt:lpstr>
      <vt:lpstr>PowerPoint 演示文稿</vt:lpstr>
      <vt:lpstr>LUYỆN TẬP</vt:lpstr>
      <vt:lpstr>LUYỆN TẬP</vt:lpstr>
      <vt:lpstr>VẬN DỤNG</vt:lpstr>
      <vt:lpstr>VẬN DỤNG</vt:lpstr>
      <vt:lpstr>VẬN DỤNG</vt:lpstr>
      <vt:lpstr>VẬN DỤNG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4</cp:revision>
  <dcterms:created xsi:type="dcterms:W3CDTF">2025-09-18T16:50:56Z</dcterms:created>
  <dcterms:modified xsi:type="dcterms:W3CDTF">2025-09-18T16:50:56Z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889B98BC850484CFB22ACC688A89F61F_42</vt:lpwstr>
  </property>
  <property fmtid="{D5CDD505-2E9C-101B-9397-08002B2CF9AE}" pid="3" name="KSOProductBuildVer">
    <vt:lpwstr>1033-12.1.22553.22553</vt:lpwstr>
  </property>
</Properties>
</file>