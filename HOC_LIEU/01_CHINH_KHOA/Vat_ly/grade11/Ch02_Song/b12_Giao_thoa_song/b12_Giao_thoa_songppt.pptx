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215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A0FAF98-E9E1-422A-A90C-3B19E834EF18}"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50"/>
        <p:guide pos="3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 name="Google Shape;96;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4" name="Google Shape;104;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7" name="Google Shape;117;p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5" name="Google Shape;155;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7" name="Google Shape;167;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9" name="Google Shape;179;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2" name="Google Shape;192;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2" name="Shape 232"/>
        <p:cNvGrpSpPr/>
        <p:nvPr/>
      </p:nvGrpSpPr>
      <p:grpSpPr>
        <a:xfrm>
          <a:off x="0" y="0"/>
          <a:ext cx="0" cy="0"/>
          <a:chOff x="0" y="0"/>
          <a:chExt cx="0" cy="0"/>
        </a:xfrm>
      </p:grpSpPr>
      <p:sp>
        <p:nvSpPr>
          <p:cNvPr id="233" name="Google Shape;233;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4" name="Google Shape;234;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3" name="Shape 253"/>
        <p:cNvGrpSpPr/>
        <p:nvPr/>
      </p:nvGrpSpPr>
      <p:grpSpPr>
        <a:xfrm>
          <a:off x="0" y="0"/>
          <a:ext cx="0" cy="0"/>
          <a:chOff x="0" y="0"/>
          <a:chExt cx="0" cy="0"/>
        </a:xfrm>
      </p:grpSpPr>
      <p:sp>
        <p:nvSpPr>
          <p:cNvPr id="254" name="Google Shape;254;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5" name="Google Shape;25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5" name="Shape 15"/>
        <p:cNvGrpSpPr/>
        <p:nvPr/>
      </p:nvGrpSpPr>
      <p:grpSpPr>
        <a:xfrm>
          <a:off x="0" y="0"/>
          <a:ext cx="0" cy="0"/>
          <a:chOff x="0" y="0"/>
          <a:chExt cx="0" cy="0"/>
        </a:xfrm>
      </p:grpSpPr>
      <p:sp>
        <p:nvSpPr>
          <p:cNvPr id="16" name="Google Shape;16;p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6"/>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1" name="Google Shape;41;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7"/>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7"/>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7"/>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type="pic" idx="2"/>
          </p:nvPr>
        </p:nvSpPr>
        <p:spPr>
          <a:xfrm>
            <a:off x="5183188" y="987425"/>
            <a:ext cx="6172200" cy="4873625"/>
          </a:xfrm>
          <a:prstGeom prst="rect">
            <a:avLst/>
          </a:prstGeom>
          <a:noFill/>
          <a:ln>
            <a:noFill/>
          </a:ln>
        </p:spPr>
      </p:sp>
      <p:sp>
        <p:nvSpPr>
          <p:cNvPr id="68" name="Google Shape;68;p1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70402020202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70402020202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9pPr>
          </a:lstStyle>
          <a:p/>
        </p:txBody>
      </p:sp>
      <p:sp>
        <p:nvSpPr>
          <p:cNvPr id="12" name="Google Shape;12;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3" name="Google Shape;13;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4" name="Google Shape;14;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1"/>
          <a:srcRect/>
          <a:stretch>
            <a:fillRect/>
          </a:stretch>
        </p:blipFill>
        <p:spPr>
          <a:xfrm>
            <a:off x="1714500" y="0"/>
            <a:ext cx="4533900" cy="2514600"/>
          </a:xfrm>
          <a:prstGeom prst="rect">
            <a:avLst/>
          </a:prstGeom>
          <a:noFill/>
          <a:ln>
            <a:noFill/>
          </a:ln>
        </p:spPr>
      </p:pic>
      <p:pic>
        <p:nvPicPr>
          <p:cNvPr id="89" name="Google Shape;89;p13"/>
          <p:cNvPicPr preferRelativeResize="0"/>
          <p:nvPr/>
        </p:nvPicPr>
        <p:blipFill rotWithShape="1">
          <a:blip r:embed="rId2"/>
          <a:srcRect/>
          <a:stretch>
            <a:fillRect/>
          </a:stretch>
        </p:blipFill>
        <p:spPr>
          <a:xfrm>
            <a:off x="1714500" y="3657600"/>
            <a:ext cx="4533900" cy="2971800"/>
          </a:xfrm>
          <a:prstGeom prst="rect">
            <a:avLst/>
          </a:prstGeom>
          <a:noFill/>
          <a:ln>
            <a:noFill/>
          </a:ln>
        </p:spPr>
      </p:pic>
      <p:pic>
        <p:nvPicPr>
          <p:cNvPr id="90" name="Google Shape;90;p13" descr="http://netvietgroup.com/netviet/netviet/News/tienich3.jpg"/>
          <p:cNvPicPr preferRelativeResize="0"/>
          <p:nvPr/>
        </p:nvPicPr>
        <p:blipFill rotWithShape="1">
          <a:blip r:embed="rId3"/>
          <a:srcRect/>
          <a:stretch>
            <a:fillRect/>
          </a:stretch>
        </p:blipFill>
        <p:spPr>
          <a:xfrm>
            <a:off x="6494463" y="3657600"/>
            <a:ext cx="4191000" cy="2971800"/>
          </a:xfrm>
          <a:prstGeom prst="rect">
            <a:avLst/>
          </a:prstGeom>
          <a:noFill/>
          <a:ln>
            <a:noFill/>
          </a:ln>
        </p:spPr>
      </p:pic>
      <p:pic>
        <p:nvPicPr>
          <p:cNvPr id="91" name="Google Shape;91;p13" descr="images1644166_thu14"/>
          <p:cNvPicPr preferRelativeResize="0"/>
          <p:nvPr/>
        </p:nvPicPr>
        <p:blipFill rotWithShape="1">
          <a:blip r:embed="rId4"/>
          <a:srcRect/>
          <a:stretch>
            <a:fillRect/>
          </a:stretch>
        </p:blipFill>
        <p:spPr>
          <a:xfrm>
            <a:off x="6265863" y="-1"/>
            <a:ext cx="4419600" cy="2691830"/>
          </a:xfrm>
          <a:prstGeom prst="rect">
            <a:avLst/>
          </a:prstGeom>
          <a:noFill/>
          <a:ln>
            <a:noFill/>
          </a:ln>
        </p:spPr>
      </p:pic>
      <p:sp>
        <p:nvSpPr>
          <p:cNvPr id="92" name="Google Shape;92;p13"/>
          <p:cNvSpPr txBox="1"/>
          <p:nvPr/>
        </p:nvSpPr>
        <p:spPr>
          <a:xfrm>
            <a:off x="3429000" y="2831068"/>
            <a:ext cx="7162800" cy="5822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a:solidFill>
                  <a:srgbClr val="FF0000"/>
                </a:solidFill>
                <a:latin typeface="Silom" panose="00000400000000000000" charset="0"/>
                <a:ea typeface="Times New Roman" panose="02020603050405020304"/>
                <a:cs typeface="Silom" panose="00000400000000000000" charset="0"/>
                <a:sym typeface="Times New Roman" panose="02020603050405020304"/>
              </a:rPr>
              <a:t>BÀI 12: GIAO THOA SÓNG </a:t>
            </a:r>
            <a:endParaRPr sz="3200">
              <a:solidFill>
                <a:srgbClr val="FF0000"/>
              </a:solidFill>
              <a:latin typeface="Silom" panose="00000400000000000000" charset="0"/>
              <a:ea typeface="Times New Roman" panose="02020603050405020304"/>
              <a:cs typeface="Silom" panose="00000400000000000000" charset="0"/>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grpSp>
        <p:nvGrpSpPr>
          <p:cNvPr id="98" name="Google Shape;98;p14"/>
          <p:cNvGrpSpPr/>
          <p:nvPr/>
        </p:nvGrpSpPr>
        <p:grpSpPr>
          <a:xfrm>
            <a:off x="4876800" y="153812"/>
            <a:ext cx="2269096" cy="531988"/>
            <a:chOff x="2193" y="0"/>
            <a:chExt cx="2245706" cy="1239104"/>
          </a:xfrm>
        </p:grpSpPr>
        <p:sp>
          <p:nvSpPr>
            <p:cNvPr id="99" name="Google Shape;99;p14"/>
            <p:cNvSpPr/>
            <p:nvPr/>
          </p:nvSpPr>
          <p:spPr>
            <a:xfrm>
              <a:off x="2193" y="0"/>
              <a:ext cx="2245706" cy="1239104"/>
            </a:xfrm>
            <a:prstGeom prst="roundRect">
              <a:avLst>
                <a:gd name="adj" fmla="val 16667"/>
              </a:avLst>
            </a:prstGeom>
            <a:solidFill>
              <a:srgbClr val="002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00;p14"/>
            <p:cNvSpPr/>
            <p:nvPr/>
          </p:nvSpPr>
          <p:spPr>
            <a:xfrm>
              <a:off x="77334" y="60488"/>
              <a:ext cx="2124730" cy="1118127"/>
            </a:xfrm>
            <a:prstGeom prst="rect">
              <a:avLst/>
            </a:prstGeom>
            <a:solidFill>
              <a:srgbClr val="002060"/>
            </a:solidFill>
            <a:ln>
              <a:noFill/>
            </a:ln>
          </p:spPr>
          <p:txBody>
            <a:bodyPr spcFirstLastPara="1" wrap="square" lIns="121900" tIns="60950" rIns="121900" bIns="60950" anchor="ctr" anchorCtr="0">
              <a:noAutofit/>
            </a:bodyPr>
            <a:lstStyle/>
            <a:p>
              <a:pPr marL="0" marR="0" lvl="0" indent="0" algn="ctr" rtl="0">
                <a:lnSpc>
                  <a:spcPct val="90000"/>
                </a:lnSpc>
                <a:spcBef>
                  <a:spcPts val="0"/>
                </a:spcBef>
                <a:spcAft>
                  <a:spcPts val="0"/>
                </a:spcAft>
                <a:buNone/>
              </a:pPr>
              <a:r>
                <a:rPr lang="en-US" sz="2600" b="1">
                  <a:solidFill>
                    <a:schemeClr val="lt1"/>
                  </a:solidFill>
                  <a:latin typeface="Arial" panose="020B0704020202020204"/>
                  <a:ea typeface="Arial" panose="020B0704020202020204"/>
                  <a:cs typeface="Arial" panose="020B0704020202020204"/>
                  <a:sym typeface="Arial" panose="020B0704020202020204"/>
                </a:rPr>
                <a:t>Khởi động</a:t>
              </a:r>
              <a:endParaRPr sz="2600" b="1">
                <a:solidFill>
                  <a:schemeClr val="lt1"/>
                </a:solidFill>
                <a:latin typeface="Arial" panose="020B0704020202020204"/>
                <a:ea typeface="Arial" panose="020B0704020202020204"/>
                <a:cs typeface="Arial" panose="020B0704020202020204"/>
                <a:sym typeface="Arial" panose="020B0704020202020204"/>
              </a:endParaRPr>
            </a:p>
          </p:txBody>
        </p:sp>
      </p:grpSp>
      <p:pic>
        <p:nvPicPr>
          <p:cNvPr id="101" name="Google Shape;101;p14" descr="D:\GIÁO AN 11\GIÁO AN\GIAO AN 11 KET NOI CHI THỨC\BAI 12\hính 1.png"/>
          <p:cNvPicPr preferRelativeResize="0"/>
          <p:nvPr/>
        </p:nvPicPr>
        <p:blipFill rotWithShape="1">
          <a:blip r:embed="rId1"/>
          <a:srcRect/>
          <a:stretch>
            <a:fillRect/>
          </a:stretch>
        </p:blipFill>
        <p:spPr>
          <a:xfrm>
            <a:off x="1295401" y="1295400"/>
            <a:ext cx="9677400" cy="4419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grpSp>
        <p:nvGrpSpPr>
          <p:cNvPr id="106" name="Google Shape;106;p15"/>
          <p:cNvGrpSpPr/>
          <p:nvPr/>
        </p:nvGrpSpPr>
        <p:grpSpPr>
          <a:xfrm>
            <a:off x="-76200" y="65599"/>
            <a:ext cx="8603570" cy="541686"/>
            <a:chOff x="74035" y="2231322"/>
            <a:chExt cx="8550262" cy="756153"/>
          </a:xfrm>
        </p:grpSpPr>
        <p:grpSp>
          <p:nvGrpSpPr>
            <p:cNvPr id="107" name="Google Shape;107;p15"/>
            <p:cNvGrpSpPr/>
            <p:nvPr/>
          </p:nvGrpSpPr>
          <p:grpSpPr>
            <a:xfrm>
              <a:off x="330533" y="2267004"/>
              <a:ext cx="8293764" cy="708275"/>
              <a:chOff x="587624" y="3377549"/>
              <a:chExt cx="4270901" cy="1364238"/>
            </a:xfrm>
          </p:grpSpPr>
          <p:pic>
            <p:nvPicPr>
              <p:cNvPr id="108" name="Google Shape;108;p15" descr="empty-green-rectangle"/>
              <p:cNvPicPr preferRelativeResize="0"/>
              <p:nvPr/>
            </p:nvPicPr>
            <p:blipFill rotWithShape="1">
              <a:blip r:embed="rId1"/>
              <a:srcRect/>
              <a:stretch>
                <a:fillRect/>
              </a:stretch>
            </p:blipFill>
            <p:spPr>
              <a:xfrm>
                <a:off x="587624" y="3377549"/>
                <a:ext cx="4270901" cy="1364238"/>
              </a:xfrm>
              <a:prstGeom prst="rect">
                <a:avLst/>
              </a:prstGeom>
              <a:noFill/>
              <a:ln>
                <a:noFill/>
              </a:ln>
            </p:spPr>
          </p:pic>
          <p:pic>
            <p:nvPicPr>
              <p:cNvPr id="109" name="Google Shape;109;p15"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110" name="Google Shape;110;p15"/>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I</a:t>
              </a:r>
              <a:endParaRPr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111" name="Google Shape;111;p15"/>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en-US" sz="2800" i="1">
                  <a:solidFill>
                    <a:schemeClr val="dk1"/>
                  </a:solidFill>
                  <a:latin typeface="Arial" panose="020B0704020202020204"/>
                  <a:ea typeface="Arial" panose="020B0704020202020204"/>
                  <a:cs typeface="Arial" panose="020B0704020202020204"/>
                  <a:sym typeface="Arial" panose="020B0704020202020204"/>
                </a:rPr>
                <a:t>Hiện tượng giao thoa của hai sóng mặt nước</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12" name="Google Shape;112;p15"/>
          <p:cNvSpPr txBox="1"/>
          <p:nvPr/>
        </p:nvSpPr>
        <p:spPr>
          <a:xfrm>
            <a:off x="685800" y="762000"/>
            <a:ext cx="403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1. Thí nghiệm</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13" name="Google Shape;113;p15" descr="D:\GIÁO AN 11\GIÁO AN\GIAO AN 11 KET NOI CHI THỨC\BAI 12\2.jpg"/>
          <p:cNvPicPr preferRelativeResize="0"/>
          <p:nvPr/>
        </p:nvPicPr>
        <p:blipFill rotWithShape="1">
          <a:blip r:embed="rId3"/>
          <a:srcRect/>
          <a:stretch>
            <a:fillRect/>
          </a:stretch>
        </p:blipFill>
        <p:spPr>
          <a:xfrm>
            <a:off x="2743200" y="770736"/>
            <a:ext cx="7086600" cy="56300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16"/>
          <p:cNvSpPr/>
          <p:nvPr/>
        </p:nvSpPr>
        <p:spPr>
          <a:xfrm>
            <a:off x="914400" y="685800"/>
            <a:ext cx="206979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chemeClr val="dk1"/>
                </a:solidFill>
                <a:latin typeface="Times New Roman" panose="02020603050405020304"/>
                <a:ea typeface="Times New Roman" panose="02020603050405020304"/>
                <a:cs typeface="Times New Roman" panose="02020603050405020304"/>
                <a:sym typeface="Times New Roman" panose="02020603050405020304"/>
              </a:rPr>
              <a:t>2. Giải thích</a:t>
            </a:r>
            <a:endParaRPr sz="2800">
              <a:solidFill>
                <a:schemeClr val="dk1"/>
              </a:solidFill>
              <a:latin typeface="Calibri"/>
              <a:ea typeface="Calibri"/>
              <a:cs typeface="Calibri"/>
              <a:sym typeface="Calibri"/>
            </a:endParaRPr>
          </a:p>
        </p:txBody>
      </p:sp>
      <p:sp>
        <p:nvSpPr>
          <p:cNvPr id="120" name="Google Shape;120;p16"/>
          <p:cNvSpPr/>
          <p:nvPr/>
        </p:nvSpPr>
        <p:spPr>
          <a:xfrm>
            <a:off x="5005955" y="3959225"/>
            <a:ext cx="76200" cy="76200"/>
          </a:xfrm>
          <a:prstGeom prst="ellipse">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 name="Google Shape;121;p16"/>
          <p:cNvSpPr/>
          <p:nvPr/>
        </p:nvSpPr>
        <p:spPr>
          <a:xfrm>
            <a:off x="4832918" y="3773488"/>
            <a:ext cx="457200" cy="457200"/>
          </a:xfrm>
          <a:prstGeom prst="ellipse">
            <a:avLst/>
          </a:prstGeom>
          <a:noFill/>
          <a:ln w="19050" cap="flat" cmpd="sng">
            <a:solidFill>
              <a:srgbClr val="CC0099"/>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 name="Google Shape;122;p16"/>
          <p:cNvSpPr/>
          <p:nvPr/>
        </p:nvSpPr>
        <p:spPr>
          <a:xfrm>
            <a:off x="4368178" y="3255899"/>
            <a:ext cx="1371600" cy="13716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16"/>
          <p:cNvSpPr/>
          <p:nvPr/>
        </p:nvSpPr>
        <p:spPr>
          <a:xfrm>
            <a:off x="3928043" y="2881313"/>
            <a:ext cx="2286000" cy="2286000"/>
          </a:xfrm>
          <a:prstGeom prst="ellipse">
            <a:avLst/>
          </a:prstGeom>
          <a:noFill/>
          <a:ln w="19050" cap="flat" cmpd="sng">
            <a:solidFill>
              <a:srgbClr val="CC0099"/>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16"/>
          <p:cNvSpPr/>
          <p:nvPr/>
        </p:nvSpPr>
        <p:spPr>
          <a:xfrm>
            <a:off x="3472431" y="2422526"/>
            <a:ext cx="3198813" cy="3198813"/>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16"/>
          <p:cNvSpPr/>
          <p:nvPr/>
        </p:nvSpPr>
        <p:spPr>
          <a:xfrm>
            <a:off x="3015231" y="1979613"/>
            <a:ext cx="4113213" cy="4113212"/>
          </a:xfrm>
          <a:prstGeom prst="ellipse">
            <a:avLst/>
          </a:prstGeom>
          <a:noFill/>
          <a:ln w="19050" cap="flat" cmpd="sng">
            <a:solidFill>
              <a:srgbClr val="CC0099"/>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16"/>
          <p:cNvSpPr/>
          <p:nvPr/>
        </p:nvSpPr>
        <p:spPr>
          <a:xfrm>
            <a:off x="2558031" y="1511301"/>
            <a:ext cx="5027613" cy="5027613"/>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16"/>
          <p:cNvSpPr/>
          <p:nvPr/>
        </p:nvSpPr>
        <p:spPr>
          <a:xfrm>
            <a:off x="7280843" y="3906838"/>
            <a:ext cx="76200" cy="76200"/>
          </a:xfrm>
          <a:prstGeom prst="ellipse">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16"/>
          <p:cNvSpPr/>
          <p:nvPr/>
        </p:nvSpPr>
        <p:spPr>
          <a:xfrm>
            <a:off x="7107805" y="3721100"/>
            <a:ext cx="457200" cy="457200"/>
          </a:xfrm>
          <a:prstGeom prst="ellipse">
            <a:avLst/>
          </a:prstGeom>
          <a:noFill/>
          <a:ln w="19050" cap="flat" cmpd="sng">
            <a:solidFill>
              <a:srgbClr val="CC0099"/>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 name="Google Shape;129;p16"/>
          <p:cNvSpPr/>
          <p:nvPr/>
        </p:nvSpPr>
        <p:spPr>
          <a:xfrm>
            <a:off x="6661718" y="3286125"/>
            <a:ext cx="1371600" cy="13716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p16"/>
          <p:cNvSpPr/>
          <p:nvPr/>
        </p:nvSpPr>
        <p:spPr>
          <a:xfrm>
            <a:off x="6202930" y="2828925"/>
            <a:ext cx="2286000" cy="2286000"/>
          </a:xfrm>
          <a:prstGeom prst="ellipse">
            <a:avLst/>
          </a:prstGeom>
          <a:noFill/>
          <a:ln w="19050" cap="flat" cmpd="sng">
            <a:solidFill>
              <a:srgbClr val="CC0099"/>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16"/>
          <p:cNvSpPr/>
          <p:nvPr/>
        </p:nvSpPr>
        <p:spPr>
          <a:xfrm>
            <a:off x="5747318" y="2370138"/>
            <a:ext cx="3198812" cy="3198812"/>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16"/>
          <p:cNvSpPr/>
          <p:nvPr/>
        </p:nvSpPr>
        <p:spPr>
          <a:xfrm>
            <a:off x="5290118" y="1927226"/>
            <a:ext cx="4113212" cy="4113213"/>
          </a:xfrm>
          <a:prstGeom prst="ellipse">
            <a:avLst/>
          </a:prstGeom>
          <a:noFill/>
          <a:ln w="19050" cap="flat" cmpd="sng">
            <a:solidFill>
              <a:srgbClr val="CC0099"/>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16"/>
          <p:cNvSpPr/>
          <p:nvPr/>
        </p:nvSpPr>
        <p:spPr>
          <a:xfrm>
            <a:off x="4843237" y="1444626"/>
            <a:ext cx="5027613" cy="5027613"/>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34" name="Google Shape;134;p16"/>
          <p:cNvCxnSpPr/>
          <p:nvPr/>
        </p:nvCxnSpPr>
        <p:spPr>
          <a:xfrm>
            <a:off x="6160069" y="1292225"/>
            <a:ext cx="98425" cy="5562600"/>
          </a:xfrm>
          <a:prstGeom prst="straightConnector1">
            <a:avLst/>
          </a:prstGeom>
          <a:noFill/>
          <a:ln w="28575" cap="flat" cmpd="sng">
            <a:solidFill>
              <a:schemeClr val="dk2"/>
            </a:solidFill>
            <a:prstDash val="solid"/>
            <a:round/>
            <a:headEnd type="none" w="med" len="med"/>
            <a:tailEnd type="none" w="med" len="med"/>
          </a:ln>
        </p:spPr>
      </p:cxnSp>
      <p:sp>
        <p:nvSpPr>
          <p:cNvPr id="135" name="Google Shape;135;p16"/>
          <p:cNvSpPr/>
          <p:nvPr/>
        </p:nvSpPr>
        <p:spPr>
          <a:xfrm>
            <a:off x="4994844" y="1287463"/>
            <a:ext cx="979487" cy="5535612"/>
          </a:xfrm>
          <a:custGeom>
            <a:avLst/>
            <a:gdLst/>
            <a:ahLst/>
            <a:cxnLst/>
            <a:rect l="l" t="t" r="r" b="b"/>
            <a:pathLst>
              <a:path w="21600" h="41666" fill="none" extrusionOk="0">
                <a:moveTo>
                  <a:pt x="4537" y="0"/>
                </a:moveTo>
                <a:cubicBezTo>
                  <a:pt x="14491" y="2138"/>
                  <a:pt x="21600" y="10937"/>
                  <a:pt x="21600" y="21118"/>
                </a:cubicBezTo>
                <a:cubicBezTo>
                  <a:pt x="21600" y="30482"/>
                  <a:pt x="15566" y="38779"/>
                  <a:pt x="6658" y="41666"/>
                </a:cubicBezTo>
              </a:path>
              <a:path w="21600" h="41666" extrusionOk="0">
                <a:moveTo>
                  <a:pt x="4537" y="0"/>
                </a:moveTo>
                <a:cubicBezTo>
                  <a:pt x="14491" y="2138"/>
                  <a:pt x="21600" y="10937"/>
                  <a:pt x="21600" y="21118"/>
                </a:cubicBezTo>
                <a:cubicBezTo>
                  <a:pt x="21600" y="30482"/>
                  <a:pt x="15566" y="38779"/>
                  <a:pt x="6658" y="41666"/>
                </a:cubicBezTo>
                <a:lnTo>
                  <a:pt x="0" y="21118"/>
                </a:lnTo>
                <a:lnTo>
                  <a:pt x="4537" y="0"/>
                </a:lnTo>
                <a:close/>
              </a:path>
            </a:pathLst>
          </a:custGeom>
          <a:noFill/>
          <a:ln w="28575" cap="flat" cmpd="sng">
            <a:solidFill>
              <a:srgbClr val="0000FF"/>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6" name="Google Shape;136;p16"/>
          <p:cNvSpPr/>
          <p:nvPr/>
        </p:nvSpPr>
        <p:spPr>
          <a:xfrm>
            <a:off x="3939155" y="1457326"/>
            <a:ext cx="1817688" cy="5159375"/>
          </a:xfrm>
          <a:custGeom>
            <a:avLst/>
            <a:gdLst/>
            <a:ahLst/>
            <a:cxnLst/>
            <a:rect l="l" t="t" r="r" b="b"/>
            <a:pathLst>
              <a:path w="21600" h="42360" fill="none" extrusionOk="0">
                <a:moveTo>
                  <a:pt x="4161" y="-1"/>
                </a:moveTo>
                <a:cubicBezTo>
                  <a:pt x="14292" y="1988"/>
                  <a:pt x="21600" y="10869"/>
                  <a:pt x="21600" y="21195"/>
                </a:cubicBezTo>
                <a:cubicBezTo>
                  <a:pt x="21600" y="31461"/>
                  <a:pt x="14374" y="40308"/>
                  <a:pt x="4314" y="42359"/>
                </a:cubicBezTo>
              </a:path>
              <a:path w="21600" h="42360" extrusionOk="0">
                <a:moveTo>
                  <a:pt x="4161" y="-1"/>
                </a:moveTo>
                <a:cubicBezTo>
                  <a:pt x="14292" y="1988"/>
                  <a:pt x="21600" y="10869"/>
                  <a:pt x="21600" y="21195"/>
                </a:cubicBezTo>
                <a:cubicBezTo>
                  <a:pt x="21600" y="31461"/>
                  <a:pt x="14374" y="40308"/>
                  <a:pt x="4314" y="42359"/>
                </a:cubicBezTo>
                <a:lnTo>
                  <a:pt x="0" y="21195"/>
                </a:lnTo>
                <a:lnTo>
                  <a:pt x="4161" y="-1"/>
                </a:lnTo>
                <a:close/>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16"/>
          <p:cNvSpPr/>
          <p:nvPr/>
        </p:nvSpPr>
        <p:spPr>
          <a:xfrm>
            <a:off x="1261044" y="1855788"/>
            <a:ext cx="4244975" cy="4470400"/>
          </a:xfrm>
          <a:custGeom>
            <a:avLst/>
            <a:gdLst/>
            <a:ahLst/>
            <a:cxnLst/>
            <a:rect l="l" t="t" r="r" b="b"/>
            <a:pathLst>
              <a:path w="21600" h="37097" fill="none" extrusionOk="0">
                <a:moveTo>
                  <a:pt x="11493" y="0"/>
                </a:moveTo>
                <a:cubicBezTo>
                  <a:pt x="17783" y="3952"/>
                  <a:pt x="21600" y="10859"/>
                  <a:pt x="21600" y="18288"/>
                </a:cubicBezTo>
                <a:cubicBezTo>
                  <a:pt x="21600" y="26079"/>
                  <a:pt x="17404" y="33266"/>
                  <a:pt x="10619" y="37096"/>
                </a:cubicBezTo>
              </a:path>
              <a:path w="21600" h="37097" extrusionOk="0">
                <a:moveTo>
                  <a:pt x="11493" y="0"/>
                </a:moveTo>
                <a:cubicBezTo>
                  <a:pt x="17783" y="3952"/>
                  <a:pt x="21600" y="10859"/>
                  <a:pt x="21600" y="18288"/>
                </a:cubicBezTo>
                <a:cubicBezTo>
                  <a:pt x="21600" y="26079"/>
                  <a:pt x="17404" y="33266"/>
                  <a:pt x="10619" y="37096"/>
                </a:cubicBezTo>
                <a:lnTo>
                  <a:pt x="0" y="18288"/>
                </a:lnTo>
                <a:lnTo>
                  <a:pt x="11493" y="0"/>
                </a:lnTo>
                <a:close/>
              </a:path>
            </a:pathLst>
          </a:custGeom>
          <a:noFill/>
          <a:ln w="28575" cap="flat" cmpd="sng">
            <a:solidFill>
              <a:srgbClr val="0000FF"/>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16"/>
          <p:cNvSpPr/>
          <p:nvPr/>
        </p:nvSpPr>
        <p:spPr>
          <a:xfrm rot="10800000">
            <a:off x="6442644" y="1177926"/>
            <a:ext cx="979487" cy="5535613"/>
          </a:xfrm>
          <a:custGeom>
            <a:avLst/>
            <a:gdLst/>
            <a:ahLst/>
            <a:cxnLst/>
            <a:rect l="l" t="t" r="r" b="b"/>
            <a:pathLst>
              <a:path w="21600" h="41666" fill="none" extrusionOk="0">
                <a:moveTo>
                  <a:pt x="4537" y="0"/>
                </a:moveTo>
                <a:cubicBezTo>
                  <a:pt x="14491" y="2138"/>
                  <a:pt x="21600" y="10937"/>
                  <a:pt x="21600" y="21118"/>
                </a:cubicBezTo>
                <a:cubicBezTo>
                  <a:pt x="21600" y="30482"/>
                  <a:pt x="15566" y="38779"/>
                  <a:pt x="6658" y="41666"/>
                </a:cubicBezTo>
              </a:path>
              <a:path w="21600" h="41666" extrusionOk="0">
                <a:moveTo>
                  <a:pt x="4537" y="0"/>
                </a:moveTo>
                <a:cubicBezTo>
                  <a:pt x="14491" y="2138"/>
                  <a:pt x="21600" y="10937"/>
                  <a:pt x="21600" y="21118"/>
                </a:cubicBezTo>
                <a:cubicBezTo>
                  <a:pt x="21600" y="30482"/>
                  <a:pt x="15566" y="38779"/>
                  <a:pt x="6658" y="41666"/>
                </a:cubicBezTo>
                <a:lnTo>
                  <a:pt x="0" y="21118"/>
                </a:lnTo>
                <a:lnTo>
                  <a:pt x="4537" y="0"/>
                </a:lnTo>
                <a:close/>
              </a:path>
            </a:pathLst>
          </a:custGeom>
          <a:noFill/>
          <a:ln w="28575" cap="flat" cmpd="sng">
            <a:solidFill>
              <a:srgbClr val="0000FF"/>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16"/>
          <p:cNvSpPr/>
          <p:nvPr/>
        </p:nvSpPr>
        <p:spPr>
          <a:xfrm rot="10647592">
            <a:off x="6661719" y="1390651"/>
            <a:ext cx="1817687" cy="5159375"/>
          </a:xfrm>
          <a:custGeom>
            <a:avLst/>
            <a:gdLst/>
            <a:ahLst/>
            <a:cxnLst/>
            <a:rect l="l" t="t" r="r" b="b"/>
            <a:pathLst>
              <a:path w="21600" h="42360" fill="none" extrusionOk="0">
                <a:moveTo>
                  <a:pt x="4161" y="-1"/>
                </a:moveTo>
                <a:cubicBezTo>
                  <a:pt x="14292" y="1988"/>
                  <a:pt x="21600" y="10869"/>
                  <a:pt x="21600" y="21195"/>
                </a:cubicBezTo>
                <a:cubicBezTo>
                  <a:pt x="21600" y="31461"/>
                  <a:pt x="14374" y="40308"/>
                  <a:pt x="4314" y="42359"/>
                </a:cubicBezTo>
              </a:path>
              <a:path w="21600" h="42360" extrusionOk="0">
                <a:moveTo>
                  <a:pt x="4161" y="-1"/>
                </a:moveTo>
                <a:cubicBezTo>
                  <a:pt x="14292" y="1988"/>
                  <a:pt x="21600" y="10869"/>
                  <a:pt x="21600" y="21195"/>
                </a:cubicBezTo>
                <a:cubicBezTo>
                  <a:pt x="21600" y="31461"/>
                  <a:pt x="14374" y="40308"/>
                  <a:pt x="4314" y="42359"/>
                </a:cubicBezTo>
                <a:lnTo>
                  <a:pt x="0" y="21195"/>
                </a:lnTo>
                <a:lnTo>
                  <a:pt x="4161" y="-1"/>
                </a:lnTo>
                <a:close/>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 name="Google Shape;140;p16"/>
          <p:cNvSpPr/>
          <p:nvPr/>
        </p:nvSpPr>
        <p:spPr>
          <a:xfrm rot="10643624">
            <a:off x="6910956" y="1660525"/>
            <a:ext cx="4244975" cy="4470400"/>
          </a:xfrm>
          <a:custGeom>
            <a:avLst/>
            <a:gdLst/>
            <a:ahLst/>
            <a:cxnLst/>
            <a:rect l="l" t="t" r="r" b="b"/>
            <a:pathLst>
              <a:path w="21600" h="37097" fill="none" extrusionOk="0">
                <a:moveTo>
                  <a:pt x="11493" y="0"/>
                </a:moveTo>
                <a:cubicBezTo>
                  <a:pt x="17783" y="3952"/>
                  <a:pt x="21600" y="10859"/>
                  <a:pt x="21600" y="18288"/>
                </a:cubicBezTo>
                <a:cubicBezTo>
                  <a:pt x="21600" y="26079"/>
                  <a:pt x="17404" y="33266"/>
                  <a:pt x="10619" y="37096"/>
                </a:cubicBezTo>
              </a:path>
              <a:path w="21600" h="37097" extrusionOk="0">
                <a:moveTo>
                  <a:pt x="11493" y="0"/>
                </a:moveTo>
                <a:cubicBezTo>
                  <a:pt x="17783" y="3952"/>
                  <a:pt x="21600" y="10859"/>
                  <a:pt x="21600" y="18288"/>
                </a:cubicBezTo>
                <a:cubicBezTo>
                  <a:pt x="21600" y="26079"/>
                  <a:pt x="17404" y="33266"/>
                  <a:pt x="10619" y="37096"/>
                </a:cubicBezTo>
                <a:lnTo>
                  <a:pt x="0" y="18288"/>
                </a:lnTo>
                <a:lnTo>
                  <a:pt x="11493" y="0"/>
                </a:lnTo>
                <a:close/>
              </a:path>
            </a:pathLst>
          </a:custGeom>
          <a:noFill/>
          <a:ln w="28575" cap="flat" cmpd="sng">
            <a:solidFill>
              <a:srgbClr val="0000FF"/>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16"/>
          <p:cNvSpPr txBox="1"/>
          <p:nvPr/>
        </p:nvSpPr>
        <p:spPr>
          <a:xfrm>
            <a:off x="4331268" y="3816351"/>
            <a:ext cx="6858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3399"/>
                </a:solidFill>
                <a:latin typeface="Verdana" panose="020B0604030504040204"/>
                <a:ea typeface="Verdana" panose="020B0604030504040204"/>
                <a:cs typeface="Verdana" panose="020B0604030504040204"/>
                <a:sym typeface="Verdana" panose="020B0604030504040204"/>
              </a:rPr>
              <a:t>S</a:t>
            </a:r>
            <a:r>
              <a:rPr lang="en-US" sz="1800" baseline="-25000">
                <a:solidFill>
                  <a:srgbClr val="003399"/>
                </a:solidFill>
                <a:latin typeface="Verdana" panose="020B0604030504040204"/>
                <a:ea typeface="Verdana" panose="020B0604030504040204"/>
                <a:cs typeface="Verdana" panose="020B0604030504040204"/>
                <a:sym typeface="Verdana" panose="020B0604030504040204"/>
              </a:rPr>
              <a:t>1</a:t>
            </a:r>
            <a:endParaRPr sz="1800">
              <a:solidFill>
                <a:srgbClr val="003399"/>
              </a:solidFill>
              <a:latin typeface="Verdana" panose="020B0604030504040204"/>
              <a:ea typeface="Verdana" panose="020B0604030504040204"/>
              <a:cs typeface="Verdana" panose="020B0604030504040204"/>
              <a:sym typeface="Verdana" panose="020B0604030504040204"/>
            </a:endParaRPr>
          </a:p>
        </p:txBody>
      </p:sp>
      <p:sp>
        <p:nvSpPr>
          <p:cNvPr id="142" name="Google Shape;142;p16"/>
          <p:cNvSpPr txBox="1"/>
          <p:nvPr/>
        </p:nvSpPr>
        <p:spPr>
          <a:xfrm>
            <a:off x="7553893" y="3729038"/>
            <a:ext cx="685800"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3399"/>
                </a:solidFill>
                <a:latin typeface="Verdana" panose="020B0604030504040204"/>
                <a:ea typeface="Verdana" panose="020B0604030504040204"/>
                <a:cs typeface="Verdana" panose="020B0604030504040204"/>
                <a:sym typeface="Verdana" panose="020B0604030504040204"/>
              </a:rPr>
              <a:t>S</a:t>
            </a:r>
            <a:r>
              <a:rPr lang="en-US" sz="1800" baseline="-25000">
                <a:solidFill>
                  <a:srgbClr val="003399"/>
                </a:solidFill>
                <a:latin typeface="Verdana" panose="020B0604030504040204"/>
                <a:ea typeface="Verdana" panose="020B0604030504040204"/>
                <a:cs typeface="Verdana" panose="020B0604030504040204"/>
                <a:sym typeface="Verdana" panose="020B0604030504040204"/>
              </a:rPr>
              <a:t>2</a:t>
            </a:r>
            <a:endParaRPr sz="1800">
              <a:solidFill>
                <a:srgbClr val="003399"/>
              </a:solidFill>
              <a:latin typeface="Verdana" panose="020B0604030504040204"/>
              <a:ea typeface="Verdana" panose="020B0604030504040204"/>
              <a:cs typeface="Verdana" panose="020B0604030504040204"/>
              <a:sym typeface="Verdana" panose="020B0604030504040204"/>
            </a:endParaRPr>
          </a:p>
        </p:txBody>
      </p:sp>
      <p:sp>
        <p:nvSpPr>
          <p:cNvPr id="143" name="Google Shape;143;p16"/>
          <p:cNvSpPr txBox="1"/>
          <p:nvPr/>
        </p:nvSpPr>
        <p:spPr>
          <a:xfrm>
            <a:off x="1447801" y="5950804"/>
            <a:ext cx="1909497"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Vân giao thoa</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Đứng yên</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4" name="Google Shape;144;p16"/>
          <p:cNvSpPr txBox="1"/>
          <p:nvPr/>
        </p:nvSpPr>
        <p:spPr>
          <a:xfrm>
            <a:off x="5622264" y="6400801"/>
            <a:ext cx="196079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Vân trung tâm</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45" name="Google Shape;145;p16"/>
          <p:cNvCxnSpPr>
            <a:stCxn id="120" idx="5"/>
            <a:endCxn id="127" idx="3"/>
          </p:cNvCxnSpPr>
          <p:nvPr/>
        </p:nvCxnSpPr>
        <p:spPr>
          <a:xfrm rot="10800000" flipH="1">
            <a:off x="5070996" y="3971766"/>
            <a:ext cx="2220900" cy="52500"/>
          </a:xfrm>
          <a:prstGeom prst="straightConnector1">
            <a:avLst/>
          </a:prstGeom>
          <a:noFill/>
          <a:ln w="12700" cap="flat" cmpd="sng">
            <a:solidFill>
              <a:srgbClr val="2F5496"/>
            </a:solidFill>
            <a:prstDash val="solid"/>
            <a:miter lim="800000"/>
            <a:headEnd type="none" w="sm" len="sm"/>
            <a:tailEnd type="none" w="sm" len="sm"/>
          </a:ln>
        </p:spPr>
      </p:cxnSp>
      <p:sp>
        <p:nvSpPr>
          <p:cNvPr id="146" name="Google Shape;146;p16"/>
          <p:cNvSpPr txBox="1"/>
          <p:nvPr/>
        </p:nvSpPr>
        <p:spPr>
          <a:xfrm>
            <a:off x="3500704" y="6103204"/>
            <a:ext cx="1909497"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Vân giao thoa</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Dd cực đại</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7" name="Google Shape;147;p16"/>
          <p:cNvGrpSpPr/>
          <p:nvPr/>
        </p:nvGrpSpPr>
        <p:grpSpPr>
          <a:xfrm>
            <a:off x="-76200" y="65599"/>
            <a:ext cx="8603570" cy="541686"/>
            <a:chOff x="74035" y="2231322"/>
            <a:chExt cx="8550262" cy="756153"/>
          </a:xfrm>
        </p:grpSpPr>
        <p:grpSp>
          <p:nvGrpSpPr>
            <p:cNvPr id="148" name="Google Shape;148;p16"/>
            <p:cNvGrpSpPr/>
            <p:nvPr/>
          </p:nvGrpSpPr>
          <p:grpSpPr>
            <a:xfrm>
              <a:off x="330533" y="2267004"/>
              <a:ext cx="8293764" cy="708275"/>
              <a:chOff x="587624" y="3377549"/>
              <a:chExt cx="4270901" cy="1364238"/>
            </a:xfrm>
          </p:grpSpPr>
          <p:pic>
            <p:nvPicPr>
              <p:cNvPr id="149" name="Google Shape;149;p16" descr="empty-green-rectangle"/>
              <p:cNvPicPr preferRelativeResize="0"/>
              <p:nvPr/>
            </p:nvPicPr>
            <p:blipFill rotWithShape="1">
              <a:blip r:embed="rId1"/>
              <a:srcRect/>
              <a:stretch>
                <a:fillRect/>
              </a:stretch>
            </p:blipFill>
            <p:spPr>
              <a:xfrm>
                <a:off x="587624" y="3377549"/>
                <a:ext cx="4270901" cy="1364238"/>
              </a:xfrm>
              <a:prstGeom prst="rect">
                <a:avLst/>
              </a:prstGeom>
              <a:noFill/>
              <a:ln>
                <a:noFill/>
              </a:ln>
            </p:spPr>
          </p:pic>
          <p:pic>
            <p:nvPicPr>
              <p:cNvPr id="150" name="Google Shape;150;p16"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151" name="Google Shape;151;p16"/>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I</a:t>
              </a:r>
              <a:endParaRPr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152" name="Google Shape;152;p16"/>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en-US" sz="2800" i="1">
                  <a:solidFill>
                    <a:schemeClr val="dk1"/>
                  </a:solidFill>
                  <a:latin typeface="Arial" panose="020B0704020202020204"/>
                  <a:ea typeface="Arial" panose="020B0704020202020204"/>
                  <a:cs typeface="Arial" panose="020B0704020202020204"/>
                  <a:sym typeface="Arial" panose="020B0704020202020204"/>
                </a:rPr>
                <a:t>Hiện tượng giao thoa của hai song mặt nước</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par>
                                <p:cTn id="8" presetID="10" presetClass="entr" presetSubtype="0" fill="hold"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fade">
                                      <p:cBhvr>
                                        <p:cTn id="10" dur="500"/>
                                        <p:tgtEl>
                                          <p:spTgt spid="142"/>
                                        </p:tgtEl>
                                      </p:cBhvr>
                                    </p:animEffect>
                                  </p:childTnLst>
                                </p:cTn>
                              </p:par>
                              <p:par>
                                <p:cTn id="11" presetID="10" presetClass="entr" presetSubtype="0" fill="hold"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500"/>
                                        <p:tgtEl>
                                          <p:spTgt spid="120"/>
                                        </p:tgtEl>
                                      </p:cBhvr>
                                    </p:animEffect>
                                  </p:childTnLst>
                                </p:cTn>
                              </p:par>
                              <p:par>
                                <p:cTn id="14" presetID="10" presetClass="entr" presetSubtype="0" fill="hold" nodeType="withEffect">
                                  <p:stCondLst>
                                    <p:cond delay="0"/>
                                  </p:stCondLst>
                                  <p:childTnLst>
                                    <p:set>
                                      <p:cBhvr>
                                        <p:cTn id="15" dur="1" fill="hold">
                                          <p:stCondLst>
                                            <p:cond delay="0"/>
                                          </p:stCondLst>
                                        </p:cTn>
                                        <p:tgtEl>
                                          <p:spTgt spid="127"/>
                                        </p:tgtEl>
                                        <p:attrNameLst>
                                          <p:attrName>style.visibility</p:attrName>
                                        </p:attrNameLst>
                                      </p:cBhvr>
                                      <p:to>
                                        <p:strVal val="visible"/>
                                      </p:to>
                                    </p:set>
                                    <p:animEffect transition="in" filter="fade">
                                      <p:cBhvr>
                                        <p:cTn id="16" dur="500"/>
                                        <p:tgtEl>
                                          <p:spTgt spid="127"/>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121"/>
                                        </p:tgtEl>
                                        <p:attrNameLst>
                                          <p:attrName>style.visibility</p:attrName>
                                        </p:attrNameLst>
                                      </p:cBhvr>
                                      <p:to>
                                        <p:strVal val="visible"/>
                                      </p:to>
                                    </p:set>
                                    <p:animEffect transition="in" filter="fade">
                                      <p:cBhvr>
                                        <p:cTn id="20" dur="2000"/>
                                        <p:tgtEl>
                                          <p:spTgt spid="121"/>
                                        </p:tgtEl>
                                      </p:cBhvr>
                                    </p:animEffect>
                                  </p:childTnLst>
                                </p:cTn>
                              </p:par>
                              <p:par>
                                <p:cTn id="21" presetID="10" presetClass="entr" presetSubtype="0" fill="hold" nodeType="withEffect">
                                  <p:stCondLst>
                                    <p:cond delay="0"/>
                                  </p:stCondLst>
                                  <p:childTnLst>
                                    <p:set>
                                      <p:cBhvr>
                                        <p:cTn id="22" dur="1" fill="hold">
                                          <p:stCondLst>
                                            <p:cond delay="0"/>
                                          </p:stCondLst>
                                        </p:cTn>
                                        <p:tgtEl>
                                          <p:spTgt spid="128"/>
                                        </p:tgtEl>
                                        <p:attrNameLst>
                                          <p:attrName>style.visibility</p:attrName>
                                        </p:attrNameLst>
                                      </p:cBhvr>
                                      <p:to>
                                        <p:strVal val="visible"/>
                                      </p:to>
                                    </p:set>
                                    <p:animEffect transition="in" filter="fade">
                                      <p:cBhvr>
                                        <p:cTn id="23" dur="2000"/>
                                        <p:tgtEl>
                                          <p:spTgt spid="128"/>
                                        </p:tgtEl>
                                      </p:cBhvr>
                                    </p:animEffect>
                                  </p:childTnLst>
                                </p:cTn>
                              </p:par>
                              <p:par>
                                <p:cTn id="24" presetID="10" presetClass="entr" presetSubtype="0" fill="hold" nodeType="withEffect">
                                  <p:stCondLst>
                                    <p:cond delay="0"/>
                                  </p:stCondLst>
                                  <p:childTnLst>
                                    <p:set>
                                      <p:cBhvr>
                                        <p:cTn id="25" dur="1" fill="hold">
                                          <p:stCondLst>
                                            <p:cond delay="0"/>
                                          </p:stCondLst>
                                        </p:cTn>
                                        <p:tgtEl>
                                          <p:spTgt spid="122"/>
                                        </p:tgtEl>
                                        <p:attrNameLst>
                                          <p:attrName>style.visibility</p:attrName>
                                        </p:attrNameLst>
                                      </p:cBhvr>
                                      <p:to>
                                        <p:strVal val="visible"/>
                                      </p:to>
                                    </p:set>
                                    <p:animEffect transition="in" filter="fade">
                                      <p:cBhvr>
                                        <p:cTn id="26" dur="2000"/>
                                        <p:tgtEl>
                                          <p:spTgt spid="122"/>
                                        </p:tgtEl>
                                      </p:cBhvr>
                                    </p:animEffect>
                                  </p:childTnLst>
                                </p:cTn>
                              </p:par>
                              <p:par>
                                <p:cTn id="27" presetID="10" presetClass="entr" presetSubtype="0" fill="hold" nodeType="withEffect">
                                  <p:stCondLst>
                                    <p:cond delay="0"/>
                                  </p:stCondLst>
                                  <p:childTnLst>
                                    <p:set>
                                      <p:cBhvr>
                                        <p:cTn id="28" dur="1" fill="hold">
                                          <p:stCondLst>
                                            <p:cond delay="0"/>
                                          </p:stCondLst>
                                        </p:cTn>
                                        <p:tgtEl>
                                          <p:spTgt spid="129"/>
                                        </p:tgtEl>
                                        <p:attrNameLst>
                                          <p:attrName>style.visibility</p:attrName>
                                        </p:attrNameLst>
                                      </p:cBhvr>
                                      <p:to>
                                        <p:strVal val="visible"/>
                                      </p:to>
                                    </p:set>
                                    <p:animEffect transition="in" filter="fade">
                                      <p:cBhvr>
                                        <p:cTn id="29" dur="2000"/>
                                        <p:tgtEl>
                                          <p:spTgt spid="129"/>
                                        </p:tgtEl>
                                      </p:cBhvr>
                                    </p:animEffect>
                                  </p:childTnLst>
                                </p:cTn>
                              </p:par>
                              <p:par>
                                <p:cTn id="30" presetID="10" presetClass="entr" presetSubtype="0" fill="hold" nodeType="withEffect">
                                  <p:stCondLst>
                                    <p:cond delay="0"/>
                                  </p:stCondLst>
                                  <p:childTnLst>
                                    <p:set>
                                      <p:cBhvr>
                                        <p:cTn id="31" dur="1" fill="hold">
                                          <p:stCondLst>
                                            <p:cond delay="0"/>
                                          </p:stCondLst>
                                        </p:cTn>
                                        <p:tgtEl>
                                          <p:spTgt spid="123"/>
                                        </p:tgtEl>
                                        <p:attrNameLst>
                                          <p:attrName>style.visibility</p:attrName>
                                        </p:attrNameLst>
                                      </p:cBhvr>
                                      <p:to>
                                        <p:strVal val="visible"/>
                                      </p:to>
                                    </p:set>
                                    <p:animEffect transition="in" filter="fade">
                                      <p:cBhvr>
                                        <p:cTn id="32" dur="2000"/>
                                        <p:tgtEl>
                                          <p:spTgt spid="123"/>
                                        </p:tgtEl>
                                      </p:cBhvr>
                                    </p:animEffect>
                                  </p:childTnLst>
                                </p:cTn>
                              </p:par>
                              <p:par>
                                <p:cTn id="33" presetID="10" presetClass="entr" presetSubtype="0" fill="hold" nodeType="withEffect">
                                  <p:stCondLst>
                                    <p:cond delay="0"/>
                                  </p:stCondLst>
                                  <p:childTnLst>
                                    <p:set>
                                      <p:cBhvr>
                                        <p:cTn id="34" dur="1" fill="hold">
                                          <p:stCondLst>
                                            <p:cond delay="0"/>
                                          </p:stCondLst>
                                        </p:cTn>
                                        <p:tgtEl>
                                          <p:spTgt spid="130"/>
                                        </p:tgtEl>
                                        <p:attrNameLst>
                                          <p:attrName>style.visibility</p:attrName>
                                        </p:attrNameLst>
                                      </p:cBhvr>
                                      <p:to>
                                        <p:strVal val="visible"/>
                                      </p:to>
                                    </p:set>
                                    <p:animEffect transition="in" filter="fade">
                                      <p:cBhvr>
                                        <p:cTn id="35" dur="2000"/>
                                        <p:tgtEl>
                                          <p:spTgt spid="130"/>
                                        </p:tgtEl>
                                      </p:cBhvr>
                                    </p:animEffect>
                                  </p:childTnLst>
                                </p:cTn>
                              </p:par>
                              <p:par>
                                <p:cTn id="36" presetID="10" presetClass="entr" presetSubtype="0" fill="hold" nodeType="withEffect">
                                  <p:stCondLst>
                                    <p:cond delay="0"/>
                                  </p:stCondLst>
                                  <p:childTnLst>
                                    <p:set>
                                      <p:cBhvr>
                                        <p:cTn id="37" dur="1" fill="hold">
                                          <p:stCondLst>
                                            <p:cond delay="0"/>
                                          </p:stCondLst>
                                        </p:cTn>
                                        <p:tgtEl>
                                          <p:spTgt spid="124"/>
                                        </p:tgtEl>
                                        <p:attrNameLst>
                                          <p:attrName>style.visibility</p:attrName>
                                        </p:attrNameLst>
                                      </p:cBhvr>
                                      <p:to>
                                        <p:strVal val="visible"/>
                                      </p:to>
                                    </p:set>
                                    <p:animEffect transition="in" filter="fade">
                                      <p:cBhvr>
                                        <p:cTn id="38" dur="2000"/>
                                        <p:tgtEl>
                                          <p:spTgt spid="124"/>
                                        </p:tgtEl>
                                      </p:cBhvr>
                                    </p:animEffect>
                                  </p:childTnLst>
                                </p:cTn>
                              </p:par>
                              <p:par>
                                <p:cTn id="39" presetID="10" presetClass="entr" presetSubtype="0" fill="hold" nodeType="withEffect">
                                  <p:stCondLst>
                                    <p:cond delay="0"/>
                                  </p:stCondLst>
                                  <p:childTnLst>
                                    <p:set>
                                      <p:cBhvr>
                                        <p:cTn id="40" dur="1" fill="hold">
                                          <p:stCondLst>
                                            <p:cond delay="0"/>
                                          </p:stCondLst>
                                        </p:cTn>
                                        <p:tgtEl>
                                          <p:spTgt spid="131"/>
                                        </p:tgtEl>
                                        <p:attrNameLst>
                                          <p:attrName>style.visibility</p:attrName>
                                        </p:attrNameLst>
                                      </p:cBhvr>
                                      <p:to>
                                        <p:strVal val="visible"/>
                                      </p:to>
                                    </p:set>
                                    <p:animEffect transition="in" filter="fade">
                                      <p:cBhvr>
                                        <p:cTn id="41" dur="2000"/>
                                        <p:tgtEl>
                                          <p:spTgt spid="131"/>
                                        </p:tgtEl>
                                      </p:cBhvr>
                                    </p:animEffect>
                                  </p:childTnLst>
                                </p:cTn>
                              </p:par>
                              <p:par>
                                <p:cTn id="42" presetID="10" presetClass="entr" presetSubtype="0" fill="hold" nodeType="withEffect">
                                  <p:stCondLst>
                                    <p:cond delay="0"/>
                                  </p:stCondLst>
                                  <p:childTnLst>
                                    <p:set>
                                      <p:cBhvr>
                                        <p:cTn id="43" dur="1" fill="hold">
                                          <p:stCondLst>
                                            <p:cond delay="0"/>
                                          </p:stCondLst>
                                        </p:cTn>
                                        <p:tgtEl>
                                          <p:spTgt spid="145"/>
                                        </p:tgtEl>
                                        <p:attrNameLst>
                                          <p:attrName>style.visibility</p:attrName>
                                        </p:attrNameLst>
                                      </p:cBhvr>
                                      <p:to>
                                        <p:strVal val="visible"/>
                                      </p:to>
                                    </p:set>
                                    <p:animEffect transition="in" filter="fade">
                                      <p:cBhvr>
                                        <p:cTn id="44" dur="500"/>
                                        <p:tgtEl>
                                          <p:spTgt spid="145"/>
                                        </p:tgtEl>
                                      </p:cBhvr>
                                    </p:animEffect>
                                  </p:childTnLst>
                                </p:cTn>
                              </p:par>
                              <p:par>
                                <p:cTn id="45" presetID="10" presetClass="entr" presetSubtype="0" fill="hold" nodeType="withEffect">
                                  <p:stCondLst>
                                    <p:cond delay="0"/>
                                  </p:stCondLst>
                                  <p:childTnLst>
                                    <p:set>
                                      <p:cBhvr>
                                        <p:cTn id="46" dur="1" fill="hold">
                                          <p:stCondLst>
                                            <p:cond delay="0"/>
                                          </p:stCondLst>
                                        </p:cTn>
                                        <p:tgtEl>
                                          <p:spTgt spid="125"/>
                                        </p:tgtEl>
                                        <p:attrNameLst>
                                          <p:attrName>style.visibility</p:attrName>
                                        </p:attrNameLst>
                                      </p:cBhvr>
                                      <p:to>
                                        <p:strVal val="visible"/>
                                      </p:to>
                                    </p:set>
                                    <p:animEffect transition="in" filter="fade">
                                      <p:cBhvr>
                                        <p:cTn id="47" dur="2000"/>
                                        <p:tgtEl>
                                          <p:spTgt spid="125"/>
                                        </p:tgtEl>
                                      </p:cBhvr>
                                    </p:animEffect>
                                  </p:childTnLst>
                                </p:cTn>
                              </p:par>
                              <p:par>
                                <p:cTn id="48" presetID="10" presetClass="entr" presetSubtype="0" fill="hold" nodeType="withEffect">
                                  <p:stCondLst>
                                    <p:cond delay="0"/>
                                  </p:stCondLst>
                                  <p:childTnLst>
                                    <p:set>
                                      <p:cBhvr>
                                        <p:cTn id="49" dur="1" fill="hold">
                                          <p:stCondLst>
                                            <p:cond delay="0"/>
                                          </p:stCondLst>
                                        </p:cTn>
                                        <p:tgtEl>
                                          <p:spTgt spid="132"/>
                                        </p:tgtEl>
                                        <p:attrNameLst>
                                          <p:attrName>style.visibility</p:attrName>
                                        </p:attrNameLst>
                                      </p:cBhvr>
                                      <p:to>
                                        <p:strVal val="visible"/>
                                      </p:to>
                                    </p:set>
                                    <p:animEffect transition="in" filter="fade">
                                      <p:cBhvr>
                                        <p:cTn id="50" dur="2000"/>
                                        <p:tgtEl>
                                          <p:spTgt spid="132"/>
                                        </p:tgtEl>
                                      </p:cBhvr>
                                    </p:animEffect>
                                  </p:childTnLst>
                                </p:cTn>
                              </p:par>
                              <p:par>
                                <p:cTn id="51" presetID="10" presetClass="entr" presetSubtype="0" fill="hold" nodeType="withEffect">
                                  <p:stCondLst>
                                    <p:cond delay="0"/>
                                  </p:stCondLst>
                                  <p:childTnLst>
                                    <p:set>
                                      <p:cBhvr>
                                        <p:cTn id="52" dur="1" fill="hold">
                                          <p:stCondLst>
                                            <p:cond delay="0"/>
                                          </p:stCondLst>
                                        </p:cTn>
                                        <p:tgtEl>
                                          <p:spTgt spid="126"/>
                                        </p:tgtEl>
                                        <p:attrNameLst>
                                          <p:attrName>style.visibility</p:attrName>
                                        </p:attrNameLst>
                                      </p:cBhvr>
                                      <p:to>
                                        <p:strVal val="visible"/>
                                      </p:to>
                                    </p:set>
                                    <p:animEffect transition="in" filter="fade">
                                      <p:cBhvr>
                                        <p:cTn id="53" dur="2000"/>
                                        <p:tgtEl>
                                          <p:spTgt spid="126"/>
                                        </p:tgtEl>
                                      </p:cBhvr>
                                    </p:animEffect>
                                  </p:childTnLst>
                                </p:cTn>
                              </p:par>
                              <p:par>
                                <p:cTn id="54" presetID="10" presetClass="entr" presetSubtype="0" fill="hold" nodeType="withEffect">
                                  <p:stCondLst>
                                    <p:cond delay="0"/>
                                  </p:stCondLst>
                                  <p:childTnLst>
                                    <p:set>
                                      <p:cBhvr>
                                        <p:cTn id="55" dur="1" fill="hold">
                                          <p:stCondLst>
                                            <p:cond delay="0"/>
                                          </p:stCondLst>
                                        </p:cTn>
                                        <p:tgtEl>
                                          <p:spTgt spid="133"/>
                                        </p:tgtEl>
                                        <p:attrNameLst>
                                          <p:attrName>style.visibility</p:attrName>
                                        </p:attrNameLst>
                                      </p:cBhvr>
                                      <p:to>
                                        <p:strVal val="visible"/>
                                      </p:to>
                                    </p:set>
                                    <p:animEffect transition="in" filter="fade">
                                      <p:cBhvr>
                                        <p:cTn id="56" dur="2000"/>
                                        <p:tgtEl>
                                          <p:spTgt spid="13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fade">
                                      <p:cBhvr>
                                        <p:cTn id="61" dur="2000"/>
                                        <p:tgtEl>
                                          <p:spTgt spid="139"/>
                                        </p:tgtEl>
                                      </p:cBhvr>
                                    </p:animEffect>
                                  </p:childTnLst>
                                </p:cTn>
                              </p:par>
                              <p:par>
                                <p:cTn id="62" presetID="10" presetClass="entr" presetSubtype="0" fill="hold" nodeType="withEffect">
                                  <p:stCondLst>
                                    <p:cond delay="0"/>
                                  </p:stCondLst>
                                  <p:childTnLst>
                                    <p:set>
                                      <p:cBhvr>
                                        <p:cTn id="63" dur="1" fill="hold">
                                          <p:stCondLst>
                                            <p:cond delay="0"/>
                                          </p:stCondLst>
                                        </p:cTn>
                                        <p:tgtEl>
                                          <p:spTgt spid="134"/>
                                        </p:tgtEl>
                                        <p:attrNameLst>
                                          <p:attrName>style.visibility</p:attrName>
                                        </p:attrNameLst>
                                      </p:cBhvr>
                                      <p:to>
                                        <p:strVal val="visible"/>
                                      </p:to>
                                    </p:set>
                                    <p:animEffect transition="in" filter="fade">
                                      <p:cBhvr>
                                        <p:cTn id="64" dur="2000"/>
                                        <p:tgtEl>
                                          <p:spTgt spid="134"/>
                                        </p:tgtEl>
                                      </p:cBhvr>
                                    </p:animEffect>
                                  </p:childTnLst>
                                </p:cTn>
                              </p:par>
                              <p:par>
                                <p:cTn id="65" presetID="10" presetClass="entr" presetSubtype="0" fill="hold" nodeType="withEffect">
                                  <p:stCondLst>
                                    <p:cond delay="0"/>
                                  </p:stCondLst>
                                  <p:childTnLst>
                                    <p:set>
                                      <p:cBhvr>
                                        <p:cTn id="66" dur="1" fill="hold">
                                          <p:stCondLst>
                                            <p:cond delay="0"/>
                                          </p:stCondLst>
                                        </p:cTn>
                                        <p:tgtEl>
                                          <p:spTgt spid="136"/>
                                        </p:tgtEl>
                                        <p:attrNameLst>
                                          <p:attrName>style.visibility</p:attrName>
                                        </p:attrNameLst>
                                      </p:cBhvr>
                                      <p:to>
                                        <p:strVal val="visible"/>
                                      </p:to>
                                    </p:set>
                                    <p:animEffect transition="in" filter="fade">
                                      <p:cBhvr>
                                        <p:cTn id="67" dur="2000"/>
                                        <p:tgtEl>
                                          <p:spTgt spid="13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38"/>
                                        </p:tgtEl>
                                        <p:attrNameLst>
                                          <p:attrName>style.visibility</p:attrName>
                                        </p:attrNameLst>
                                      </p:cBhvr>
                                      <p:to>
                                        <p:strVal val="visible"/>
                                      </p:to>
                                    </p:set>
                                    <p:animEffect transition="in" filter="fade">
                                      <p:cBhvr>
                                        <p:cTn id="72" dur="2000"/>
                                        <p:tgtEl>
                                          <p:spTgt spid="138"/>
                                        </p:tgtEl>
                                      </p:cBhvr>
                                    </p:animEffect>
                                  </p:childTnLst>
                                </p:cTn>
                              </p:par>
                              <p:par>
                                <p:cTn id="73" presetID="10" presetClass="entr" presetSubtype="0" fill="hold" nodeType="withEffect">
                                  <p:stCondLst>
                                    <p:cond delay="0"/>
                                  </p:stCondLst>
                                  <p:childTnLst>
                                    <p:set>
                                      <p:cBhvr>
                                        <p:cTn id="74" dur="1" fill="hold">
                                          <p:stCondLst>
                                            <p:cond delay="0"/>
                                          </p:stCondLst>
                                        </p:cTn>
                                        <p:tgtEl>
                                          <p:spTgt spid="135"/>
                                        </p:tgtEl>
                                        <p:attrNameLst>
                                          <p:attrName>style.visibility</p:attrName>
                                        </p:attrNameLst>
                                      </p:cBhvr>
                                      <p:to>
                                        <p:strVal val="visible"/>
                                      </p:to>
                                    </p:set>
                                    <p:animEffect transition="in" filter="fade">
                                      <p:cBhvr>
                                        <p:cTn id="75" dur="2000"/>
                                        <p:tgtEl>
                                          <p:spTgt spid="135"/>
                                        </p:tgtEl>
                                      </p:cBhvr>
                                    </p:animEffect>
                                  </p:childTnLst>
                                </p:cTn>
                              </p:par>
                              <p:par>
                                <p:cTn id="76" presetID="10" presetClass="entr" presetSubtype="0" fill="hold" nodeType="withEffect">
                                  <p:stCondLst>
                                    <p:cond delay="0"/>
                                  </p:stCondLst>
                                  <p:childTnLst>
                                    <p:set>
                                      <p:cBhvr>
                                        <p:cTn id="77" dur="1" fill="hold">
                                          <p:stCondLst>
                                            <p:cond delay="0"/>
                                          </p:stCondLst>
                                        </p:cTn>
                                        <p:tgtEl>
                                          <p:spTgt spid="137"/>
                                        </p:tgtEl>
                                        <p:attrNameLst>
                                          <p:attrName>style.visibility</p:attrName>
                                        </p:attrNameLst>
                                      </p:cBhvr>
                                      <p:to>
                                        <p:strVal val="visible"/>
                                      </p:to>
                                    </p:set>
                                    <p:animEffect transition="in" filter="fade">
                                      <p:cBhvr>
                                        <p:cTn id="78" dur="2000"/>
                                        <p:tgtEl>
                                          <p:spTgt spid="137"/>
                                        </p:tgtEl>
                                      </p:cBhvr>
                                    </p:animEffect>
                                  </p:childTnLst>
                                </p:cTn>
                              </p:par>
                              <p:par>
                                <p:cTn id="79" presetID="10" presetClass="entr" presetSubtype="0" fill="hold" nodeType="withEffect">
                                  <p:stCondLst>
                                    <p:cond delay="0"/>
                                  </p:stCondLst>
                                  <p:childTnLst>
                                    <p:set>
                                      <p:cBhvr>
                                        <p:cTn id="80" dur="1" fill="hold">
                                          <p:stCondLst>
                                            <p:cond delay="0"/>
                                          </p:stCondLst>
                                        </p:cTn>
                                        <p:tgtEl>
                                          <p:spTgt spid="140"/>
                                        </p:tgtEl>
                                        <p:attrNameLst>
                                          <p:attrName>style.visibility</p:attrName>
                                        </p:attrNameLst>
                                      </p:cBhvr>
                                      <p:to>
                                        <p:strVal val="visible"/>
                                      </p:to>
                                    </p:set>
                                    <p:animEffect transition="in" filter="fade">
                                      <p:cBhvr>
                                        <p:cTn id="81" dur="2000"/>
                                        <p:tgtEl>
                                          <p:spTgt spid="140"/>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xit" presetSubtype="4" fill="hold" nodeType="clickEffect">
                                  <p:stCondLst>
                                    <p:cond delay="0"/>
                                  </p:stCondLst>
                                  <p:childTnLst>
                                    <p:anim calcmode="lin" valueType="num">
                                      <p:cBhvr additive="base">
                                        <p:cTn id="85" dur="500"/>
                                        <p:tgtEl>
                                          <p:spTgt spid="126"/>
                                        </p:tgtEl>
                                        <p:attrNameLst>
                                          <p:attrName>ppt_y</p:attrName>
                                        </p:attrNameLst>
                                      </p:cBhvr>
                                      <p:tavLst>
                                        <p:tav tm="0" fmla="">
                                          <p:val>
                                            <p:strVal val="#ppt_y"/>
                                          </p:val>
                                        </p:tav>
                                        <p:tav tm="100000" fmla="">
                                          <p:val>
                                            <p:strVal val="#ppt_y+1"/>
                                          </p:val>
                                        </p:tav>
                                      </p:tavLst>
                                    </p:anim>
                                    <p:set>
                                      <p:cBhvr>
                                        <p:cTn id="86" dur="1" fill="hold">
                                          <p:stCondLst>
                                            <p:cond delay="500"/>
                                          </p:stCondLst>
                                        </p:cTn>
                                        <p:tgtEl>
                                          <p:spTgt spid="126"/>
                                        </p:tgtEl>
                                        <p:attrNameLst>
                                          <p:attrName>style.visibility</p:attrName>
                                        </p:attrNameLst>
                                      </p:cBhvr>
                                      <p:to>
                                        <p:strVal val="hidden"/>
                                      </p:to>
                                    </p:set>
                                  </p:childTnLst>
                                </p:cTn>
                              </p:par>
                              <p:par>
                                <p:cTn id="87" presetID="2" presetClass="exit" presetSubtype="4" fill="hold" nodeType="withEffect">
                                  <p:stCondLst>
                                    <p:cond delay="0"/>
                                  </p:stCondLst>
                                  <p:childTnLst>
                                    <p:anim calcmode="lin" valueType="num">
                                      <p:cBhvr additive="base">
                                        <p:cTn id="88" dur="500"/>
                                        <p:tgtEl>
                                          <p:spTgt spid="125"/>
                                        </p:tgtEl>
                                        <p:attrNameLst>
                                          <p:attrName>ppt_y</p:attrName>
                                        </p:attrNameLst>
                                      </p:cBhvr>
                                      <p:tavLst>
                                        <p:tav tm="0" fmla="">
                                          <p:val>
                                            <p:strVal val="#ppt_y"/>
                                          </p:val>
                                        </p:tav>
                                        <p:tav tm="100000" fmla="">
                                          <p:val>
                                            <p:strVal val="#ppt_y+1"/>
                                          </p:val>
                                        </p:tav>
                                      </p:tavLst>
                                    </p:anim>
                                    <p:set>
                                      <p:cBhvr>
                                        <p:cTn id="89" dur="1" fill="hold">
                                          <p:stCondLst>
                                            <p:cond delay="500"/>
                                          </p:stCondLst>
                                        </p:cTn>
                                        <p:tgtEl>
                                          <p:spTgt spid="125"/>
                                        </p:tgtEl>
                                        <p:attrNameLst>
                                          <p:attrName>style.visibility</p:attrName>
                                        </p:attrNameLst>
                                      </p:cBhvr>
                                      <p:to>
                                        <p:strVal val="hidden"/>
                                      </p:to>
                                    </p:set>
                                  </p:childTnLst>
                                </p:cTn>
                              </p:par>
                              <p:par>
                                <p:cTn id="90" presetID="2" presetClass="exit" presetSubtype="4" fill="hold" nodeType="withEffect">
                                  <p:stCondLst>
                                    <p:cond delay="0"/>
                                  </p:stCondLst>
                                  <p:childTnLst>
                                    <p:anim calcmode="lin" valueType="num">
                                      <p:cBhvr additive="base">
                                        <p:cTn id="91" dur="500"/>
                                        <p:tgtEl>
                                          <p:spTgt spid="124"/>
                                        </p:tgtEl>
                                        <p:attrNameLst>
                                          <p:attrName>ppt_y</p:attrName>
                                        </p:attrNameLst>
                                      </p:cBhvr>
                                      <p:tavLst>
                                        <p:tav tm="0" fmla="">
                                          <p:val>
                                            <p:strVal val="#ppt_y"/>
                                          </p:val>
                                        </p:tav>
                                        <p:tav tm="100000" fmla="">
                                          <p:val>
                                            <p:strVal val="#ppt_y+1"/>
                                          </p:val>
                                        </p:tav>
                                      </p:tavLst>
                                    </p:anim>
                                    <p:set>
                                      <p:cBhvr>
                                        <p:cTn id="92" dur="1" fill="hold">
                                          <p:stCondLst>
                                            <p:cond delay="500"/>
                                          </p:stCondLst>
                                        </p:cTn>
                                        <p:tgtEl>
                                          <p:spTgt spid="124"/>
                                        </p:tgtEl>
                                        <p:attrNameLst>
                                          <p:attrName>style.visibility</p:attrName>
                                        </p:attrNameLst>
                                      </p:cBhvr>
                                      <p:to>
                                        <p:strVal val="hidden"/>
                                      </p:to>
                                    </p:set>
                                  </p:childTnLst>
                                </p:cTn>
                              </p:par>
                              <p:par>
                                <p:cTn id="93" presetID="2" presetClass="exit" presetSubtype="4" fill="hold" nodeType="withEffect">
                                  <p:stCondLst>
                                    <p:cond delay="0"/>
                                  </p:stCondLst>
                                  <p:childTnLst>
                                    <p:anim calcmode="lin" valueType="num">
                                      <p:cBhvr additive="base">
                                        <p:cTn id="94" dur="500"/>
                                        <p:tgtEl>
                                          <p:spTgt spid="123"/>
                                        </p:tgtEl>
                                        <p:attrNameLst>
                                          <p:attrName>ppt_y</p:attrName>
                                        </p:attrNameLst>
                                      </p:cBhvr>
                                      <p:tavLst>
                                        <p:tav tm="0" fmla="">
                                          <p:val>
                                            <p:strVal val="#ppt_y"/>
                                          </p:val>
                                        </p:tav>
                                        <p:tav tm="100000" fmla="">
                                          <p:val>
                                            <p:strVal val="#ppt_y+1"/>
                                          </p:val>
                                        </p:tav>
                                      </p:tavLst>
                                    </p:anim>
                                    <p:set>
                                      <p:cBhvr>
                                        <p:cTn id="95" dur="1" fill="hold">
                                          <p:stCondLst>
                                            <p:cond delay="500"/>
                                          </p:stCondLst>
                                        </p:cTn>
                                        <p:tgtEl>
                                          <p:spTgt spid="123"/>
                                        </p:tgtEl>
                                        <p:attrNameLst>
                                          <p:attrName>style.visibility</p:attrName>
                                        </p:attrNameLst>
                                      </p:cBhvr>
                                      <p:to>
                                        <p:strVal val="hidden"/>
                                      </p:to>
                                    </p:set>
                                  </p:childTnLst>
                                </p:cTn>
                              </p:par>
                              <p:par>
                                <p:cTn id="96" presetID="2" presetClass="exit" presetSubtype="4" fill="hold" nodeType="withEffect">
                                  <p:stCondLst>
                                    <p:cond delay="0"/>
                                  </p:stCondLst>
                                  <p:childTnLst>
                                    <p:anim calcmode="lin" valueType="num">
                                      <p:cBhvr additive="base">
                                        <p:cTn id="97" dur="500"/>
                                        <p:tgtEl>
                                          <p:spTgt spid="121"/>
                                        </p:tgtEl>
                                        <p:attrNameLst>
                                          <p:attrName>ppt_y</p:attrName>
                                        </p:attrNameLst>
                                      </p:cBhvr>
                                      <p:tavLst>
                                        <p:tav tm="0" fmla="">
                                          <p:val>
                                            <p:strVal val="#ppt_y"/>
                                          </p:val>
                                        </p:tav>
                                        <p:tav tm="100000" fmla="">
                                          <p:val>
                                            <p:strVal val="#ppt_y+1"/>
                                          </p:val>
                                        </p:tav>
                                      </p:tavLst>
                                    </p:anim>
                                    <p:set>
                                      <p:cBhvr>
                                        <p:cTn id="98" dur="1" fill="hold">
                                          <p:stCondLst>
                                            <p:cond delay="500"/>
                                          </p:stCondLst>
                                        </p:cTn>
                                        <p:tgtEl>
                                          <p:spTgt spid="121"/>
                                        </p:tgtEl>
                                        <p:attrNameLst>
                                          <p:attrName>style.visibility</p:attrName>
                                        </p:attrNameLst>
                                      </p:cBhvr>
                                      <p:to>
                                        <p:strVal val="hidden"/>
                                      </p:to>
                                    </p:set>
                                  </p:childTnLst>
                                </p:cTn>
                              </p:par>
                              <p:par>
                                <p:cTn id="99" presetID="2" presetClass="exit" presetSubtype="4" fill="hold" nodeType="withEffect">
                                  <p:stCondLst>
                                    <p:cond delay="0"/>
                                  </p:stCondLst>
                                  <p:childTnLst>
                                    <p:anim calcmode="lin" valueType="num">
                                      <p:cBhvr additive="base">
                                        <p:cTn id="100" dur="500"/>
                                        <p:tgtEl>
                                          <p:spTgt spid="132"/>
                                        </p:tgtEl>
                                        <p:attrNameLst>
                                          <p:attrName>ppt_y</p:attrName>
                                        </p:attrNameLst>
                                      </p:cBhvr>
                                      <p:tavLst>
                                        <p:tav tm="0" fmla="">
                                          <p:val>
                                            <p:strVal val="#ppt_y"/>
                                          </p:val>
                                        </p:tav>
                                        <p:tav tm="100000" fmla="">
                                          <p:val>
                                            <p:strVal val="#ppt_y+1"/>
                                          </p:val>
                                        </p:tav>
                                      </p:tavLst>
                                    </p:anim>
                                    <p:set>
                                      <p:cBhvr>
                                        <p:cTn id="101" dur="1" fill="hold">
                                          <p:stCondLst>
                                            <p:cond delay="500"/>
                                          </p:stCondLst>
                                        </p:cTn>
                                        <p:tgtEl>
                                          <p:spTgt spid="132"/>
                                        </p:tgtEl>
                                        <p:attrNameLst>
                                          <p:attrName>style.visibility</p:attrName>
                                        </p:attrNameLst>
                                      </p:cBhvr>
                                      <p:to>
                                        <p:strVal val="hidden"/>
                                      </p:to>
                                    </p:set>
                                  </p:childTnLst>
                                </p:cTn>
                              </p:par>
                              <p:par>
                                <p:cTn id="102" presetID="2" presetClass="exit" presetSubtype="4" fill="hold" nodeType="withEffect">
                                  <p:stCondLst>
                                    <p:cond delay="0"/>
                                  </p:stCondLst>
                                  <p:childTnLst>
                                    <p:anim calcmode="lin" valueType="num">
                                      <p:cBhvr additive="base">
                                        <p:cTn id="103" dur="500"/>
                                        <p:tgtEl>
                                          <p:spTgt spid="130"/>
                                        </p:tgtEl>
                                        <p:attrNameLst>
                                          <p:attrName>ppt_y</p:attrName>
                                        </p:attrNameLst>
                                      </p:cBhvr>
                                      <p:tavLst>
                                        <p:tav tm="0" fmla="">
                                          <p:val>
                                            <p:strVal val="#ppt_y"/>
                                          </p:val>
                                        </p:tav>
                                        <p:tav tm="100000" fmla="">
                                          <p:val>
                                            <p:strVal val="#ppt_y+1"/>
                                          </p:val>
                                        </p:tav>
                                      </p:tavLst>
                                    </p:anim>
                                    <p:set>
                                      <p:cBhvr>
                                        <p:cTn id="104" dur="1" fill="hold">
                                          <p:stCondLst>
                                            <p:cond delay="500"/>
                                          </p:stCondLst>
                                        </p:cTn>
                                        <p:tgtEl>
                                          <p:spTgt spid="130"/>
                                        </p:tgtEl>
                                        <p:attrNameLst>
                                          <p:attrName>style.visibility</p:attrName>
                                        </p:attrNameLst>
                                      </p:cBhvr>
                                      <p:to>
                                        <p:strVal val="hidden"/>
                                      </p:to>
                                    </p:set>
                                  </p:childTnLst>
                                </p:cTn>
                              </p:par>
                              <p:par>
                                <p:cTn id="105" presetID="2" presetClass="exit" presetSubtype="4" fill="hold" nodeType="withEffect">
                                  <p:stCondLst>
                                    <p:cond delay="0"/>
                                  </p:stCondLst>
                                  <p:childTnLst>
                                    <p:anim calcmode="lin" valueType="num">
                                      <p:cBhvr additive="base">
                                        <p:cTn id="106" dur="500"/>
                                        <p:tgtEl>
                                          <p:spTgt spid="128"/>
                                        </p:tgtEl>
                                        <p:attrNameLst>
                                          <p:attrName>ppt_y</p:attrName>
                                        </p:attrNameLst>
                                      </p:cBhvr>
                                      <p:tavLst>
                                        <p:tav tm="0" fmla="">
                                          <p:val>
                                            <p:strVal val="#ppt_y"/>
                                          </p:val>
                                        </p:tav>
                                        <p:tav tm="100000" fmla="">
                                          <p:val>
                                            <p:strVal val="#ppt_y+1"/>
                                          </p:val>
                                        </p:tav>
                                      </p:tavLst>
                                    </p:anim>
                                    <p:set>
                                      <p:cBhvr>
                                        <p:cTn id="107" dur="1" fill="hold">
                                          <p:stCondLst>
                                            <p:cond delay="500"/>
                                          </p:stCondLst>
                                        </p:cTn>
                                        <p:tgtEl>
                                          <p:spTgt spid="128"/>
                                        </p:tgtEl>
                                        <p:attrNameLst>
                                          <p:attrName>style.visibility</p:attrName>
                                        </p:attrNameLst>
                                      </p:cBhvr>
                                      <p:to>
                                        <p:strVal val="hidden"/>
                                      </p:to>
                                    </p:set>
                                  </p:childTnLst>
                                </p:cTn>
                              </p:par>
                              <p:par>
                                <p:cTn id="108" presetID="2" presetClass="exit" presetSubtype="4" fill="hold" nodeType="withEffect">
                                  <p:stCondLst>
                                    <p:cond delay="0"/>
                                  </p:stCondLst>
                                  <p:childTnLst>
                                    <p:anim calcmode="lin" valueType="num">
                                      <p:cBhvr additive="base">
                                        <p:cTn id="109" dur="500"/>
                                        <p:tgtEl>
                                          <p:spTgt spid="129"/>
                                        </p:tgtEl>
                                        <p:attrNameLst>
                                          <p:attrName>ppt_y</p:attrName>
                                        </p:attrNameLst>
                                      </p:cBhvr>
                                      <p:tavLst>
                                        <p:tav tm="0" fmla="">
                                          <p:val>
                                            <p:strVal val="#ppt_y"/>
                                          </p:val>
                                        </p:tav>
                                        <p:tav tm="100000" fmla="">
                                          <p:val>
                                            <p:strVal val="#ppt_y+1"/>
                                          </p:val>
                                        </p:tav>
                                      </p:tavLst>
                                    </p:anim>
                                    <p:set>
                                      <p:cBhvr>
                                        <p:cTn id="110" dur="1" fill="hold">
                                          <p:stCondLst>
                                            <p:cond delay="500"/>
                                          </p:stCondLst>
                                        </p:cTn>
                                        <p:tgtEl>
                                          <p:spTgt spid="129"/>
                                        </p:tgtEl>
                                        <p:attrNameLst>
                                          <p:attrName>style.visibility</p:attrName>
                                        </p:attrNameLst>
                                      </p:cBhvr>
                                      <p:to>
                                        <p:strVal val="hidden"/>
                                      </p:to>
                                    </p:set>
                                  </p:childTnLst>
                                </p:cTn>
                              </p:par>
                              <p:par>
                                <p:cTn id="111" presetID="2" presetClass="exit" presetSubtype="4" fill="hold" nodeType="withEffect">
                                  <p:stCondLst>
                                    <p:cond delay="0"/>
                                  </p:stCondLst>
                                  <p:childTnLst>
                                    <p:anim calcmode="lin" valueType="num">
                                      <p:cBhvr additive="base">
                                        <p:cTn id="112" dur="500"/>
                                        <p:tgtEl>
                                          <p:spTgt spid="131"/>
                                        </p:tgtEl>
                                        <p:attrNameLst>
                                          <p:attrName>ppt_y</p:attrName>
                                        </p:attrNameLst>
                                      </p:cBhvr>
                                      <p:tavLst>
                                        <p:tav tm="0" fmla="">
                                          <p:val>
                                            <p:strVal val="#ppt_y"/>
                                          </p:val>
                                        </p:tav>
                                        <p:tav tm="100000" fmla="">
                                          <p:val>
                                            <p:strVal val="#ppt_y+1"/>
                                          </p:val>
                                        </p:tav>
                                      </p:tavLst>
                                    </p:anim>
                                    <p:set>
                                      <p:cBhvr>
                                        <p:cTn id="113" dur="1" fill="hold">
                                          <p:stCondLst>
                                            <p:cond delay="500"/>
                                          </p:stCondLst>
                                        </p:cTn>
                                        <p:tgtEl>
                                          <p:spTgt spid="131"/>
                                        </p:tgtEl>
                                        <p:attrNameLst>
                                          <p:attrName>style.visibility</p:attrName>
                                        </p:attrNameLst>
                                      </p:cBhvr>
                                      <p:to>
                                        <p:strVal val="hidden"/>
                                      </p:to>
                                    </p:set>
                                  </p:childTnLst>
                                </p:cTn>
                              </p:par>
                              <p:par>
                                <p:cTn id="114" presetID="2" presetClass="exit" presetSubtype="4" fill="hold" nodeType="withEffect">
                                  <p:stCondLst>
                                    <p:cond delay="0"/>
                                  </p:stCondLst>
                                  <p:childTnLst>
                                    <p:anim calcmode="lin" valueType="num">
                                      <p:cBhvr additive="base">
                                        <p:cTn id="115" dur="500"/>
                                        <p:tgtEl>
                                          <p:spTgt spid="133"/>
                                        </p:tgtEl>
                                        <p:attrNameLst>
                                          <p:attrName>ppt_y</p:attrName>
                                        </p:attrNameLst>
                                      </p:cBhvr>
                                      <p:tavLst>
                                        <p:tav tm="0" fmla="">
                                          <p:val>
                                            <p:strVal val="#ppt_y"/>
                                          </p:val>
                                        </p:tav>
                                        <p:tav tm="100000" fmla="">
                                          <p:val>
                                            <p:strVal val="#ppt_y+1"/>
                                          </p:val>
                                        </p:tav>
                                      </p:tavLst>
                                    </p:anim>
                                    <p:set>
                                      <p:cBhvr>
                                        <p:cTn id="116" dur="1" fill="hold">
                                          <p:stCondLst>
                                            <p:cond delay="500"/>
                                          </p:stCondLst>
                                        </p:cTn>
                                        <p:tgtEl>
                                          <p:spTgt spid="133"/>
                                        </p:tgtEl>
                                        <p:attrNameLst>
                                          <p:attrName>style.visibility</p:attrName>
                                        </p:attrNameLst>
                                      </p:cBhvr>
                                      <p:to>
                                        <p:strVal val="hidden"/>
                                      </p:to>
                                    </p:set>
                                  </p:childTnLst>
                                </p:cTn>
                              </p:par>
                              <p:par>
                                <p:cTn id="117" presetID="2" presetClass="exit" presetSubtype="4" fill="hold" nodeType="withEffect">
                                  <p:stCondLst>
                                    <p:cond delay="0"/>
                                  </p:stCondLst>
                                  <p:childTnLst>
                                    <p:anim calcmode="lin" valueType="num">
                                      <p:cBhvr additive="base">
                                        <p:cTn id="118" dur="500"/>
                                        <p:tgtEl>
                                          <p:spTgt spid="122"/>
                                        </p:tgtEl>
                                        <p:attrNameLst>
                                          <p:attrName>ppt_y</p:attrName>
                                        </p:attrNameLst>
                                      </p:cBhvr>
                                      <p:tavLst>
                                        <p:tav tm="0" fmla="">
                                          <p:val>
                                            <p:strVal val="#ppt_y"/>
                                          </p:val>
                                        </p:tav>
                                        <p:tav tm="100000" fmla="">
                                          <p:val>
                                            <p:strVal val="#ppt_y+1"/>
                                          </p:val>
                                        </p:tav>
                                      </p:tavLst>
                                    </p:anim>
                                    <p:set>
                                      <p:cBhvr>
                                        <p:cTn id="119" dur="1" fill="hold">
                                          <p:stCondLst>
                                            <p:cond delay="500"/>
                                          </p:stCondLst>
                                        </p:cTn>
                                        <p:tgtEl>
                                          <p:spTgt spid="122"/>
                                        </p:tgtEl>
                                        <p:attrNameLst>
                                          <p:attrName>style.visibility</p:attrName>
                                        </p:attrNameLst>
                                      </p:cBhvr>
                                      <p:to>
                                        <p:strVal val="hidden"/>
                                      </p:to>
                                    </p:set>
                                  </p:childTnLst>
                                </p:cTn>
                              </p:par>
                              <p:par>
                                <p:cTn id="120" presetID="10" presetClass="entr" presetSubtype="0" fill="hold" nodeType="withEffect">
                                  <p:stCondLst>
                                    <p:cond delay="0"/>
                                  </p:stCondLst>
                                  <p:childTnLst>
                                    <p:set>
                                      <p:cBhvr>
                                        <p:cTn id="121" dur="1" fill="hold">
                                          <p:stCondLst>
                                            <p:cond delay="0"/>
                                          </p:stCondLst>
                                        </p:cTn>
                                        <p:tgtEl>
                                          <p:spTgt spid="143"/>
                                        </p:tgtEl>
                                        <p:attrNameLst>
                                          <p:attrName>style.visibility</p:attrName>
                                        </p:attrNameLst>
                                      </p:cBhvr>
                                      <p:to>
                                        <p:strVal val="visible"/>
                                      </p:to>
                                    </p:set>
                                    <p:animEffect transition="in" filter="fade">
                                      <p:cBhvr>
                                        <p:cTn id="122" dur="500"/>
                                        <p:tgtEl>
                                          <p:spTgt spid="143"/>
                                        </p:tgtEl>
                                      </p:cBhvr>
                                    </p:animEffect>
                                  </p:childTnLst>
                                </p:cTn>
                              </p:par>
                              <p:par>
                                <p:cTn id="123" presetID="10" presetClass="entr" presetSubtype="0" fill="hold" nodeType="withEffect">
                                  <p:stCondLst>
                                    <p:cond delay="0"/>
                                  </p:stCondLst>
                                  <p:childTnLst>
                                    <p:set>
                                      <p:cBhvr>
                                        <p:cTn id="124" dur="1" fill="hold">
                                          <p:stCondLst>
                                            <p:cond delay="0"/>
                                          </p:stCondLst>
                                        </p:cTn>
                                        <p:tgtEl>
                                          <p:spTgt spid="144"/>
                                        </p:tgtEl>
                                        <p:attrNameLst>
                                          <p:attrName>style.visibility</p:attrName>
                                        </p:attrNameLst>
                                      </p:cBhvr>
                                      <p:to>
                                        <p:strVal val="visible"/>
                                      </p:to>
                                    </p:set>
                                    <p:animEffect transition="in" filter="fade">
                                      <p:cBhvr>
                                        <p:cTn id="125" dur="500"/>
                                        <p:tgtEl>
                                          <p:spTgt spid="144"/>
                                        </p:tgtEl>
                                      </p:cBhvr>
                                    </p:animEffect>
                                  </p:childTnLst>
                                </p:cTn>
                              </p:par>
                              <p:par>
                                <p:cTn id="126" presetID="10" presetClass="entr" presetSubtype="0" fill="hold" nodeType="withEffect">
                                  <p:stCondLst>
                                    <p:cond delay="0"/>
                                  </p:stCondLst>
                                  <p:childTnLst>
                                    <p:set>
                                      <p:cBhvr>
                                        <p:cTn id="127" dur="1" fill="hold">
                                          <p:stCondLst>
                                            <p:cond delay="0"/>
                                          </p:stCondLst>
                                        </p:cTn>
                                        <p:tgtEl>
                                          <p:spTgt spid="146"/>
                                        </p:tgtEl>
                                        <p:attrNameLst>
                                          <p:attrName>style.visibility</p:attrName>
                                        </p:attrNameLst>
                                      </p:cBhvr>
                                      <p:to>
                                        <p:strVal val="visible"/>
                                      </p:to>
                                    </p:set>
                                    <p:animEffect transition="in" filter="fade">
                                      <p:cBhvr>
                                        <p:cTn id="128" dur="5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grpSp>
        <p:nvGrpSpPr>
          <p:cNvPr id="157" name="Google Shape;157;p17"/>
          <p:cNvGrpSpPr/>
          <p:nvPr/>
        </p:nvGrpSpPr>
        <p:grpSpPr>
          <a:xfrm>
            <a:off x="-76200" y="65599"/>
            <a:ext cx="8603570" cy="541686"/>
            <a:chOff x="74035" y="2231322"/>
            <a:chExt cx="8550262" cy="756153"/>
          </a:xfrm>
        </p:grpSpPr>
        <p:grpSp>
          <p:nvGrpSpPr>
            <p:cNvPr id="158" name="Google Shape;158;p17"/>
            <p:cNvGrpSpPr/>
            <p:nvPr/>
          </p:nvGrpSpPr>
          <p:grpSpPr>
            <a:xfrm>
              <a:off x="330533" y="2267004"/>
              <a:ext cx="8293764" cy="708275"/>
              <a:chOff x="587624" y="3377549"/>
              <a:chExt cx="4270901" cy="1364238"/>
            </a:xfrm>
          </p:grpSpPr>
          <p:pic>
            <p:nvPicPr>
              <p:cNvPr id="159" name="Google Shape;159;p17" descr="empty-green-rectangle"/>
              <p:cNvPicPr preferRelativeResize="0"/>
              <p:nvPr/>
            </p:nvPicPr>
            <p:blipFill rotWithShape="1">
              <a:blip r:embed="rId1"/>
              <a:srcRect/>
              <a:stretch>
                <a:fillRect/>
              </a:stretch>
            </p:blipFill>
            <p:spPr>
              <a:xfrm>
                <a:off x="587624" y="3377549"/>
                <a:ext cx="4270901" cy="1364238"/>
              </a:xfrm>
              <a:prstGeom prst="rect">
                <a:avLst/>
              </a:prstGeom>
              <a:noFill/>
              <a:ln>
                <a:noFill/>
              </a:ln>
            </p:spPr>
          </p:pic>
          <p:pic>
            <p:nvPicPr>
              <p:cNvPr id="160" name="Google Shape;160;p17"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161" name="Google Shape;161;p17"/>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I</a:t>
              </a:r>
              <a:endParaRPr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162" name="Google Shape;162;p17"/>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en-US" sz="2800" i="1">
                  <a:solidFill>
                    <a:schemeClr val="dk1"/>
                  </a:solidFill>
                  <a:latin typeface="Arial" panose="020B0704020202020204"/>
                  <a:ea typeface="Arial" panose="020B0704020202020204"/>
                  <a:cs typeface="Arial" panose="020B0704020202020204"/>
                  <a:sym typeface="Arial" panose="020B0704020202020204"/>
                </a:rPr>
                <a:t>Hiện tượng giao thoa của hai song mặt nước</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63" name="Google Shape;163;p17"/>
          <p:cNvSpPr txBox="1"/>
          <p:nvPr/>
        </p:nvSpPr>
        <p:spPr>
          <a:xfrm>
            <a:off x="685800" y="762000"/>
            <a:ext cx="403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2. Giải thích</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4" name="Google Shape;164;p17"/>
          <p:cNvSpPr txBox="1"/>
          <p:nvPr/>
        </p:nvSpPr>
        <p:spPr>
          <a:xfrm>
            <a:off x="914400" y="2286000"/>
            <a:ext cx="9753600" cy="138499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Times New Roman" panose="02020603050405020304"/>
                <a:ea typeface="Times New Roman" panose="02020603050405020304"/>
                <a:cs typeface="Times New Roman" panose="02020603050405020304"/>
                <a:sym typeface="Times New Roman" panose="02020603050405020304"/>
              </a:rPr>
              <a:t>- Hiện tượng hai sóng gặp nhau tạo nên các gợn sóng ổn định gọi là hiện tượng giao thoa ánh sáng. Các gợi sóng ổn định gọi là vân giao thoa.</a:t>
            </a:r>
            <a:endParaRPr lang="en-US" sz="2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fade">
                                      <p:cBhvr>
                                        <p:cTn id="7" dur="500"/>
                                        <p:tgtEl>
                                          <p:spTgt spid="1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fade">
                                      <p:cBhvr>
                                        <p:cTn id="12" dur="5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grpSp>
        <p:nvGrpSpPr>
          <p:cNvPr id="169" name="Google Shape;169;p18"/>
          <p:cNvGrpSpPr/>
          <p:nvPr/>
        </p:nvGrpSpPr>
        <p:grpSpPr>
          <a:xfrm>
            <a:off x="-76200" y="65599"/>
            <a:ext cx="8603570" cy="541686"/>
            <a:chOff x="74035" y="2231322"/>
            <a:chExt cx="8550262" cy="756153"/>
          </a:xfrm>
        </p:grpSpPr>
        <p:grpSp>
          <p:nvGrpSpPr>
            <p:cNvPr id="170" name="Google Shape;170;p18"/>
            <p:cNvGrpSpPr/>
            <p:nvPr/>
          </p:nvGrpSpPr>
          <p:grpSpPr>
            <a:xfrm>
              <a:off x="330533" y="2267004"/>
              <a:ext cx="8293764" cy="708275"/>
              <a:chOff x="587624" y="3377549"/>
              <a:chExt cx="4270901" cy="1364238"/>
            </a:xfrm>
          </p:grpSpPr>
          <p:pic>
            <p:nvPicPr>
              <p:cNvPr id="171" name="Google Shape;171;p18" descr="empty-green-rectangle"/>
              <p:cNvPicPr preferRelativeResize="0"/>
              <p:nvPr/>
            </p:nvPicPr>
            <p:blipFill rotWithShape="1">
              <a:blip r:embed="rId1"/>
              <a:srcRect/>
              <a:stretch>
                <a:fillRect/>
              </a:stretch>
            </p:blipFill>
            <p:spPr>
              <a:xfrm>
                <a:off x="587624" y="3377549"/>
                <a:ext cx="4270901" cy="1364238"/>
              </a:xfrm>
              <a:prstGeom prst="rect">
                <a:avLst/>
              </a:prstGeom>
              <a:noFill/>
              <a:ln>
                <a:noFill/>
              </a:ln>
            </p:spPr>
          </p:pic>
          <p:pic>
            <p:nvPicPr>
              <p:cNvPr id="172" name="Google Shape;172;p18"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173" name="Google Shape;173;p18"/>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I</a:t>
              </a:r>
              <a:endParaRPr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174" name="Google Shape;174;p18"/>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en-US" sz="2800" i="1">
                  <a:solidFill>
                    <a:schemeClr val="dk1"/>
                  </a:solidFill>
                  <a:latin typeface="Arial" panose="020B0704020202020204"/>
                  <a:ea typeface="Arial" panose="020B0704020202020204"/>
                  <a:cs typeface="Arial" panose="020B0704020202020204"/>
                  <a:sym typeface="Arial" panose="020B0704020202020204"/>
                </a:rPr>
                <a:t>Hiện tượng giao thoa của hai song mặt nước</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75" name="Google Shape;175;p18"/>
          <p:cNvSpPr txBox="1"/>
          <p:nvPr/>
        </p:nvSpPr>
        <p:spPr>
          <a:xfrm>
            <a:off x="685800" y="762000"/>
            <a:ext cx="56388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3. Điều kiện để xảy ra giao thoa</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 name="Google Shape;176;p18"/>
          <p:cNvSpPr txBox="1"/>
          <p:nvPr/>
        </p:nvSpPr>
        <p:spPr>
          <a:xfrm>
            <a:off x="914400" y="2286000"/>
            <a:ext cx="883920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Dao động cùng phương, cùng tần số.</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Có độ lệch pha không đổi theo thời gian.</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Hai nguồn như vậy gọi là hai nguồn kết hợp. Hai sóng do hai nguồn kết hợp tạo ra gọi là hai sóng kết hợp.</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Hiện tượng giao thoa là hiện tượng đặc trưng của sóng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500"/>
                                        <p:tgtEl>
                                          <p:spTgt spid="1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fade">
                                      <p:cBhvr>
                                        <p:cTn id="12" dur="5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80" name="Shape 180"/>
        <p:cNvGrpSpPr/>
        <p:nvPr/>
      </p:nvGrpSpPr>
      <p:grpSpPr>
        <a:xfrm>
          <a:off x="0" y="0"/>
          <a:ext cx="0" cy="0"/>
          <a:chOff x="0" y="0"/>
          <a:chExt cx="0" cy="0"/>
        </a:xfrm>
      </p:grpSpPr>
      <p:grpSp>
        <p:nvGrpSpPr>
          <p:cNvPr id="181" name="Google Shape;181;p19"/>
          <p:cNvGrpSpPr/>
          <p:nvPr/>
        </p:nvGrpSpPr>
        <p:grpSpPr>
          <a:xfrm>
            <a:off x="-76200" y="0"/>
            <a:ext cx="11772901" cy="597490"/>
            <a:chOff x="74035" y="2231322"/>
            <a:chExt cx="11699956" cy="743957"/>
          </a:xfrm>
        </p:grpSpPr>
        <p:grpSp>
          <p:nvGrpSpPr>
            <p:cNvPr id="182" name="Google Shape;182;p19"/>
            <p:cNvGrpSpPr/>
            <p:nvPr/>
          </p:nvGrpSpPr>
          <p:grpSpPr>
            <a:xfrm>
              <a:off x="330533" y="2267004"/>
              <a:ext cx="4514357" cy="708275"/>
              <a:chOff x="587624" y="3377549"/>
              <a:chExt cx="2324683" cy="1364238"/>
            </a:xfrm>
          </p:grpSpPr>
          <p:pic>
            <p:nvPicPr>
              <p:cNvPr id="183" name="Google Shape;183;p19" descr="empty-green-rectangle"/>
              <p:cNvPicPr preferRelativeResize="0"/>
              <p:nvPr/>
            </p:nvPicPr>
            <p:blipFill rotWithShape="1">
              <a:blip r:embed="rId1"/>
              <a:srcRect/>
              <a:stretch>
                <a:fillRect/>
              </a:stretch>
            </p:blipFill>
            <p:spPr>
              <a:xfrm>
                <a:off x="587624" y="3377549"/>
                <a:ext cx="2324683" cy="1364238"/>
              </a:xfrm>
              <a:prstGeom prst="rect">
                <a:avLst/>
              </a:prstGeom>
              <a:noFill/>
              <a:ln>
                <a:noFill/>
              </a:ln>
            </p:spPr>
          </p:pic>
          <p:pic>
            <p:nvPicPr>
              <p:cNvPr id="184" name="Google Shape;184;p19"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185" name="Google Shape;185;p19"/>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II</a:t>
              </a:r>
              <a:endParaRPr lang="en-US"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186" name="Google Shape;186;p19"/>
            <p:cNvSpPr/>
            <p:nvPr/>
          </p:nvSpPr>
          <p:spPr>
            <a:xfrm>
              <a:off x="1209205" y="2231322"/>
              <a:ext cx="10564786" cy="674474"/>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en-US" sz="2800" i="1">
                  <a:solidFill>
                    <a:schemeClr val="dk1"/>
                  </a:solidFill>
                  <a:latin typeface="Arial" panose="020B0704020202020204"/>
                  <a:ea typeface="Arial" panose="020B0704020202020204"/>
                  <a:cs typeface="Arial" panose="020B0704020202020204"/>
                  <a:sym typeface="Arial" panose="020B0704020202020204"/>
                </a:rPr>
                <a:t>THÍ NGHIỆM CỦA YOUNG (Y-ÂNG) VỀ GIAO THOA ÁNH SÁNG</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187" name="Google Shape;187;p19"/>
          <p:cNvSpPr txBox="1"/>
          <p:nvPr/>
        </p:nvSpPr>
        <p:spPr>
          <a:xfrm>
            <a:off x="5715000" y="4077471"/>
            <a:ext cx="259080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lt1"/>
                </a:solidFill>
                <a:latin typeface="Arial" panose="020B0704020202020204"/>
                <a:ea typeface="Arial" panose="020B0704020202020204"/>
                <a:cs typeface="Arial" panose="020B0704020202020204"/>
                <a:sym typeface="Arial" panose="020B0704020202020204"/>
              </a:rPr>
              <a:t>facebook:vatlytrucquan</a:t>
            </a:r>
            <a:endParaRPr lang="en-US" sz="1400">
              <a:solidFill>
                <a:schemeClr val="lt1"/>
              </a:solidFill>
              <a:latin typeface="Arial" panose="020B0704020202020204"/>
              <a:ea typeface="Arial" panose="020B0704020202020204"/>
              <a:cs typeface="Arial" panose="020B0704020202020204"/>
              <a:sym typeface="Arial" panose="020B0704020202020204"/>
            </a:endParaRPr>
          </a:p>
        </p:txBody>
      </p:sp>
      <p:sp>
        <p:nvSpPr>
          <p:cNvPr id="188" name="Google Shape;188;p19"/>
          <p:cNvSpPr txBox="1"/>
          <p:nvPr/>
        </p:nvSpPr>
        <p:spPr>
          <a:xfrm>
            <a:off x="685800" y="762000"/>
            <a:ext cx="403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1. Thí nghiệm</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89" name="Google Shape;189;p19" descr="D:\GIÁO AN 11\GIÁO AN\GIAO AN 11 KET NOI CHI THỨC\BAI 12\6.png"/>
          <p:cNvPicPr preferRelativeResize="0"/>
          <p:nvPr/>
        </p:nvPicPr>
        <p:blipFill rotWithShape="1">
          <a:blip r:embed="rId3"/>
          <a:srcRect/>
          <a:stretch>
            <a:fillRect/>
          </a:stretch>
        </p:blipFill>
        <p:spPr>
          <a:xfrm>
            <a:off x="1905000" y="2286001"/>
            <a:ext cx="8763000" cy="3352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93" name="Shape 193"/>
        <p:cNvGrpSpPr/>
        <p:nvPr/>
      </p:nvGrpSpPr>
      <p:grpSpPr>
        <a:xfrm>
          <a:off x="0" y="0"/>
          <a:ext cx="0" cy="0"/>
          <a:chOff x="0" y="0"/>
          <a:chExt cx="0" cy="0"/>
        </a:xfrm>
      </p:grpSpPr>
      <p:grpSp>
        <p:nvGrpSpPr>
          <p:cNvPr id="194" name="Google Shape;194;p20"/>
          <p:cNvGrpSpPr/>
          <p:nvPr/>
        </p:nvGrpSpPr>
        <p:grpSpPr>
          <a:xfrm>
            <a:off x="-76200" y="0"/>
            <a:ext cx="11772901" cy="597490"/>
            <a:chOff x="74035" y="2231322"/>
            <a:chExt cx="11699956" cy="743957"/>
          </a:xfrm>
        </p:grpSpPr>
        <p:grpSp>
          <p:nvGrpSpPr>
            <p:cNvPr id="195" name="Google Shape;195;p20"/>
            <p:cNvGrpSpPr/>
            <p:nvPr/>
          </p:nvGrpSpPr>
          <p:grpSpPr>
            <a:xfrm>
              <a:off x="330533" y="2267004"/>
              <a:ext cx="4514357" cy="708275"/>
              <a:chOff x="587624" y="3377549"/>
              <a:chExt cx="2324683" cy="1364238"/>
            </a:xfrm>
          </p:grpSpPr>
          <p:pic>
            <p:nvPicPr>
              <p:cNvPr id="196" name="Google Shape;196;p20" descr="empty-green-rectangle"/>
              <p:cNvPicPr preferRelativeResize="0"/>
              <p:nvPr/>
            </p:nvPicPr>
            <p:blipFill rotWithShape="1">
              <a:blip r:embed="rId1"/>
              <a:srcRect/>
              <a:stretch>
                <a:fillRect/>
              </a:stretch>
            </p:blipFill>
            <p:spPr>
              <a:xfrm>
                <a:off x="587624" y="3377549"/>
                <a:ext cx="2324683" cy="1364238"/>
              </a:xfrm>
              <a:prstGeom prst="rect">
                <a:avLst/>
              </a:prstGeom>
              <a:noFill/>
              <a:ln>
                <a:noFill/>
              </a:ln>
            </p:spPr>
          </p:pic>
          <p:pic>
            <p:nvPicPr>
              <p:cNvPr id="197" name="Google Shape;197;p20"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198" name="Google Shape;198;p20"/>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II</a:t>
              </a:r>
              <a:endParaRPr lang="en-US"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199" name="Google Shape;199;p20"/>
            <p:cNvSpPr/>
            <p:nvPr/>
          </p:nvSpPr>
          <p:spPr>
            <a:xfrm>
              <a:off x="1209205" y="2231322"/>
              <a:ext cx="10564786" cy="674474"/>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en-US" sz="2800" i="1">
                  <a:solidFill>
                    <a:schemeClr val="dk1"/>
                  </a:solidFill>
                  <a:latin typeface="Arial" panose="020B0704020202020204"/>
                  <a:ea typeface="Arial" panose="020B0704020202020204"/>
                  <a:cs typeface="Arial" panose="020B0704020202020204"/>
                  <a:sym typeface="Arial" panose="020B0704020202020204"/>
                </a:rPr>
                <a:t>THÍ NGHIỆM CỦA YOUNG (Y-ÂNG) VỀ GIAO THOA ÁNH SÁNG</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200" name="Google Shape;200;p20"/>
          <p:cNvSpPr txBox="1"/>
          <p:nvPr/>
        </p:nvSpPr>
        <p:spPr>
          <a:xfrm>
            <a:off x="5715000" y="4077471"/>
            <a:ext cx="259080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lt1"/>
                </a:solidFill>
                <a:latin typeface="Arial" panose="020B0704020202020204"/>
                <a:ea typeface="Arial" panose="020B0704020202020204"/>
                <a:cs typeface="Arial" panose="020B0704020202020204"/>
                <a:sym typeface="Arial" panose="020B0704020202020204"/>
              </a:rPr>
              <a:t>facebook:vatlytrucquan</a:t>
            </a:r>
            <a:endParaRPr lang="en-US" sz="1400">
              <a:solidFill>
                <a:schemeClr val="lt1"/>
              </a:solidFill>
              <a:latin typeface="Arial" panose="020B0704020202020204"/>
              <a:ea typeface="Arial" panose="020B0704020202020204"/>
              <a:cs typeface="Arial" panose="020B0704020202020204"/>
              <a:sym typeface="Arial" panose="020B0704020202020204"/>
            </a:endParaRPr>
          </a:p>
        </p:txBody>
      </p:sp>
      <p:sp>
        <p:nvSpPr>
          <p:cNvPr id="201" name="Google Shape;201;p20"/>
          <p:cNvSpPr txBox="1"/>
          <p:nvPr/>
        </p:nvSpPr>
        <p:spPr>
          <a:xfrm>
            <a:off x="685800" y="762000"/>
            <a:ext cx="8610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2. Công thức xác định bước sóng λ ánh sáng</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 name="Google Shape;202;p20"/>
          <p:cNvSpPr txBox="1"/>
          <p:nvPr/>
        </p:nvSpPr>
        <p:spPr>
          <a:xfrm>
            <a:off x="838200" y="1828800"/>
            <a:ext cx="403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Bước sóng </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 name="Google Shape;203;p20"/>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04" name="Google Shape;204;p20"/>
          <p:cNvPicPr preferRelativeResize="0"/>
          <p:nvPr/>
        </p:nvPicPr>
        <p:blipFill rotWithShape="1">
          <a:blip r:embed="rId3"/>
          <a:srcRect/>
          <a:stretch>
            <a:fillRect/>
          </a:stretch>
        </p:blipFill>
        <p:spPr>
          <a:xfrm>
            <a:off x="2844800" y="1816100"/>
            <a:ext cx="1574800" cy="1079500"/>
          </a:xfrm>
          <a:prstGeom prst="rect">
            <a:avLst/>
          </a:prstGeom>
          <a:noFill/>
          <a:ln>
            <a:noFill/>
          </a:ln>
        </p:spPr>
      </p:pic>
      <p:sp>
        <p:nvSpPr>
          <p:cNvPr id="205" name="Google Shape;205;p20"/>
          <p:cNvSpPr txBox="1"/>
          <p:nvPr/>
        </p:nvSpPr>
        <p:spPr>
          <a:xfrm>
            <a:off x="838200" y="3581400"/>
            <a:ext cx="2819400" cy="1066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206" name="Google Shape;206;p20"/>
          <p:cNvGraphicFramePr/>
          <p:nvPr/>
        </p:nvGraphicFramePr>
        <p:xfrm>
          <a:off x="838200" y="3352800"/>
          <a:ext cx="6019800" cy="3000000"/>
        </p:xfrm>
        <a:graphic>
          <a:graphicData uri="http://schemas.openxmlformats.org/drawingml/2006/table">
            <a:tbl>
              <a:tblPr>
                <a:noFill/>
                <a:tableStyleId>{EA0FAF98-E9E1-422A-A90C-3B19E834EF18}</a:tableStyleId>
              </a:tblPr>
              <a:tblGrid>
                <a:gridCol w="6019800"/>
              </a:tblGrid>
              <a:tr h="2180125">
                <a:tc>
                  <a:txBody>
                    <a:bodyPr/>
                    <a:lstStyle/>
                    <a:p>
                      <a:pPr marL="0" marR="0" lvl="0" indent="0" algn="just" rtl="0">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Trong đó:</a:t>
                      </a:r>
                      <a:endParaRPr lang="en-US" sz="24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 i: khoảng vân ( khoảng cách hai vân sáng hoặc hai vân tối liên tiếp).</a:t>
                      </a:r>
                      <a:endParaRPr lang="en-US" sz="24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a: Khoảng cách hai khe hẹp</a:t>
                      </a:r>
                      <a:endParaRPr sz="24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D: khoảng cách từ hai khe hẹp đến màn</a:t>
                      </a:r>
                      <a:endParaRPr sz="24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114300" marR="1143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grpSp>
        <p:nvGrpSpPr>
          <p:cNvPr id="207" name="Google Shape;207;p20"/>
          <p:cNvGrpSpPr/>
          <p:nvPr/>
        </p:nvGrpSpPr>
        <p:grpSpPr>
          <a:xfrm>
            <a:off x="7006669" y="1905001"/>
            <a:ext cx="4804331" cy="3627913"/>
            <a:chOff x="1345" y="2693"/>
            <a:chExt cx="3731" cy="2203"/>
          </a:xfrm>
        </p:grpSpPr>
        <p:cxnSp>
          <p:nvCxnSpPr>
            <p:cNvPr id="208" name="Google Shape;208;p20"/>
            <p:cNvCxnSpPr/>
            <p:nvPr/>
          </p:nvCxnSpPr>
          <p:spPr>
            <a:xfrm>
              <a:off x="2140" y="2837"/>
              <a:ext cx="0" cy="590"/>
            </a:xfrm>
            <a:prstGeom prst="straightConnector1">
              <a:avLst/>
            </a:prstGeom>
            <a:noFill/>
            <a:ln w="19050" cap="flat" cmpd="sng">
              <a:solidFill>
                <a:srgbClr val="000000"/>
              </a:solidFill>
              <a:prstDash val="solid"/>
              <a:round/>
              <a:headEnd type="none" w="med" len="med"/>
              <a:tailEnd type="none" w="med" len="med"/>
            </a:ln>
          </p:spPr>
        </p:cxnSp>
        <p:cxnSp>
          <p:nvCxnSpPr>
            <p:cNvPr id="209" name="Google Shape;209;p20"/>
            <p:cNvCxnSpPr/>
            <p:nvPr/>
          </p:nvCxnSpPr>
          <p:spPr>
            <a:xfrm>
              <a:off x="4720" y="2837"/>
              <a:ext cx="0" cy="1728"/>
            </a:xfrm>
            <a:prstGeom prst="straightConnector1">
              <a:avLst/>
            </a:prstGeom>
            <a:noFill/>
            <a:ln w="19050" cap="flat" cmpd="sng">
              <a:solidFill>
                <a:srgbClr val="000000"/>
              </a:solidFill>
              <a:prstDash val="solid"/>
              <a:round/>
              <a:headEnd type="none" w="med" len="med"/>
              <a:tailEnd type="none" w="med" len="med"/>
            </a:ln>
          </p:spPr>
        </p:cxnSp>
        <p:cxnSp>
          <p:nvCxnSpPr>
            <p:cNvPr id="210" name="Google Shape;210;p20"/>
            <p:cNvCxnSpPr/>
            <p:nvPr/>
          </p:nvCxnSpPr>
          <p:spPr>
            <a:xfrm>
              <a:off x="2140" y="3951"/>
              <a:ext cx="0" cy="605"/>
            </a:xfrm>
            <a:prstGeom prst="straightConnector1">
              <a:avLst/>
            </a:prstGeom>
            <a:noFill/>
            <a:ln w="19050" cap="flat" cmpd="sng">
              <a:solidFill>
                <a:srgbClr val="000000"/>
              </a:solidFill>
              <a:prstDash val="solid"/>
              <a:round/>
              <a:headEnd type="none" w="med" len="med"/>
              <a:tailEnd type="none" w="med" len="med"/>
            </a:ln>
          </p:spPr>
        </p:cxnSp>
        <p:cxnSp>
          <p:nvCxnSpPr>
            <p:cNvPr id="211" name="Google Shape;211;p20"/>
            <p:cNvCxnSpPr/>
            <p:nvPr/>
          </p:nvCxnSpPr>
          <p:spPr>
            <a:xfrm>
              <a:off x="2140" y="3476"/>
              <a:ext cx="0" cy="432"/>
            </a:xfrm>
            <a:prstGeom prst="straightConnector1">
              <a:avLst/>
            </a:prstGeom>
            <a:noFill/>
            <a:ln w="19050" cap="flat" cmpd="sng">
              <a:solidFill>
                <a:srgbClr val="000000"/>
              </a:solidFill>
              <a:prstDash val="solid"/>
              <a:round/>
              <a:headEnd type="none" w="med" len="med"/>
              <a:tailEnd type="none" w="med" len="med"/>
            </a:ln>
          </p:spPr>
        </p:cxnSp>
        <p:cxnSp>
          <p:nvCxnSpPr>
            <p:cNvPr id="212" name="Google Shape;212;p20"/>
            <p:cNvCxnSpPr/>
            <p:nvPr/>
          </p:nvCxnSpPr>
          <p:spPr>
            <a:xfrm>
              <a:off x="1751" y="3705"/>
              <a:ext cx="2966" cy="0"/>
            </a:xfrm>
            <a:prstGeom prst="straightConnector1">
              <a:avLst/>
            </a:prstGeom>
            <a:noFill/>
            <a:ln w="9525" cap="flat" cmpd="sng">
              <a:solidFill>
                <a:srgbClr val="000000"/>
              </a:solidFill>
              <a:prstDash val="solid"/>
              <a:round/>
              <a:headEnd type="none" w="med" len="med"/>
              <a:tailEnd type="none" w="med" len="med"/>
            </a:ln>
          </p:spPr>
        </p:cxnSp>
        <p:sp>
          <p:nvSpPr>
            <p:cNvPr id="213" name="Google Shape;213;p20"/>
            <p:cNvSpPr txBox="1"/>
            <p:nvPr/>
          </p:nvSpPr>
          <p:spPr>
            <a:xfrm>
              <a:off x="4623" y="2693"/>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 name="Google Shape;214;p20"/>
            <p:cNvSpPr txBox="1"/>
            <p:nvPr/>
          </p:nvSpPr>
          <p:spPr>
            <a:xfrm>
              <a:off x="4640" y="4113"/>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B</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 name="Google Shape;215;p20"/>
            <p:cNvSpPr txBox="1"/>
            <p:nvPr/>
          </p:nvSpPr>
          <p:spPr>
            <a:xfrm>
              <a:off x="4623" y="3520"/>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 name="Google Shape;216;p20"/>
            <p:cNvSpPr txBox="1"/>
            <p:nvPr/>
          </p:nvSpPr>
          <p:spPr>
            <a:xfrm>
              <a:off x="4488" y="4517"/>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 name="Google Shape;217;p20"/>
            <p:cNvSpPr txBox="1"/>
            <p:nvPr/>
          </p:nvSpPr>
          <p:spPr>
            <a:xfrm>
              <a:off x="1759" y="3178"/>
              <a:ext cx="57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400"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8" name="Google Shape;218;p20"/>
            <p:cNvSpPr txBox="1"/>
            <p:nvPr/>
          </p:nvSpPr>
          <p:spPr>
            <a:xfrm>
              <a:off x="1750" y="3760"/>
              <a:ext cx="57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F</a:t>
              </a:r>
              <a:r>
                <a:rPr lang="en-US" sz="2400"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19" name="Google Shape;219;p20"/>
            <p:cNvCxnSpPr/>
            <p:nvPr/>
          </p:nvCxnSpPr>
          <p:spPr>
            <a:xfrm rot="10800000" flipH="1">
              <a:off x="2152" y="2909"/>
              <a:ext cx="2559" cy="549"/>
            </a:xfrm>
            <a:prstGeom prst="straightConnector1">
              <a:avLst/>
            </a:prstGeom>
            <a:noFill/>
            <a:ln w="9525" cap="flat" cmpd="sng">
              <a:solidFill>
                <a:srgbClr val="000000"/>
              </a:solidFill>
              <a:prstDash val="solid"/>
              <a:round/>
              <a:headEnd type="none" w="med" len="med"/>
              <a:tailEnd type="none" w="med" len="med"/>
            </a:ln>
          </p:spPr>
        </p:cxnSp>
        <p:cxnSp>
          <p:nvCxnSpPr>
            <p:cNvPr id="220" name="Google Shape;220;p20"/>
            <p:cNvCxnSpPr/>
            <p:nvPr/>
          </p:nvCxnSpPr>
          <p:spPr>
            <a:xfrm rot="10800000" flipH="1">
              <a:off x="2152" y="2913"/>
              <a:ext cx="2559" cy="1016"/>
            </a:xfrm>
            <a:prstGeom prst="straightConnector1">
              <a:avLst/>
            </a:prstGeom>
            <a:noFill/>
            <a:ln w="9525" cap="flat" cmpd="sng">
              <a:solidFill>
                <a:srgbClr val="000000"/>
              </a:solidFill>
              <a:prstDash val="solid"/>
              <a:round/>
              <a:headEnd type="none" w="med" len="med"/>
              <a:tailEnd type="none" w="med" len="med"/>
            </a:ln>
          </p:spPr>
        </p:cxnSp>
        <p:cxnSp>
          <p:nvCxnSpPr>
            <p:cNvPr id="221" name="Google Shape;221;p20"/>
            <p:cNvCxnSpPr/>
            <p:nvPr/>
          </p:nvCxnSpPr>
          <p:spPr>
            <a:xfrm>
              <a:off x="2152" y="2909"/>
              <a:ext cx="2559" cy="0"/>
            </a:xfrm>
            <a:prstGeom prst="straightConnector1">
              <a:avLst/>
            </a:prstGeom>
            <a:noFill/>
            <a:ln w="9525" cap="flat" cmpd="sng">
              <a:solidFill>
                <a:srgbClr val="000000"/>
              </a:solidFill>
              <a:prstDash val="dash"/>
              <a:round/>
              <a:headEnd type="none" w="med" len="med"/>
              <a:tailEnd type="none" w="med" len="med"/>
            </a:ln>
          </p:spPr>
        </p:cxnSp>
        <p:sp>
          <p:nvSpPr>
            <p:cNvPr id="222" name="Google Shape;222;p20"/>
            <p:cNvSpPr txBox="1"/>
            <p:nvPr/>
          </p:nvSpPr>
          <p:spPr>
            <a:xfrm>
              <a:off x="1778" y="2709"/>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Google Shape;223;p20"/>
            <p:cNvSpPr/>
            <p:nvPr/>
          </p:nvSpPr>
          <p:spPr>
            <a:xfrm>
              <a:off x="2155" y="2913"/>
              <a:ext cx="64" cy="68"/>
            </a:xfrm>
            <a:custGeom>
              <a:avLst/>
              <a:gdLst/>
              <a:ahLst/>
              <a:cxnLst/>
              <a:rect l="l" t="t" r="r" b="b"/>
              <a:pathLst>
                <a:path w="64" h="68" extrusionOk="0">
                  <a:moveTo>
                    <a:pt x="0" y="68"/>
                  </a:moveTo>
                  <a:lnTo>
                    <a:pt x="64" y="68"/>
                  </a:lnTo>
                  <a:lnTo>
                    <a:pt x="64" y="0"/>
                  </a:lnTo>
                </a:path>
              </a:pathLst>
            </a:custGeom>
            <a:noFill/>
            <a:ln w="9525" cap="flat"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24" name="Google Shape;224;p20"/>
            <p:cNvSpPr txBox="1"/>
            <p:nvPr/>
          </p:nvSpPr>
          <p:spPr>
            <a:xfrm>
              <a:off x="4650" y="3122"/>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x</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5" name="Google Shape;225;p20"/>
            <p:cNvSpPr txBox="1"/>
            <p:nvPr/>
          </p:nvSpPr>
          <p:spPr>
            <a:xfrm>
              <a:off x="3240" y="3650"/>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6" name="Google Shape;226;p20"/>
            <p:cNvSpPr txBox="1"/>
            <p:nvPr/>
          </p:nvSpPr>
          <p:spPr>
            <a:xfrm>
              <a:off x="3000" y="2891"/>
              <a:ext cx="600"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7" name="Google Shape;227;p20"/>
            <p:cNvSpPr txBox="1"/>
            <p:nvPr/>
          </p:nvSpPr>
          <p:spPr>
            <a:xfrm>
              <a:off x="3315" y="3321"/>
              <a:ext cx="600"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8" name="Google Shape;228;p20"/>
            <p:cNvSpPr txBox="1"/>
            <p:nvPr/>
          </p:nvSpPr>
          <p:spPr>
            <a:xfrm>
              <a:off x="2075" y="3412"/>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9" name="Google Shape;229;p20"/>
            <p:cNvSpPr/>
            <p:nvPr/>
          </p:nvSpPr>
          <p:spPr>
            <a:xfrm>
              <a:off x="1640" y="3458"/>
              <a:ext cx="72" cy="471"/>
            </a:xfrm>
            <a:prstGeom prst="leftBrace">
              <a:avLst>
                <a:gd name="adj1" fmla="val 54514"/>
                <a:gd name="adj2" fmla="val 50000"/>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30" name="Google Shape;230;p20"/>
            <p:cNvSpPr txBox="1"/>
            <p:nvPr/>
          </p:nvSpPr>
          <p:spPr>
            <a:xfrm>
              <a:off x="1345" y="3455"/>
              <a:ext cx="426" cy="3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1" name="Google Shape;231;p20"/>
            <p:cNvSpPr/>
            <p:nvPr/>
          </p:nvSpPr>
          <p:spPr>
            <a:xfrm>
              <a:off x="4700" y="4252"/>
              <a:ext cx="43" cy="43"/>
            </a:xfrm>
            <a:prstGeom prst="flowChartConnector">
              <a:avLst/>
            </a:prstGeom>
            <a:solidFill>
              <a:srgbClr val="0D0D0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500"/>
                                        <p:tgtEl>
                                          <p:spTgt spid="2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2"/>
                                        </p:tgtEl>
                                        <p:attrNameLst>
                                          <p:attrName>style.visibility</p:attrName>
                                        </p:attrNameLst>
                                      </p:cBhvr>
                                      <p:to>
                                        <p:strVal val="visible"/>
                                      </p:to>
                                    </p:set>
                                    <p:animEffect transition="in" filter="fade">
                                      <p:cBhvr>
                                        <p:cTn id="12" dur="1000"/>
                                        <p:tgtEl>
                                          <p:spTgt spid="20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6"/>
                                        </p:tgtEl>
                                        <p:attrNameLst>
                                          <p:attrName>style.visibility</p:attrName>
                                        </p:attrNameLst>
                                      </p:cBhvr>
                                      <p:to>
                                        <p:strVal val="visible"/>
                                      </p:to>
                                    </p:set>
                                    <p:anim calcmode="lin" valueType="num">
                                      <p:cBhvr additive="base">
                                        <p:cTn id="17" dur="500"/>
                                        <p:tgtEl>
                                          <p:spTgt spid="206"/>
                                        </p:tgtEl>
                                        <p:attrNameLst>
                                          <p:attrName>ppt_y</p:attrName>
                                        </p:attrNameLst>
                                      </p:cBhvr>
                                      <p:tavLst>
                                        <p:tav tm="0" fmla="">
                                          <p:val>
                                            <p:strVal val="#ppt_y+1"/>
                                          </p:val>
                                        </p:tav>
                                        <p:tav tm="100000" fmla="">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7"/>
                                        </p:tgtEl>
                                        <p:attrNameLst>
                                          <p:attrName>style.visibility</p:attrName>
                                        </p:attrNameLst>
                                      </p:cBhvr>
                                      <p:to>
                                        <p:strVal val="visible"/>
                                      </p:to>
                                    </p:set>
                                    <p:animEffect transition="in" filter="fade">
                                      <p:cBhvr>
                                        <p:cTn id="22" dur="2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35" name="Shape 235"/>
        <p:cNvGrpSpPr/>
        <p:nvPr/>
      </p:nvGrpSpPr>
      <p:grpSpPr>
        <a:xfrm>
          <a:off x="0" y="0"/>
          <a:ext cx="0" cy="0"/>
          <a:chOff x="0" y="0"/>
          <a:chExt cx="0" cy="0"/>
        </a:xfrm>
      </p:grpSpPr>
      <p:grpSp>
        <p:nvGrpSpPr>
          <p:cNvPr id="236" name="Google Shape;236;p21"/>
          <p:cNvGrpSpPr/>
          <p:nvPr/>
        </p:nvGrpSpPr>
        <p:grpSpPr>
          <a:xfrm>
            <a:off x="-76200" y="0"/>
            <a:ext cx="11772901" cy="597490"/>
            <a:chOff x="74035" y="2231322"/>
            <a:chExt cx="11699956" cy="743957"/>
          </a:xfrm>
        </p:grpSpPr>
        <p:grpSp>
          <p:nvGrpSpPr>
            <p:cNvPr id="237" name="Google Shape;237;p21"/>
            <p:cNvGrpSpPr/>
            <p:nvPr/>
          </p:nvGrpSpPr>
          <p:grpSpPr>
            <a:xfrm>
              <a:off x="330533" y="2267004"/>
              <a:ext cx="4514357" cy="708275"/>
              <a:chOff x="587624" y="3377549"/>
              <a:chExt cx="2324683" cy="1364238"/>
            </a:xfrm>
          </p:grpSpPr>
          <p:pic>
            <p:nvPicPr>
              <p:cNvPr id="238" name="Google Shape;238;p21" descr="empty-green-rectangle"/>
              <p:cNvPicPr preferRelativeResize="0"/>
              <p:nvPr/>
            </p:nvPicPr>
            <p:blipFill rotWithShape="1">
              <a:blip r:embed="rId1"/>
              <a:srcRect/>
              <a:stretch>
                <a:fillRect/>
              </a:stretch>
            </p:blipFill>
            <p:spPr>
              <a:xfrm>
                <a:off x="587624" y="3377549"/>
                <a:ext cx="2324683" cy="1364238"/>
              </a:xfrm>
              <a:prstGeom prst="rect">
                <a:avLst/>
              </a:prstGeom>
              <a:noFill/>
              <a:ln>
                <a:noFill/>
              </a:ln>
            </p:spPr>
          </p:pic>
          <p:pic>
            <p:nvPicPr>
              <p:cNvPr id="239" name="Google Shape;239;p21"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240" name="Google Shape;240;p21"/>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II</a:t>
              </a:r>
              <a:endParaRPr lang="en-US"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241" name="Google Shape;241;p21"/>
            <p:cNvSpPr/>
            <p:nvPr/>
          </p:nvSpPr>
          <p:spPr>
            <a:xfrm>
              <a:off x="1209205" y="2231322"/>
              <a:ext cx="10564786" cy="674474"/>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en-US" sz="2800" i="1">
                  <a:solidFill>
                    <a:schemeClr val="dk1"/>
                  </a:solidFill>
                  <a:latin typeface="Arial" panose="020B0704020202020204"/>
                  <a:ea typeface="Arial" panose="020B0704020202020204"/>
                  <a:cs typeface="Arial" panose="020B0704020202020204"/>
                  <a:sym typeface="Arial" panose="020B0704020202020204"/>
                </a:rPr>
                <a:t>THÍ NGHIỆM CỦA YOUNG (Y-ÂNG) VỀ GIAO THOA ÁNH SÁNG</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242" name="Google Shape;242;p21"/>
          <p:cNvSpPr txBox="1"/>
          <p:nvPr/>
        </p:nvSpPr>
        <p:spPr>
          <a:xfrm>
            <a:off x="5715000" y="4077471"/>
            <a:ext cx="259080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lt1"/>
                </a:solidFill>
                <a:latin typeface="Arial" panose="020B0704020202020204"/>
                <a:ea typeface="Arial" panose="020B0704020202020204"/>
                <a:cs typeface="Arial" panose="020B0704020202020204"/>
                <a:sym typeface="Arial" panose="020B0704020202020204"/>
              </a:rPr>
              <a:t>facebook:vatlytrucquan</a:t>
            </a:r>
            <a:endParaRPr lang="en-US" sz="1400">
              <a:solidFill>
                <a:schemeClr val="lt1"/>
              </a:solidFill>
              <a:latin typeface="Arial" panose="020B0704020202020204"/>
              <a:ea typeface="Arial" panose="020B0704020202020204"/>
              <a:cs typeface="Arial" panose="020B0704020202020204"/>
              <a:sym typeface="Arial" panose="020B0704020202020204"/>
            </a:endParaRPr>
          </a:p>
        </p:txBody>
      </p:sp>
      <p:sp>
        <p:nvSpPr>
          <p:cNvPr id="243" name="Google Shape;243;p21"/>
          <p:cNvSpPr txBox="1"/>
          <p:nvPr/>
        </p:nvSpPr>
        <p:spPr>
          <a:xfrm>
            <a:off x="685800" y="762000"/>
            <a:ext cx="8610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2. Công thức xác định bước sóng λ ánh sáng</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4" name="Google Shape;244;p21"/>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1"/>
          <p:cNvSpPr txBox="1"/>
          <p:nvPr/>
        </p:nvSpPr>
        <p:spPr>
          <a:xfrm>
            <a:off x="838200" y="3581400"/>
            <a:ext cx="2819400" cy="1066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1"/>
          <p:cNvSpPr txBox="1"/>
          <p:nvPr/>
        </p:nvSpPr>
        <p:spPr>
          <a:xfrm>
            <a:off x="838200" y="1524000"/>
            <a:ext cx="5257800" cy="73866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panose="02020603050405020304"/>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Điều kiện để tại A có vân sáng, vân tối</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1"/>
          <p:cNvSpPr txBox="1"/>
          <p:nvPr/>
        </p:nvSpPr>
        <p:spPr>
          <a:xfrm>
            <a:off x="1066046" y="2170331"/>
            <a:ext cx="365835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Tại A có vân sáng khi</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8" name="Google Shape;248;p21"/>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49" name="Google Shape;249;p21"/>
          <p:cNvPicPr preferRelativeResize="0"/>
          <p:nvPr/>
        </p:nvPicPr>
        <p:blipFill rotWithShape="1">
          <a:blip r:embed="rId3"/>
          <a:srcRect/>
          <a:stretch>
            <a:fillRect/>
          </a:stretch>
        </p:blipFill>
        <p:spPr>
          <a:xfrm>
            <a:off x="2108200" y="2743199"/>
            <a:ext cx="3606800" cy="652293"/>
          </a:xfrm>
          <a:prstGeom prst="rect">
            <a:avLst/>
          </a:prstGeom>
          <a:noFill/>
          <a:ln>
            <a:noFill/>
          </a:ln>
        </p:spPr>
      </p:pic>
      <p:sp>
        <p:nvSpPr>
          <p:cNvPr id="250" name="Google Shape;250;p21"/>
          <p:cNvSpPr txBox="1"/>
          <p:nvPr/>
        </p:nvSpPr>
        <p:spPr>
          <a:xfrm>
            <a:off x="1218446" y="3593068"/>
            <a:ext cx="365835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Tại A có vân tối khi</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1" name="Google Shape;251;p21"/>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52" name="Google Shape;252;p21"/>
          <p:cNvPicPr preferRelativeResize="0"/>
          <p:nvPr/>
        </p:nvPicPr>
        <p:blipFill rotWithShape="1">
          <a:blip r:embed="rId4"/>
          <a:srcRect/>
          <a:stretch>
            <a:fillRect/>
          </a:stretch>
        </p:blipFill>
        <p:spPr>
          <a:xfrm>
            <a:off x="2108200" y="4254500"/>
            <a:ext cx="3987800" cy="927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6"/>
                                        </p:tgtEl>
                                        <p:attrNameLst>
                                          <p:attrName>style.visibility</p:attrName>
                                        </p:attrNameLst>
                                      </p:cBhvr>
                                      <p:to>
                                        <p:strVal val="visible"/>
                                      </p:to>
                                    </p:set>
                                    <p:animEffect transition="in" filter="fade">
                                      <p:cBhvr>
                                        <p:cTn id="7" dur="500"/>
                                        <p:tgtEl>
                                          <p:spTgt spid="2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7"/>
                                        </p:tgtEl>
                                        <p:attrNameLst>
                                          <p:attrName>style.visibility</p:attrName>
                                        </p:attrNameLst>
                                      </p:cBhvr>
                                      <p:to>
                                        <p:strVal val="visible"/>
                                      </p:to>
                                    </p:set>
                                    <p:animEffect transition="in" filter="fade">
                                      <p:cBhvr>
                                        <p:cTn id="12" dur="500"/>
                                        <p:tgtEl>
                                          <p:spTgt spid="2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0"/>
                                        </p:tgtEl>
                                        <p:attrNameLst>
                                          <p:attrName>style.visibility</p:attrName>
                                        </p:attrNameLst>
                                      </p:cBhvr>
                                      <p:to>
                                        <p:strVal val="visible"/>
                                      </p:to>
                                    </p:set>
                                    <p:animEffect transition="in" filter="fade">
                                      <p:cBhvr>
                                        <p:cTn id="17" dur="5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56" name="Shape 256"/>
        <p:cNvGrpSpPr/>
        <p:nvPr/>
      </p:nvGrpSpPr>
      <p:grpSpPr>
        <a:xfrm>
          <a:off x="0" y="0"/>
          <a:ext cx="0" cy="0"/>
          <a:chOff x="0" y="0"/>
          <a:chExt cx="0" cy="0"/>
        </a:xfrm>
      </p:grpSpPr>
      <p:grpSp>
        <p:nvGrpSpPr>
          <p:cNvPr id="257" name="Google Shape;257;p22"/>
          <p:cNvGrpSpPr/>
          <p:nvPr/>
        </p:nvGrpSpPr>
        <p:grpSpPr>
          <a:xfrm>
            <a:off x="-76200" y="0"/>
            <a:ext cx="11772901" cy="597490"/>
            <a:chOff x="74035" y="2231322"/>
            <a:chExt cx="11699956" cy="743957"/>
          </a:xfrm>
        </p:grpSpPr>
        <p:grpSp>
          <p:nvGrpSpPr>
            <p:cNvPr id="258" name="Google Shape;258;p22"/>
            <p:cNvGrpSpPr/>
            <p:nvPr/>
          </p:nvGrpSpPr>
          <p:grpSpPr>
            <a:xfrm>
              <a:off x="330533" y="2267004"/>
              <a:ext cx="4514357" cy="708275"/>
              <a:chOff x="587624" y="3377549"/>
              <a:chExt cx="2324683" cy="1364238"/>
            </a:xfrm>
          </p:grpSpPr>
          <p:pic>
            <p:nvPicPr>
              <p:cNvPr id="259" name="Google Shape;259;p22" descr="empty-green-rectangle"/>
              <p:cNvPicPr preferRelativeResize="0"/>
              <p:nvPr/>
            </p:nvPicPr>
            <p:blipFill rotWithShape="1">
              <a:blip r:embed="rId1"/>
              <a:srcRect/>
              <a:stretch>
                <a:fillRect/>
              </a:stretch>
            </p:blipFill>
            <p:spPr>
              <a:xfrm>
                <a:off x="587624" y="3377549"/>
                <a:ext cx="2324683" cy="1364238"/>
              </a:xfrm>
              <a:prstGeom prst="rect">
                <a:avLst/>
              </a:prstGeom>
              <a:noFill/>
              <a:ln>
                <a:noFill/>
              </a:ln>
            </p:spPr>
          </p:pic>
          <p:pic>
            <p:nvPicPr>
              <p:cNvPr id="260" name="Google Shape;260;p22"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261" name="Google Shape;261;p22"/>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a:solidFill>
                    <a:schemeClr val="dk1"/>
                  </a:solidFill>
                  <a:latin typeface="Arial" panose="020B0704020202020204"/>
                  <a:ea typeface="Arial" panose="020B0704020202020204"/>
                  <a:cs typeface="Arial" panose="020B0704020202020204"/>
                  <a:sym typeface="Arial" panose="020B0704020202020204"/>
                </a:rPr>
                <a:t>II</a:t>
              </a:r>
              <a:endParaRPr lang="en-US" sz="2600">
                <a:solidFill>
                  <a:schemeClr val="dk1"/>
                </a:solidFill>
                <a:latin typeface="Arial" panose="020B0704020202020204"/>
                <a:ea typeface="Arial" panose="020B0704020202020204"/>
                <a:cs typeface="Arial" panose="020B0704020202020204"/>
                <a:sym typeface="Arial" panose="020B0704020202020204"/>
              </a:endParaRPr>
            </a:p>
          </p:txBody>
        </p:sp>
        <p:sp>
          <p:nvSpPr>
            <p:cNvPr id="262" name="Google Shape;262;p22"/>
            <p:cNvSpPr/>
            <p:nvPr/>
          </p:nvSpPr>
          <p:spPr>
            <a:xfrm>
              <a:off x="1209205" y="2231322"/>
              <a:ext cx="10564786" cy="674474"/>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en-US" sz="2800" i="1">
                  <a:solidFill>
                    <a:schemeClr val="dk1"/>
                  </a:solidFill>
                  <a:latin typeface="Arial" panose="020B0704020202020204"/>
                  <a:ea typeface="Arial" panose="020B0704020202020204"/>
                  <a:cs typeface="Arial" panose="020B0704020202020204"/>
                  <a:sym typeface="Arial" panose="020B0704020202020204"/>
                </a:rPr>
                <a:t>THÍ NGHIỆM CỦA YOUNG (Y-ÂNG) VỀ GIAO THOA ÁNH SÁNG</a:t>
              </a:r>
              <a:endParaRPr sz="2800">
                <a:solidFill>
                  <a:schemeClr val="dk1"/>
                </a:solidFill>
                <a:latin typeface="Arial" panose="020B0704020202020204"/>
                <a:ea typeface="Arial" panose="020B0704020202020204"/>
                <a:cs typeface="Arial" panose="020B0704020202020204"/>
                <a:sym typeface="Arial" panose="020B0704020202020204"/>
              </a:endParaRPr>
            </a:p>
          </p:txBody>
        </p:sp>
      </p:grpSp>
      <p:sp>
        <p:nvSpPr>
          <p:cNvPr id="263" name="Google Shape;263;p22"/>
          <p:cNvSpPr txBox="1"/>
          <p:nvPr/>
        </p:nvSpPr>
        <p:spPr>
          <a:xfrm>
            <a:off x="5715000" y="4077471"/>
            <a:ext cx="259080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lt1"/>
                </a:solidFill>
                <a:latin typeface="Arial" panose="020B0704020202020204"/>
                <a:ea typeface="Arial" panose="020B0704020202020204"/>
                <a:cs typeface="Arial" panose="020B0704020202020204"/>
                <a:sym typeface="Arial" panose="020B0704020202020204"/>
              </a:rPr>
              <a:t>facebook:vatlytrucquan</a:t>
            </a:r>
            <a:endParaRPr lang="en-US" sz="1400">
              <a:solidFill>
                <a:schemeClr val="lt1"/>
              </a:solidFill>
              <a:latin typeface="Arial" panose="020B0704020202020204"/>
              <a:ea typeface="Arial" panose="020B0704020202020204"/>
              <a:cs typeface="Arial" panose="020B0704020202020204"/>
              <a:sym typeface="Arial" panose="020B0704020202020204"/>
            </a:endParaRPr>
          </a:p>
        </p:txBody>
      </p:sp>
      <p:sp>
        <p:nvSpPr>
          <p:cNvPr id="264" name="Google Shape;264;p22"/>
          <p:cNvSpPr txBox="1"/>
          <p:nvPr/>
        </p:nvSpPr>
        <p:spPr>
          <a:xfrm>
            <a:off x="685800" y="762000"/>
            <a:ext cx="8610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2. Công thức xác định bước sóng λ ánh sáng</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5" name="Google Shape;265;p22"/>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6" name="Google Shape;266;p22"/>
          <p:cNvSpPr txBox="1"/>
          <p:nvPr/>
        </p:nvSpPr>
        <p:spPr>
          <a:xfrm>
            <a:off x="838200" y="3581400"/>
            <a:ext cx="2819400" cy="1066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7" name="Google Shape;267;p22"/>
          <p:cNvSpPr txBox="1"/>
          <p:nvPr/>
        </p:nvSpPr>
        <p:spPr>
          <a:xfrm>
            <a:off x="838200" y="1524000"/>
            <a:ext cx="5257800" cy="73866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panose="02020603050405020304"/>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Vị trí các vân sáng, vân tối</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8" name="Google Shape;268;p22"/>
          <p:cNvSpPr txBox="1"/>
          <p:nvPr/>
        </p:nvSpPr>
        <p:spPr>
          <a:xfrm>
            <a:off x="1066046" y="2170331"/>
            <a:ext cx="365835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Vị trí các vân sáng</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9" name="Google Shape;269;p22"/>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0" name="Google Shape;270;p22"/>
          <p:cNvSpPr txBox="1"/>
          <p:nvPr/>
        </p:nvSpPr>
        <p:spPr>
          <a:xfrm>
            <a:off x="1218446" y="3593068"/>
            <a:ext cx="365835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Vị trí các vân tối</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1" name="Google Shape;271;p22"/>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2" name="Google Shape;272;p22"/>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73" name="Google Shape;273;p22"/>
          <p:cNvPicPr preferRelativeResize="0"/>
          <p:nvPr/>
        </p:nvPicPr>
        <p:blipFill rotWithShape="1">
          <a:blip r:embed="rId3"/>
          <a:srcRect/>
          <a:stretch>
            <a:fillRect/>
          </a:stretch>
        </p:blipFill>
        <p:spPr>
          <a:xfrm>
            <a:off x="2584450" y="2882900"/>
            <a:ext cx="3054350" cy="710168"/>
          </a:xfrm>
          <a:prstGeom prst="rect">
            <a:avLst/>
          </a:prstGeom>
          <a:noFill/>
          <a:ln>
            <a:noFill/>
          </a:ln>
        </p:spPr>
      </p:pic>
      <p:sp>
        <p:nvSpPr>
          <p:cNvPr id="274" name="Google Shape;274;p22"/>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75" name="Google Shape;275;p22"/>
          <p:cNvPicPr preferRelativeResize="0"/>
          <p:nvPr/>
        </p:nvPicPr>
        <p:blipFill rotWithShape="1">
          <a:blip r:embed="rId4"/>
          <a:srcRect/>
          <a:stretch>
            <a:fillRect/>
          </a:stretch>
        </p:blipFill>
        <p:spPr>
          <a:xfrm>
            <a:off x="2584450" y="4254500"/>
            <a:ext cx="4273550" cy="774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500"/>
                                        <p:tgtEl>
                                          <p:spTgt spid="2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8"/>
                                        </p:tgtEl>
                                        <p:attrNameLst>
                                          <p:attrName>style.visibility</p:attrName>
                                        </p:attrNameLst>
                                      </p:cBhvr>
                                      <p:to>
                                        <p:strVal val="visible"/>
                                      </p:to>
                                    </p:set>
                                    <p:animEffect transition="in" filter="fade">
                                      <p:cBhvr>
                                        <p:cTn id="12" dur="500"/>
                                        <p:tgtEl>
                                          <p:spTgt spid="2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0"/>
                                        </p:tgtEl>
                                        <p:attrNameLst>
                                          <p:attrName>style.visibility</p:attrName>
                                        </p:attrNameLst>
                                      </p:cBhvr>
                                      <p:to>
                                        <p:strVal val="visible"/>
                                      </p:to>
                                    </p:set>
                                    <p:animEffect transition="in" filter="fade">
                                      <p:cBhvr>
                                        <p:cTn id="17" dur="5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1564</Words>
  <Application>WPS Spreadsheets</Application>
  <PresentationFormat/>
  <Paragraphs>126</Paragraphs>
  <Slides>10</Slides>
  <Notes>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10</vt:i4>
      </vt:variant>
    </vt:vector>
  </HeadingPairs>
  <TitlesOfParts>
    <vt:vector size="34" baseType="lpstr">
      <vt:lpstr>Arial</vt:lpstr>
      <vt:lpstr>SimSun</vt:lpstr>
      <vt:lpstr>Wingdings</vt:lpstr>
      <vt:lpstr>Arial</vt:lpstr>
      <vt:lpstr>Calibri</vt:lpstr>
      <vt:lpstr>Helvetica Neue</vt:lpstr>
      <vt:lpstr>Times New Roman</vt:lpstr>
      <vt:lpstr>Verdana</vt:lpstr>
      <vt:lpstr>Microsoft YaHei</vt:lpstr>
      <vt:lpstr>汉仪旗黑</vt:lpstr>
      <vt:lpstr>Arial Unicode MS</vt:lpstr>
      <vt:lpstr>宋体-简</vt:lpstr>
      <vt:lpstr>Times New Roman</vt:lpstr>
      <vt:lpstr>Verdana</vt:lpstr>
      <vt:lpstr>Nadeem</vt:lpstr>
      <vt:lpstr>Muna</vt:lpstr>
      <vt:lpstr>Myanmar Sangam MN</vt:lpstr>
      <vt:lpstr>New Peninim MT</vt:lpstr>
      <vt:lpstr>Noteworthy Light</vt:lpstr>
      <vt:lpstr>Mukta Mahee</vt:lpstr>
      <vt:lpstr>Phosphate Inline</vt:lpstr>
      <vt:lpstr>Silom</vt:lpstr>
      <vt:lpstr>Sinhala MN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2025-09-17T07:08:37Z</dcterms:created>
  <dcterms:modified xsi:type="dcterms:W3CDTF">2025-09-17T07:08:37Z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9AC73C25DA93BD58755ECA683552DEA1_42</vt:lpwstr>
  </property>
  <property fmtid="{D5CDD505-2E9C-101B-9397-08002B2CF9AE}" pid="3" name="KSOProductBuildVer">
    <vt:lpwstr>1033-12.1.22553.22553</vt:lpwstr>
  </property>
</Properties>
</file>