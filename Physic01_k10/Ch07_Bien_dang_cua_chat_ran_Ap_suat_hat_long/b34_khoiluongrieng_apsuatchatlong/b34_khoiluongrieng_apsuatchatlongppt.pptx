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675" r:id="rId4"/>
    <p:sldId id="937" r:id="rId5"/>
    <p:sldId id="939" r:id="rId7"/>
    <p:sldId id="941" r:id="rId8"/>
    <p:sldId id="942" r:id="rId9"/>
    <p:sldId id="894" r:id="rId10"/>
    <p:sldId id="885" r:id="rId11"/>
    <p:sldId id="938" r:id="rId12"/>
    <p:sldId id="914" r:id="rId13"/>
    <p:sldId id="943" r:id="rId14"/>
    <p:sldId id="940" r:id="rId15"/>
    <p:sldId id="944" r:id="rId16"/>
    <p:sldId id="945" r:id="rId17"/>
    <p:sldId id="946" r:id="rId18"/>
    <p:sldId id="947" r:id="rId19"/>
    <p:sldId id="948" r:id="rId20"/>
    <p:sldId id="94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E261E"/>
    <a:srgbClr val="009AE5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6" autoAdjust="0"/>
    <p:restoredTop sz="93970" autoAdjust="0"/>
  </p:normalViewPr>
  <p:slideViewPr>
    <p:cSldViewPr snapToGrid="0">
      <p:cViewPr varScale="1">
        <p:scale>
          <a:sx n="70" d="100"/>
          <a:sy n="70" d="100"/>
        </p:scale>
        <p:origin x="702" y="60"/>
      </p:cViewPr>
      <p:guideLst/>
    </p:cSldViewPr>
  </p:slideViewPr>
  <p:outlineViewPr>
    <p:cViewPr>
      <p:scale>
        <a:sx n="33" d="100"/>
        <a:sy n="33" d="100"/>
      </p:scale>
      <p:origin x="0" y="-4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0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5D4B9-0F66-430E-BE66-B9ABD378C14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0437F0-3CB8-4907-9E53-8CCCF8E80CC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256367" y="4411663"/>
            <a:ext cx="2489200" cy="233045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043767" y="2293938"/>
            <a:ext cx="9196917" cy="459105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529167" y="2133600"/>
            <a:ext cx="11231033" cy="147002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198563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7016751" y="4076700"/>
            <a:ext cx="1862667" cy="1749425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2840567" y="4749800"/>
            <a:ext cx="9351433" cy="2135188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704020202020204" pitchFamily="34" charset="0"/>
                <a:ea typeface="SimSun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704020202020204" pitchFamily="34" charset="0"/>
              <a:ea typeface="SimSun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8.wmf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1" Type="http://schemas.openxmlformats.org/officeDocument/2006/relationships/vmlDrawing" Target="../drawings/vmlDrawing3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oleObject" Target="../embeddings/oleObject10.bin"/><Relationship Id="rId7" Type="http://schemas.openxmlformats.org/officeDocument/2006/relationships/image" Target="../media/image8.wmf"/><Relationship Id="rId6" Type="http://schemas.openxmlformats.org/officeDocument/2006/relationships/oleObject" Target="../embeddings/oleObject9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8.bin"/><Relationship Id="rId3" Type="http://schemas.openxmlformats.org/officeDocument/2006/relationships/image" Target="../media/image6.wmf"/><Relationship Id="rId2" Type="http://schemas.openxmlformats.org/officeDocument/2006/relationships/oleObject" Target="../embeddings/oleObject7.bin"/><Relationship Id="rId11" Type="http://schemas.openxmlformats.org/officeDocument/2006/relationships/vmlDrawing" Target="../drawings/vmlDrawing4.v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6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3.bin"/><Relationship Id="rId3" Type="http://schemas.openxmlformats.org/officeDocument/2006/relationships/image" Target="../media/image16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5.bin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7.bin"/><Relationship Id="rId3" Type="http://schemas.openxmlformats.org/officeDocument/2006/relationships/image" Target="../media/image24.png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6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9.png"/><Relationship Id="rId7" Type="http://schemas.openxmlformats.org/officeDocument/2006/relationships/image" Target="../media/image28.w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6.wmf"/><Relationship Id="rId2" Type="http://schemas.openxmlformats.org/officeDocument/2006/relationships/oleObject" Target="../embeddings/oleObject18.bin"/><Relationship Id="rId10" Type="http://schemas.openxmlformats.org/officeDocument/2006/relationships/vmlDrawing" Target="../drawings/vmlDrawing9.v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2.bin"/><Relationship Id="rId3" Type="http://schemas.openxmlformats.org/officeDocument/2006/relationships/image" Target="../media/image30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276;p33"/>
          <p:cNvSpPr txBox="1"/>
          <p:nvPr/>
        </p:nvSpPr>
        <p:spPr>
          <a:xfrm>
            <a:off x="152400" y="1178355"/>
            <a:ext cx="11887200" cy="2922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1106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 sz="6935" b="1" i="0" u="none" strike="noStrike" cap="none">
                <a:solidFill>
                  <a:srgbClr val="191919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matic SC"/>
              <a:buNone/>
              <a:defRPr/>
            </a:pPr>
            <a:r>
              <a:rPr kumimoji="0" lang="en-US" sz="8500" b="1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Itim" panose="00000500000000000000" pitchFamily="2" charset="-34"/>
                <a:cs typeface="Itim" panose="00000500000000000000" pitchFamily="2" charset="-34"/>
                <a:sym typeface="Amatic SC"/>
              </a:rPr>
              <a:t>Bài 34. Khối lượng riêng Áp suất chất lỏng </a:t>
            </a:r>
            <a:endParaRPr kumimoji="0" lang="en-US" sz="8500" b="1" i="0" u="none" strike="noStrike" kern="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Itim" panose="00000500000000000000" pitchFamily="2" charset="-34"/>
              <a:cs typeface="Itim" panose="00000500000000000000" pitchFamily="2" charset="-34"/>
              <a:sym typeface="Amatic SC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Khối lượng riêng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1970202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01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Khối lượng riêng của một chất là khối lượng của một đơn vị thể tích chất đó </a:t>
            </a:r>
            <a:endParaRPr lang="vi-VN"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3" name="Google Shape;1794;p49"/>
          <p:cNvSpPr txBox="1"/>
          <p:nvPr/>
        </p:nvSpPr>
        <p:spPr>
          <a:xfrm>
            <a:off x="152400" y="4034013"/>
            <a:ext cx="217552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 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sắt nặng 7800 kg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5" name="Google Shape;1794;p49"/>
          <p:cNvSpPr txBox="1"/>
          <p:nvPr/>
        </p:nvSpPr>
        <p:spPr>
          <a:xfrm>
            <a:off x="3940494" y="4034013"/>
            <a:ext cx="1789429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1 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xốp nặng 39 kg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5" name="Picture 4" descr="A screenshot of a video game&#10;&#10;Description automatically generated with medium confidence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368" t="5598" r="14956" b="37146"/>
          <a:stretch>
            <a:fillRect/>
          </a:stretch>
        </p:blipFill>
        <p:spPr>
          <a:xfrm>
            <a:off x="152400" y="1611789"/>
            <a:ext cx="6013941" cy="274320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8517758" y="1804799"/>
          <a:ext cx="151130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Equation" r:id="rId3" imgW="10363200" imgH="9448800" progId="Equation.DSMT4">
                  <p:embed/>
                </p:oleObj>
              </mc:Choice>
              <mc:Fallback>
                <p:oleObj name="Equation" r:id="rId3" imgW="10363200" imgH="94488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17758" y="1804799"/>
                        <a:ext cx="1511300" cy="1360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Google Shape;1794;p49"/>
          <p:cNvSpPr txBox="1"/>
          <p:nvPr/>
        </p:nvSpPr>
        <p:spPr>
          <a:xfrm>
            <a:off x="7342497" y="3615814"/>
            <a:ext cx="3861823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l-GR" sz="2500" kern="0">
                <a:solidFill>
                  <a:srgbClr val="F8F8F8"/>
                </a:solidFill>
                <a:latin typeface="Times New Roman" panose="02020603050405020304" pitchFamily="18" charset="0"/>
                <a:cs typeface="Itim" panose="00000500000000000000" pitchFamily="2" charset="-34"/>
              </a:rPr>
              <a:t>ρ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: khối lượng riêng (kg/m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hoặc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m: khối lượng (kg hoặc g)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V: thể tích (m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hoặc 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1. Tại sao khối lượng riêng của một chất lại phụ thuộc vào nhiệt độ?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136394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Khối lượng riêng: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96810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96810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136394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Vì khi nhiệt độ thay đổi thì thể tích thay đổi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2663825" y="2061847"/>
          <a:ext cx="9207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2" imgW="10363200" imgH="9448800" progId="Equation.DSMT4">
                  <p:embed/>
                </p:oleObj>
              </mc:Choice>
              <mc:Fallback>
                <p:oleObj name="Equation" r:id="rId2" imgW="10363200" imgH="94488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63825" y="2061847"/>
                        <a:ext cx="92075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Một hợp kim đồng và bạc có khối lượng riêng là 10,3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Tính khối lượng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của bạc và đồng có trong 100 g hợp kim. Biết khối lượng riêng của đồng là 8,9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, của bạc là 10,4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187012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Ta có: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Vậy: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Mà: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147428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147428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187012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Ta có: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329192" y="1741574"/>
          <a:ext cx="238283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2" imgW="26822400" imgH="9448800" progId="Equation.DSMT4">
                  <p:embed/>
                </p:oleObj>
              </mc:Choice>
              <mc:Fallback>
                <p:oleObj name="Equation" r:id="rId2" imgW="26822400" imgH="94488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29192" y="1741574"/>
                        <a:ext cx="2382837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099458" y="2811669"/>
          <a:ext cx="25971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4" imgW="29260800" imgH="11582400" progId="Equation.DSMT4">
                  <p:embed/>
                </p:oleObj>
              </mc:Choice>
              <mc:Fallback>
                <p:oleObj name="Equation" r:id="rId4" imgW="29260800" imgH="115824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9458" y="2811669"/>
                        <a:ext cx="2597150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999559" y="4328793"/>
          <a:ext cx="31400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Equation" r:id="rId6" imgW="35356800" imgH="12192000" progId="Equation.DSMT4">
                  <p:embed/>
                </p:oleObj>
              </mc:Choice>
              <mc:Fallback>
                <p:oleObj name="Equation" r:id="rId6" imgW="35356800" imgH="121920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9559" y="4328793"/>
                        <a:ext cx="3140075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/>
        </p:nvGraphicFramePr>
        <p:xfrm>
          <a:off x="6814419" y="2005065"/>
          <a:ext cx="5303837" cy="480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Equation" r:id="rId8" imgW="59740800" imgH="54254400" progId="Equation.DSMT4">
                  <p:embed/>
                </p:oleObj>
              </mc:Choice>
              <mc:Fallback>
                <p:oleObj name="Equation" r:id="rId8" imgW="59740800" imgH="54254400" progId="Equation.DSMT4">
                  <p:embed/>
                  <p:pic>
                    <p:nvPicPr>
                      <p:cNvPr id="0" name="Object 1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14419" y="2005065"/>
                        <a:ext cx="5303837" cy="4803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2. Một hợp kim đồng và bạc có khối lượng riêng là 10,3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Tính khối lượng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của bạc và đồng có trong 100 g hợp kim. Biết khối lượng riêng của đồng là 8,9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, của bạc là 10,4 g/cm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187012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Ta có: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Vậy: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Mà: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147428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147428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1870125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Khối lượng bạc trong hợp kim là: 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Khối lượng đồng trong hợp kim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m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đồng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= 100 – 94,22 = 5,78 (g)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329192" y="1741574"/>
          <a:ext cx="2382837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2" imgW="26822400" imgH="9448800" progId="Equation.DSMT4">
                  <p:embed/>
                </p:oleObj>
              </mc:Choice>
              <mc:Fallback>
                <p:oleObj name="Equation" r:id="rId2" imgW="26822400" imgH="94488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29192" y="1741574"/>
                        <a:ext cx="2382837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099458" y="2811669"/>
          <a:ext cx="25971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4" imgW="29260800" imgH="11582400" progId="Equation.DSMT4">
                  <p:embed/>
                </p:oleObj>
              </mc:Choice>
              <mc:Fallback>
                <p:oleObj name="Equation" r:id="rId4" imgW="29260800" imgH="115824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9458" y="2811669"/>
                        <a:ext cx="2597150" cy="1025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999559" y="4328793"/>
          <a:ext cx="3140075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6" imgW="35356800" imgH="12192000" progId="Equation.DSMT4">
                  <p:embed/>
                </p:oleObj>
              </mc:Choice>
              <mc:Fallback>
                <p:oleObj name="Equation" r:id="rId6" imgW="35356800" imgH="121920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9559" y="4328793"/>
                        <a:ext cx="3140075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430962" y="2512077"/>
          <a:ext cx="52736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8" imgW="59436000" imgH="6096000" progId="Equation.DSMT4">
                  <p:embed/>
                </p:oleObj>
              </mc:Choice>
              <mc:Fallback>
                <p:oleObj name="Equation" r:id="rId8" imgW="59436000" imgH="60960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30962" y="2512077"/>
                        <a:ext cx="52736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Áp lực và áp suất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2035520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02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Áp lực là lực ép có phương vuông góc với mặt bị ép. Độ lớn của áp lực phụ thuộc vào trọng lượng của vật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3527" y="1596211"/>
            <a:ext cx="2861006" cy="4572000"/>
          </a:xfrm>
          <a:prstGeom prst="rect">
            <a:avLst/>
          </a:prstGeom>
        </p:spPr>
      </p:pic>
      <p:sp>
        <p:nvSpPr>
          <p:cNvPr id="6" name="Google Shape;1794;p49"/>
          <p:cNvSpPr txBox="1"/>
          <p:nvPr/>
        </p:nvSpPr>
        <p:spPr>
          <a:xfrm>
            <a:off x="6281140" y="3240259"/>
            <a:ext cx="3861823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Khi đặt quyển sách trên mặt bàn thì quyển sách tác dụng áp lực F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lên mặt bàn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Áp suất là đại lượng đặc trưng cho tác dụng của áp lực, có độ lớn bằng áp lực chia cho diện tích bị ép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6" name="Google Shape;1794;p49"/>
          <p:cNvSpPr txBox="1"/>
          <p:nvPr/>
        </p:nvSpPr>
        <p:spPr>
          <a:xfrm>
            <a:off x="8157368" y="3189667"/>
            <a:ext cx="3714977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p: áp suất (Pa hoặc N/m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F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: áp lực (N)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S: diện tích bị ép (m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9281432" y="1510581"/>
          <a:ext cx="1466850" cy="136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" imgW="10058400" imgH="9448800" progId="Equation.DSMT4">
                  <p:embed/>
                </p:oleObj>
              </mc:Choice>
              <mc:Fallback>
                <p:oleObj name="Equation" r:id="rId1" imgW="10058400" imgH="94488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81432" y="1510581"/>
                        <a:ext cx="1466850" cy="1360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27" y="1820240"/>
            <a:ext cx="7231811" cy="2286000"/>
          </a:xfrm>
          <a:prstGeom prst="rect">
            <a:avLst/>
          </a:prstGeom>
        </p:spPr>
      </p:pic>
      <p:sp>
        <p:nvSpPr>
          <p:cNvPr id="8" name="Google Shape;1794;p49"/>
          <p:cNvSpPr txBox="1"/>
          <p:nvPr/>
        </p:nvSpPr>
        <p:spPr>
          <a:xfrm>
            <a:off x="654701" y="5024401"/>
            <a:ext cx="6581841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Áp lực càng lớn, diện tích bị ép càng nhỏ thì vật lún càng sâu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Tác dụng của áp lực càng lớn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=&gt; Áp suất càng lớn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7" name="Google Shape;1794;p49"/>
          <p:cNvSpPr txBox="1"/>
          <p:nvPr/>
        </p:nvSpPr>
        <p:spPr>
          <a:xfrm>
            <a:off x="3729833" y="4106358"/>
            <a:ext cx="1687742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Áp lực lớn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9" name="Google Shape;1794;p49"/>
          <p:cNvSpPr txBox="1"/>
          <p:nvPr/>
        </p:nvSpPr>
        <p:spPr>
          <a:xfrm>
            <a:off x="5930556" y="4106240"/>
            <a:ext cx="1687742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Diện tích bị ép nhỏ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3. Tại sao xe tăng nặng hơn ô tô nhiều lần lại có thể chạy bình thường trên đất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bùn, còn ô tô bị lún bánh và sa lầy trên chính quãng đường này?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653" y="1243693"/>
            <a:ext cx="6252693" cy="1828800"/>
          </a:xfrm>
          <a:prstGeom prst="rect">
            <a:avLst/>
          </a:prstGeom>
        </p:spPr>
      </p:pic>
      <p:sp>
        <p:nvSpPr>
          <p:cNvPr id="20" name="Google Shape;1794;p49"/>
          <p:cNvSpPr txBox="1"/>
          <p:nvPr/>
        </p:nvSpPr>
        <p:spPr>
          <a:xfrm>
            <a:off x="5147915" y="330186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1" name="Google Shape;1794;p49"/>
          <p:cNvSpPr txBox="1"/>
          <p:nvPr/>
        </p:nvSpPr>
        <p:spPr>
          <a:xfrm>
            <a:off x="152400" y="3697705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Vì diện tích tiếp xúc của xe tăng với mặt đường lớn hơn rất nhiều lần so với diện tích tiếp xúc của ô tô với mặt đường nên áp suất do xe tăng tác dụng lên mặt đường &lt; áp suất do ô tô tác dụng lên mặt đường =&gt; xe tăng chạy bình thường, còn ô tô bị sa lầy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4. Trong hai chiếc xẻng vẽ ở hình dưới, xẻng nào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dùng để xén đất tốt hơn? Tại sao?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Google Shape;1794;p49"/>
          <p:cNvSpPr txBox="1"/>
          <p:nvPr/>
        </p:nvSpPr>
        <p:spPr>
          <a:xfrm>
            <a:off x="5147915" y="3301863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21" name="Google Shape;1794;p49"/>
          <p:cNvSpPr txBox="1"/>
          <p:nvPr/>
        </p:nvSpPr>
        <p:spPr>
          <a:xfrm>
            <a:off x="152400" y="3697705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Xẻng b dùng để xén đất tốt hơn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Vì diện tích tiếp xúc của xẻng b với mặt đất bé nên áp suất do xẻng tác dụng lên đất lớn khiến cho xẻng xén vào đất dễ dàng hơn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758" y="177470"/>
            <a:ext cx="3707842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5. Một người nặng 50 kg đứng trên mặt đất nằm ngang. Biết diện tích tiếp xúc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của mỗi bàn chân với đất là 0,015 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Lấy g = 10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Tính áp suất người đó tác dụng lên mặt đất khi: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	a) Đứng cả hai chân 			b) Đứng một chân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224445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Áp suất: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1848616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1848616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2244458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a) Áp suất người đó tác dụng lên mặt đất khi đứng cả hai chân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b) Áp suất người đó tác dụng lên mặt đất khi đứng một chân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687512" y="2468104"/>
          <a:ext cx="1436688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Equation" r:id="rId2" imgW="16154400" imgH="9448800" progId="Equation.DSMT4">
                  <p:embed/>
                </p:oleObj>
              </mc:Choice>
              <mc:Fallback>
                <p:oleObj name="Equation" r:id="rId2" imgW="16154400" imgH="94488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87512" y="2468104"/>
                        <a:ext cx="1436688" cy="836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264275" y="3235892"/>
          <a:ext cx="56070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9" name="Equation" r:id="rId4" imgW="63093600" imgH="9753600" progId="Equation.DSMT4">
                  <p:embed/>
                </p:oleObj>
              </mc:Choice>
              <mc:Fallback>
                <p:oleObj name="Equation" r:id="rId4" imgW="63093600" imgH="97536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64275" y="3235892"/>
                        <a:ext cx="560705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6316662" y="5163779"/>
          <a:ext cx="555466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6" imgW="62484000" imgH="9753600" progId="Equation.DSMT4">
                  <p:embed/>
                </p:oleObj>
              </mc:Choice>
              <mc:Fallback>
                <p:oleObj name="Equation" r:id="rId6" imgW="62484000" imgH="9753600" progId="Equation.DSMT4">
                  <p:embed/>
                  <p:pic>
                    <p:nvPicPr>
                      <p:cNvPr id="0" name="Object 1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16662" y="5163779"/>
                        <a:ext cx="5554663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3240349"/>
            <a:ext cx="11887200" cy="913819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en-GB" sz="500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Áp suất chất lỏng </a:t>
            </a:r>
            <a:endParaRPr sz="500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3" name="Google Shape;2366;p54"/>
          <p:cNvSpPr txBox="1"/>
          <p:nvPr/>
        </p:nvSpPr>
        <p:spPr>
          <a:xfrm>
            <a:off x="4951200" y="2035520"/>
            <a:ext cx="2289600" cy="132622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/>
            <a:r>
              <a:rPr lang="en-GB" sz="10000" kern="0">
                <a:solidFill>
                  <a:schemeClr val="accent5">
                    <a:lumMod val="75000"/>
                  </a:schemeClr>
                </a:solidFill>
                <a:latin typeface="Itim" panose="00000500000000000000" pitchFamily="2" charset="-34"/>
                <a:cs typeface="Itim" panose="00000500000000000000" pitchFamily="2" charset="-34"/>
              </a:rPr>
              <a:t>03</a:t>
            </a:r>
            <a:endParaRPr lang="en-GB" sz="10000" kern="0">
              <a:solidFill>
                <a:schemeClr val="accent5">
                  <a:lumMod val="75000"/>
                </a:schemeClr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cxnSp>
        <p:nvCxnSpPr>
          <p:cNvPr id="4" name="Google Shape;2368;p54"/>
          <p:cNvCxnSpPr/>
          <p:nvPr/>
        </p:nvCxnSpPr>
        <p:spPr>
          <a:xfrm>
            <a:off x="5121400" y="4269648"/>
            <a:ext cx="194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Chất lỏng gây ra áp suất theo mọi phương lên các vật ở trong chất lỏng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6" name="Google Shape;1794;p49"/>
          <p:cNvSpPr txBox="1"/>
          <p:nvPr/>
        </p:nvSpPr>
        <p:spPr>
          <a:xfrm>
            <a:off x="1237580" y="5524237"/>
            <a:ext cx="4847783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Khi bơm nước vào bình có lỗ nhỏ, nước phun ra theo mọi phương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449" y="952237"/>
            <a:ext cx="6026046" cy="4572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558" y="952237"/>
            <a:ext cx="3898992" cy="4572000"/>
          </a:xfrm>
          <a:prstGeom prst="rect">
            <a:avLst/>
          </a:prstGeom>
        </p:spPr>
      </p:pic>
      <p:sp>
        <p:nvSpPr>
          <p:cNvPr id="8" name="Google Shape;1794;p49"/>
          <p:cNvSpPr txBox="1"/>
          <p:nvPr/>
        </p:nvSpPr>
        <p:spPr>
          <a:xfrm>
            <a:off x="7060411" y="5524237"/>
            <a:ext cx="4475286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Khi nhúng bình cầu có lỗ nhỏ vào nước, nước phun vào bên trong bình theo mọi phương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Công thức tính áp suất chất lỏng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8" name="Google Shape;1794;p49"/>
          <p:cNvSpPr txBox="1"/>
          <p:nvPr/>
        </p:nvSpPr>
        <p:spPr>
          <a:xfrm>
            <a:off x="6753384" y="3367287"/>
            <a:ext cx="4740526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p: áp suất tác dụng lên đáy bình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</a:t>
            </a:r>
            <a:r>
              <a:rPr lang="en-US" sz="2500" kern="0" baseline="-25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A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: áp suất khí quyển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ρ: khối lượng riêng của chất lỏng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g: gia tốc trọng trường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h: độ sâu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375" y="1143000"/>
            <a:ext cx="4125640" cy="4572000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134737" y="1336778"/>
          <a:ext cx="3511550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2" imgW="24079200" imgH="11582400" progId="Equation.DSMT4">
                  <p:embed/>
                </p:oleObj>
              </mc:Choice>
              <mc:Fallback>
                <p:oleObj name="Equation" r:id="rId2" imgW="24079200" imgH="115824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34737" y="1336778"/>
                        <a:ext cx="3511550" cy="166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365;p54"/>
          <p:cNvSpPr txBox="1">
            <a:spLocks noGrp="1"/>
          </p:cNvSpPr>
          <p:nvPr>
            <p:ph type="title"/>
          </p:nvPr>
        </p:nvSpPr>
        <p:spPr>
          <a:xfrm>
            <a:off x="152400" y="139284"/>
            <a:ext cx="11887200" cy="6419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00" b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Phương trình cơ bản của chất lưu đứng yên </a:t>
            </a:r>
            <a:endParaRPr sz="3000" b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8" name="Google Shape;1794;p49"/>
          <p:cNvSpPr txBox="1"/>
          <p:nvPr/>
        </p:nvSpPr>
        <p:spPr>
          <a:xfrm>
            <a:off x="6753384" y="2315234"/>
            <a:ext cx="4740526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Chứng minh: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7512503" y="1197397"/>
          <a:ext cx="27114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" imgW="18592800" imgH="4876800" progId="Equation.DSMT4">
                  <p:embed/>
                </p:oleObj>
              </mc:Choice>
              <mc:Fallback>
                <p:oleObj name="Equation" r:id="rId1" imgW="18592800" imgH="48768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12503" y="1197397"/>
                        <a:ext cx="2711450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420" y="1143000"/>
            <a:ext cx="4635580" cy="4572000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7132922" y="2902277"/>
          <a:ext cx="3981450" cy="199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4" imgW="44805600" imgH="22555200" progId="Equation.DSMT4">
                  <p:embed/>
                </p:oleObj>
              </mc:Choice>
              <mc:Fallback>
                <p:oleObj name="Equation" r:id="rId4" imgW="44805600" imgH="225552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32922" y="2902277"/>
                        <a:ext cx="3981450" cy="1997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6. Một khối hình lập phương có cạnh 0,30 m, khối lập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phương chìm 2/3 trong nước. Biết khối lượng riêng của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nước là 1000 kg/m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. Tính áp suất của nước tác dụng lên mặt dưới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của khối lập phương và xác định phương, chiều, cường độ của lực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gây ra bởi áp suất này.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2657413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Áp suất chất lỏng: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Lực do áp suất gây ra: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2261571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3136644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3532486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Áp suất của nước tác dụng lên mặt dưới khối lập phương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Lực do áp suất chất lỏng tác dụng lên đáy hộp có phương thẳng đứng, chiều từ dưới lên, độ lớn: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 algn="ctr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F = p.S = 1960.0,3.0,3 = 176,4 (N)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501106" y="3302200"/>
          <a:ext cx="1246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Equation" r:id="rId2" imgW="14020800" imgH="4876800" progId="Equation.DSMT4">
                  <p:embed/>
                </p:oleObj>
              </mc:Choice>
              <mc:Fallback>
                <p:oleObj name="Equation" r:id="rId2" imgW="14020800" imgH="48768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1106" y="3302200"/>
                        <a:ext cx="1246188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400800" y="4256963"/>
          <a:ext cx="53340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Equation" r:id="rId4" imgW="60045600" imgH="9448800" progId="Equation.DSMT4">
                  <p:embed/>
                </p:oleObj>
              </mc:Choice>
              <mc:Fallback>
                <p:oleObj name="Equation" r:id="rId4" imgW="60045600" imgH="94488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00800" y="4256963"/>
                        <a:ext cx="5334000" cy="836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1795860" y="4512447"/>
          <a:ext cx="21399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Equation" r:id="rId6" imgW="24079200" imgH="9448800" progId="Equation.DSMT4">
                  <p:embed/>
                </p:oleObj>
              </mc:Choice>
              <mc:Fallback>
                <p:oleObj name="Equation" r:id="rId6" imgW="24079200" imgH="9448800" progId="Equation.DSMT4">
                  <p:embed/>
                  <p:pic>
                    <p:nvPicPr>
                      <p:cNvPr id="0" name="Object 1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95860" y="4512447"/>
                        <a:ext cx="2139950" cy="836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1021" y="288455"/>
            <a:ext cx="2748579" cy="274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794;p49"/>
          <p:cNvSpPr txBox="1"/>
          <p:nvPr/>
        </p:nvSpPr>
        <p:spPr>
          <a:xfrm>
            <a:off x="152400" y="177470"/>
            <a:ext cx="118872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7. Tính độ chênh lệch áp suất của nước giữa 2 điểm thuộc 2 mặt phẳng nằm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           ngang cách nhau 20 cm. Biết khối lượng riêng của nước là 1000 kg/m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3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, lấy g = 9,8 m/s</a:t>
            </a:r>
            <a:r>
              <a:rPr lang="en-US" sz="2500" kern="0" baseline="3000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2</a:t>
            </a: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pic>
        <p:nvPicPr>
          <p:cNvPr id="9" name="Picture 2" descr="Question mark Icons – Free Vector Download, PNG, SVG, GIF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7470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1794;p49"/>
          <p:cNvSpPr txBox="1"/>
          <p:nvPr/>
        </p:nvSpPr>
        <p:spPr>
          <a:xfrm>
            <a:off x="152400" y="1917362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FFF0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 chênh lệch áp suất: </a:t>
            </a:r>
            <a:endParaRPr lang="en-US" sz="2500" kern="0">
              <a:solidFill>
                <a:srgbClr val="FFFF0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0" name="Google Shape;1794;p49"/>
          <p:cNvSpPr txBox="1"/>
          <p:nvPr/>
        </p:nvSpPr>
        <p:spPr>
          <a:xfrm>
            <a:off x="2176115" y="1521520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Hướng dẫn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1" name="Google Shape;1794;p49"/>
          <p:cNvSpPr txBox="1"/>
          <p:nvPr/>
        </p:nvSpPr>
        <p:spPr>
          <a:xfrm>
            <a:off x="8119715" y="1521520"/>
            <a:ext cx="1896170" cy="3958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algn="ctr">
              <a:defRPr/>
            </a:pPr>
            <a:r>
              <a:rPr lang="en-US" sz="2500" kern="0">
                <a:solidFill>
                  <a:srgbClr val="00B0F0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Bài làm </a:t>
            </a:r>
            <a:endParaRPr lang="en-US" sz="2500" kern="0">
              <a:solidFill>
                <a:srgbClr val="00B0F0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sp>
        <p:nvSpPr>
          <p:cNvPr id="13" name="Google Shape;1794;p49"/>
          <p:cNvSpPr txBox="1"/>
          <p:nvPr/>
        </p:nvSpPr>
        <p:spPr>
          <a:xfrm>
            <a:off x="6096000" y="1917362"/>
            <a:ext cx="5943600" cy="6419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704020202020204"/>
              <a:defRPr sz="1865" b="0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lvl="0">
              <a:defRPr/>
            </a:pPr>
            <a:r>
              <a:rPr lang="en-US" sz="2500" kern="0">
                <a:solidFill>
                  <a:srgbClr val="F8F8F8"/>
                </a:solidFill>
                <a:latin typeface="Itim" panose="00000500000000000000" pitchFamily="2" charset="-34"/>
                <a:cs typeface="Itim" panose="00000500000000000000" pitchFamily="2" charset="-34"/>
              </a:rPr>
              <a:t>- Độ chênh lệch áp suất là: </a:t>
            </a:r>
            <a:endParaRPr lang="en-US" sz="2500" kern="0">
              <a:solidFill>
                <a:srgbClr val="F8F8F8"/>
              </a:solidFill>
              <a:latin typeface="Itim" panose="00000500000000000000" pitchFamily="2" charset="-34"/>
              <a:cs typeface="Itim" panose="00000500000000000000" pitchFamily="2" charset="-34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297112" y="2698948"/>
          <a:ext cx="165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Equation" r:id="rId2" imgW="18592800" imgH="4876800" progId="Equation.DSMT4">
                  <p:embed/>
                </p:oleObj>
              </mc:Choice>
              <mc:Fallback>
                <p:oleObj name="Equation" r:id="rId2" imgW="18592800" imgH="48768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7112" y="2698948"/>
                        <a:ext cx="1654175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372225" y="2559314"/>
          <a:ext cx="5391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Equation" r:id="rId4" imgW="60655200" imgH="6096000" progId="Equation.DSMT4">
                  <p:embed/>
                </p:oleObj>
              </mc:Choice>
              <mc:Fallback>
                <p:oleObj name="Equation" r:id="rId4" imgW="60655200" imgH="6096000" progId="Equation.DSMT4">
                  <p:embed/>
                  <p:pic>
                    <p:nvPicPr>
                      <p:cNvPr id="0" name="Object 1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372225" y="2559314"/>
                        <a:ext cx="5391150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</p:bldLst>
  </p:timing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3939</Words>
  <Application>WPS Presentation</Application>
  <PresentationFormat>Widescreen</PresentationFormat>
  <Paragraphs>174</Paragraphs>
  <Slides>18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22</vt:i4>
      </vt:variant>
      <vt:variant>
        <vt:lpstr>幻灯片标题</vt:lpstr>
      </vt:variant>
      <vt:variant>
        <vt:i4>18</vt:i4>
      </vt:variant>
    </vt:vector>
  </HeadingPairs>
  <TitlesOfParts>
    <vt:vector size="59" baseType="lpstr">
      <vt:lpstr>Arial</vt:lpstr>
      <vt:lpstr>SimSun</vt:lpstr>
      <vt:lpstr>Wingdings</vt:lpstr>
      <vt:lpstr>Amatic SC</vt:lpstr>
      <vt:lpstr>Thonburi</vt:lpstr>
      <vt:lpstr>Quicksand Light</vt:lpstr>
      <vt:lpstr>Arial</vt:lpstr>
      <vt:lpstr>Bebas Neue</vt:lpstr>
      <vt:lpstr>Quicksand</vt:lpstr>
      <vt:lpstr>Itim</vt:lpstr>
      <vt:lpstr>Arial Unicode MS</vt:lpstr>
      <vt:lpstr>Times New Roman</vt:lpstr>
      <vt:lpstr>Microsoft YaHei</vt:lpstr>
      <vt:lpstr>汉仪旗黑</vt:lpstr>
      <vt:lpstr>Calibri Light</vt:lpstr>
      <vt:lpstr>Helvetica Neue</vt:lpstr>
      <vt:lpstr>Calibri</vt:lpstr>
      <vt:lpstr>宋体-简</vt:lpstr>
      <vt:lpstr>Art_mountaineering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Khối lượng riêng </vt:lpstr>
      <vt:lpstr>Khối lượng riêng của một chất là khối lượng của một đơn vị thể tích chất đó </vt:lpstr>
      <vt:lpstr>PowerPoint 演示文稿</vt:lpstr>
      <vt:lpstr>PowerPoint 演示文稿</vt:lpstr>
      <vt:lpstr>PowerPoint 演示文稿</vt:lpstr>
      <vt:lpstr>Áp lực và áp suất </vt:lpstr>
      <vt:lpstr>Áp lực là lực ép có phương vuông góc với mặt bị ép. Độ lớn của áp lực phụ thuộc vào trọng lượng của vật </vt:lpstr>
      <vt:lpstr>Áp suất là đại lượng đặc trưng cho tác dụng của áp lực, có độ lớn bằng áp lực chia cho diện tích bị ép </vt:lpstr>
      <vt:lpstr>PowerPoint 演示文稿</vt:lpstr>
      <vt:lpstr>PowerPoint 演示文稿</vt:lpstr>
      <vt:lpstr>PowerPoint 演示文稿</vt:lpstr>
      <vt:lpstr>Áp suất chất lỏng </vt:lpstr>
      <vt:lpstr>Chất lỏng gây ra áp suất theo mọi phương lên các vật ở trong chất lỏng </vt:lpstr>
      <vt:lpstr>Công thức tính áp suất chất lỏng </vt:lpstr>
      <vt:lpstr>Phương trình cơ bản của chất lưu đứng yên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VnTeach.Com</dc:creator>
  <cp:keywords>VnTeach.Com</cp:keywords>
  <cp:lastModifiedBy>vietchung</cp:lastModifiedBy>
  <cp:revision>1</cp:revision>
  <dcterms:created xsi:type="dcterms:W3CDTF">2025-09-17T02:58:22Z</dcterms:created>
  <dcterms:modified xsi:type="dcterms:W3CDTF">2025-09-17T02:58:22Z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F9B9958EFE0FEBEFCE23CA68171FD43D_42</vt:lpwstr>
  </property>
  <property fmtid="{D5CDD505-2E9C-101B-9397-08002B2CF9AE}" pid="3" name="KSOProductBuildVer">
    <vt:lpwstr>1033-12.1.22553.22553</vt:lpwstr>
  </property>
</Properties>
</file>