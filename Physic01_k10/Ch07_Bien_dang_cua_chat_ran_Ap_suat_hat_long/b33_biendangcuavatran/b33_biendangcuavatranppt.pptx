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937" r:id="rId5"/>
    <p:sldId id="908" r:id="rId7"/>
    <p:sldId id="939" r:id="rId8"/>
    <p:sldId id="894" r:id="rId9"/>
    <p:sldId id="885" r:id="rId10"/>
    <p:sldId id="938" r:id="rId11"/>
    <p:sldId id="914" r:id="rId12"/>
    <p:sldId id="940" r:id="rId13"/>
    <p:sldId id="92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3970" autoAdjust="0"/>
  </p:normalViewPr>
  <p:slideViewPr>
    <p:cSldViewPr snapToGrid="0">
      <p:cViewPr varScale="1">
        <p:scale>
          <a:sx n="70" d="100"/>
          <a:sy n="70" d="100"/>
        </p:scale>
        <p:origin x="702" y="60"/>
      </p:cViewPr>
      <p:guideLst/>
    </p:cSldViewPr>
  </p:slideViewPr>
  <p:outlineViewPr>
    <p:cViewPr>
      <p:scale>
        <a:sx n="33" d="100"/>
        <a:sy n="33" d="100"/>
      </p:scale>
      <p:origin x="0" y="-490"/>
    </p:cViewPr>
  </p:outlineViewPr>
  <p:notesTextViewPr>
    <p:cViewPr>
      <p:scale>
        <a:sx n="1" d="1"/>
        <a:sy n="1" d="1"/>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0.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wmf"/><Relationship Id="rId7" Type="http://schemas.openxmlformats.org/officeDocument/2006/relationships/oleObject" Target="../embeddings/oleObject4.bin"/><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png"/><Relationship Id="rId3" Type="http://schemas.openxmlformats.org/officeDocument/2006/relationships/image" Target="../media/image8.wmf"/><Relationship Id="rId2" Type="http://schemas.openxmlformats.org/officeDocument/2006/relationships/oleObject" Target="../embeddings/oleObject2.bin"/><Relationship Id="rId10" Type="http://schemas.openxmlformats.org/officeDocument/2006/relationships/vmlDrawing" Target="../drawings/vmlDrawing2.v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wmf"/><Relationship Id="rId7" Type="http://schemas.openxmlformats.org/officeDocument/2006/relationships/oleObject" Target="../embeddings/oleObject7.bin"/><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png"/><Relationship Id="rId3" Type="http://schemas.openxmlformats.org/officeDocument/2006/relationships/image" Target="../media/image8.wmf"/><Relationship Id="rId2" Type="http://schemas.openxmlformats.org/officeDocument/2006/relationships/oleObject" Target="../embeddings/oleObject5.bin"/><Relationship Id="rId10" Type="http://schemas.openxmlformats.org/officeDocument/2006/relationships/vmlDrawing" Target="../drawings/vmlDrawing3.v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178355"/>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rPr>
              <a:t>Bài 33. Biến dạng của vật rắn </a:t>
            </a:r>
            <a:endPar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Biến dạng đàn hồi </a:t>
            </a:r>
            <a:br>
              <a:rPr lang="en-GB" sz="5000">
                <a:solidFill>
                  <a:srgbClr val="FFFF00"/>
                </a:solidFill>
                <a:latin typeface="Itim" panose="00000500000000000000" pitchFamily="2" charset="-34"/>
                <a:cs typeface="Itim" panose="00000500000000000000" pitchFamily="2" charset="-34"/>
              </a:rPr>
            </a:br>
            <a:r>
              <a:rPr lang="en-GB" sz="5000">
                <a:solidFill>
                  <a:srgbClr val="FFFF00"/>
                </a:solidFill>
                <a:latin typeface="Itim" panose="00000500000000000000" pitchFamily="2" charset="-34"/>
                <a:cs typeface="Itim" panose="00000500000000000000" pitchFamily="2" charset="-34"/>
              </a:rPr>
              <a:t>Biến dạng kéo và biến dạng nén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219086"/>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Biến dạng đàn hồi là biến dạng mà vật có thể lấy lại được hình dạng và kích thước ban đầu. Mức độ biến dạng phụ thuộc vào độ lớn của ngoại lực. Giới hạn mà vật còn giữ được tính đàn hồi gọi là giới hạn đàn hồi </a:t>
            </a:r>
            <a:endParaRPr lang="vi-VN" sz="3000" b="0">
              <a:solidFill>
                <a:srgbClr val="FFFF00"/>
              </a:solidFill>
              <a:latin typeface="Itim" panose="00000500000000000000" pitchFamily="2" charset="-34"/>
              <a:cs typeface="Itim" panose="00000500000000000000" pitchFamily="2" charset="-34"/>
            </a:endParaRPr>
          </a:p>
        </p:txBody>
      </p:sp>
      <p:sp>
        <p:nvSpPr>
          <p:cNvPr id="23" name="Google Shape;1794;p49"/>
          <p:cNvSpPr txBox="1"/>
          <p:nvPr/>
        </p:nvSpPr>
        <p:spPr>
          <a:xfrm>
            <a:off x="1423086" y="5529067"/>
            <a:ext cx="2838894"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Quả bóng cao su bị biến dạng đàn hồi </a:t>
            </a:r>
            <a:endParaRPr lang="en-US" sz="2500" kern="0">
              <a:solidFill>
                <a:srgbClr val="F8F8F8"/>
              </a:solidFill>
              <a:latin typeface="Itim" panose="00000500000000000000" pitchFamily="2" charset="-34"/>
              <a:cs typeface="Itim" panose="00000500000000000000" pitchFamily="2" charset="-34"/>
            </a:endParaRPr>
          </a:p>
        </p:txBody>
      </p:sp>
      <p:pic>
        <p:nvPicPr>
          <p:cNvPr id="4" name="Picture 3"/>
          <p:cNvPicPr>
            <a:picLocks noChangeAspect="1"/>
          </p:cNvPicPr>
          <p:nvPr/>
        </p:nvPicPr>
        <p:blipFill>
          <a:blip r:embed="rId1"/>
          <a:stretch>
            <a:fillRect/>
          </a:stretch>
        </p:blipFill>
        <p:spPr>
          <a:xfrm>
            <a:off x="1423086" y="1871467"/>
            <a:ext cx="2838894" cy="3657600"/>
          </a:xfrm>
          <a:prstGeom prst="rect">
            <a:avLst/>
          </a:prstGeom>
        </p:spPr>
      </p:pic>
      <p:pic>
        <p:nvPicPr>
          <p:cNvPr id="6" name="Picture 5"/>
          <p:cNvPicPr>
            <a:picLocks noChangeAspect="1"/>
          </p:cNvPicPr>
          <p:nvPr/>
        </p:nvPicPr>
        <p:blipFill>
          <a:blip r:embed="rId2"/>
          <a:stretch>
            <a:fillRect/>
          </a:stretch>
        </p:blipFill>
        <p:spPr>
          <a:xfrm>
            <a:off x="4733756" y="1871467"/>
            <a:ext cx="6394900" cy="3657600"/>
          </a:xfrm>
          <a:prstGeom prst="rect">
            <a:avLst/>
          </a:prstGeom>
        </p:spPr>
      </p:pic>
      <p:sp>
        <p:nvSpPr>
          <p:cNvPr id="15" name="Google Shape;1794;p49"/>
          <p:cNvSpPr txBox="1"/>
          <p:nvPr/>
        </p:nvSpPr>
        <p:spPr>
          <a:xfrm>
            <a:off x="6322184" y="5529067"/>
            <a:ext cx="3215675"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Lò xo bị biến dạng nén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Biến dạng đàn hồi là biến dạng mà vật có thể lấy lại được hình dạng và kích thước ban đầu. Mức độ biến dạng phụ thuộc vào độ lớn của ngoại lực. Giới hạn mà vật còn giữ được tính đàn hồi gọi là giới hạn đàn hồi </a:t>
            </a:r>
            <a:endParaRPr lang="vi-VN" sz="3000" b="0">
              <a:solidFill>
                <a:srgbClr val="FFFF00"/>
              </a:solidFill>
              <a:latin typeface="Itim" panose="00000500000000000000" pitchFamily="2" charset="-34"/>
              <a:cs typeface="Itim" panose="00000500000000000000" pitchFamily="2" charset="-34"/>
            </a:endParaRPr>
          </a:p>
        </p:txBody>
      </p:sp>
      <p:pic>
        <p:nvPicPr>
          <p:cNvPr id="8" name="Picture 7"/>
          <p:cNvPicPr>
            <a:picLocks noChangeAspect="1"/>
          </p:cNvPicPr>
          <p:nvPr/>
        </p:nvPicPr>
        <p:blipFill>
          <a:blip r:embed="rId1"/>
          <a:stretch>
            <a:fillRect/>
          </a:stretch>
        </p:blipFill>
        <p:spPr>
          <a:xfrm>
            <a:off x="152400" y="2062304"/>
            <a:ext cx="5331125" cy="1828800"/>
          </a:xfrm>
          <a:prstGeom prst="rect">
            <a:avLst/>
          </a:prstGeom>
        </p:spPr>
      </p:pic>
      <p:pic>
        <p:nvPicPr>
          <p:cNvPr id="10" name="Picture 9"/>
          <p:cNvPicPr>
            <a:picLocks noChangeAspect="1"/>
          </p:cNvPicPr>
          <p:nvPr/>
        </p:nvPicPr>
        <p:blipFill>
          <a:blip r:embed="rId2"/>
          <a:stretch>
            <a:fillRect/>
          </a:stretch>
        </p:blipFill>
        <p:spPr>
          <a:xfrm>
            <a:off x="5911516" y="2043122"/>
            <a:ext cx="6128084" cy="1828800"/>
          </a:xfrm>
          <a:prstGeom prst="rect">
            <a:avLst/>
          </a:prstGeom>
        </p:spPr>
      </p:pic>
      <p:sp>
        <p:nvSpPr>
          <p:cNvPr id="17" name="Google Shape;1794;p49"/>
          <p:cNvSpPr txBox="1"/>
          <p:nvPr/>
        </p:nvSpPr>
        <p:spPr>
          <a:xfrm>
            <a:off x="1214250" y="4216116"/>
            <a:ext cx="3207423"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Lò xo bị biến dạng kéo </a:t>
            </a:r>
            <a:endParaRPr lang="en-US" sz="2500" kern="0">
              <a:solidFill>
                <a:srgbClr val="F8F8F8"/>
              </a:solidFill>
              <a:latin typeface="Itim" panose="00000500000000000000" pitchFamily="2" charset="-34"/>
              <a:cs typeface="Itim" panose="00000500000000000000" pitchFamily="2" charset="-34"/>
            </a:endParaRPr>
          </a:p>
        </p:txBody>
      </p:sp>
      <p:sp>
        <p:nvSpPr>
          <p:cNvPr id="18" name="Google Shape;1794;p49"/>
          <p:cNvSpPr txBox="1"/>
          <p:nvPr/>
        </p:nvSpPr>
        <p:spPr>
          <a:xfrm>
            <a:off x="6555407" y="4216116"/>
            <a:ext cx="4840301"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Nếu dây chun bị kéo dãn quá mức thì nó sẽ bị dãn (mất tính đàn hồi)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Em hãy cho biết loại biến dạng trong mỗi trường hợp sau: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Cột chịu lực trong tòa nhà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Cánh cung khi kéo dây cung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794;p49"/>
          <p:cNvSpPr txBox="1"/>
          <p:nvPr/>
        </p:nvSpPr>
        <p:spPr>
          <a:xfrm>
            <a:off x="152400" y="198443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Có 2 loại biến dạng là biến dạng nén và biến dạng kéo </a:t>
            </a:r>
            <a:endParaRPr lang="en-US" sz="2500" kern="0">
              <a:solidFill>
                <a:srgbClr val="FFFF00"/>
              </a:solidFill>
              <a:latin typeface="Itim" panose="00000500000000000000" pitchFamily="2" charset="-34"/>
              <a:cs typeface="Itim" panose="00000500000000000000" pitchFamily="2" charset="-34"/>
            </a:endParaRPr>
          </a:p>
        </p:txBody>
      </p:sp>
      <p:sp>
        <p:nvSpPr>
          <p:cNvPr id="10" name="Google Shape;1794;p49"/>
          <p:cNvSpPr txBox="1"/>
          <p:nvPr/>
        </p:nvSpPr>
        <p:spPr>
          <a:xfrm>
            <a:off x="2176115" y="158859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158859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3" name="Google Shape;1794;p49"/>
          <p:cNvSpPr txBox="1"/>
          <p:nvPr/>
        </p:nvSpPr>
        <p:spPr>
          <a:xfrm>
            <a:off x="6096000" y="198443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Cột chịu lực trong tòa nhà là biến dạng nén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Cánh cung khi kéo dây cung là biến dạng kéo </a:t>
            </a:r>
            <a:endParaRPr lang="en-US" sz="2500" kern="0">
              <a:solidFill>
                <a:srgbClr val="F8F8F8"/>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4257207"/>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Tìm thêm ví dụ về biến dạng nén và biến dạng kéo trong đời sống </a:t>
            </a:r>
            <a:endParaRPr lang="en-US" sz="2500" kern="0">
              <a:solidFill>
                <a:srgbClr val="F8F8F8"/>
              </a:solidFill>
              <a:latin typeface="Itim" panose="00000500000000000000" pitchFamily="2" charset="-34"/>
              <a:cs typeface="Itim" panose="00000500000000000000" pitchFamily="2" charset="-34"/>
            </a:endParaRPr>
          </a:p>
        </p:txBody>
      </p:sp>
      <p:pic>
        <p:nvPicPr>
          <p:cNvPr id="16"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4257207"/>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0" name="Google Shape;1794;p49"/>
          <p:cNvSpPr txBox="1"/>
          <p:nvPr/>
        </p:nvSpPr>
        <p:spPr>
          <a:xfrm>
            <a:off x="5147915" y="5098055"/>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1" name="Google Shape;1794;p49"/>
          <p:cNvSpPr txBox="1"/>
          <p:nvPr/>
        </p:nvSpPr>
        <p:spPr>
          <a:xfrm>
            <a:off x="152400" y="5493897"/>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Biến dạng nén: ghế đệm khi có người ngồi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Biến dạng kéo: dây treo đèn trên trần nhà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P spid="12"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Lực đàn hồi – Định luật Hooke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35520"/>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Lực đàn hồi chống lại nguyên nhân làm vật biến dạng và có xu hướng đưa vật về hình dạng và kích thước ban đầu </a:t>
            </a:r>
            <a:endParaRPr sz="3000" b="0">
              <a:solidFill>
                <a:srgbClr val="FFFF00"/>
              </a:solidFill>
              <a:latin typeface="Itim" panose="00000500000000000000" pitchFamily="2" charset="-34"/>
              <a:cs typeface="Itim" panose="00000500000000000000" pitchFamily="2" charset="-34"/>
            </a:endParaRPr>
          </a:p>
        </p:txBody>
      </p:sp>
      <p:pic>
        <p:nvPicPr>
          <p:cNvPr id="5" name="Picture 4"/>
          <p:cNvPicPr>
            <a:picLocks noChangeAspect="1"/>
          </p:cNvPicPr>
          <p:nvPr/>
        </p:nvPicPr>
        <p:blipFill>
          <a:blip r:embed="rId1"/>
          <a:stretch>
            <a:fillRect/>
          </a:stretch>
        </p:blipFill>
        <p:spPr>
          <a:xfrm>
            <a:off x="2214734" y="1600200"/>
            <a:ext cx="7762532"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Định luật Hooke: “Trong giới hạn đàn hồi, độ lớn lực đàn hồi của lò xo tỉ lệ thuận với độ biến dạng của lò xo” </a:t>
            </a:r>
            <a:endParaRPr sz="3000" b="0">
              <a:solidFill>
                <a:srgbClr val="FFFF00"/>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3717925" y="1571852"/>
          <a:ext cx="4756150" cy="877887"/>
        </p:xfrm>
        <a:graphic>
          <a:graphicData uri="http://schemas.openxmlformats.org/presentationml/2006/ole">
            <mc:AlternateContent xmlns:mc="http://schemas.openxmlformats.org/markup-compatibility/2006">
              <mc:Choice xmlns:v="urn:schemas-microsoft-com:vml" Requires="v">
                <p:oleObj spid="_x0000_s1027" name="Equation" r:id="rId1" imgW="32613600" imgH="6096000" progId="Equation.DSMT4">
                  <p:embed/>
                </p:oleObj>
              </mc:Choice>
              <mc:Fallback>
                <p:oleObj name="Equation" r:id="rId1" imgW="32613600" imgH="6096000" progId="Equation.DSMT4">
                  <p:embed/>
                  <p:pic>
                    <p:nvPicPr>
                      <p:cNvPr id="0" name="Object 13"/>
                      <p:cNvPicPr/>
                      <p:nvPr/>
                    </p:nvPicPr>
                    <p:blipFill>
                      <a:blip r:embed="rId2"/>
                      <a:stretch>
                        <a:fillRect/>
                      </a:stretch>
                    </p:blipFill>
                    <p:spPr>
                      <a:xfrm>
                        <a:off x="3717925" y="1571852"/>
                        <a:ext cx="4756150" cy="877887"/>
                      </a:xfrm>
                      <a:prstGeom prst="rect">
                        <a:avLst/>
                      </a:prstGeom>
                    </p:spPr>
                  </p:pic>
                </p:oleObj>
              </mc:Fallback>
            </mc:AlternateContent>
          </a:graphicData>
        </a:graphic>
      </p:graphicFrame>
      <p:sp>
        <p:nvSpPr>
          <p:cNvPr id="6" name="Google Shape;1794;p49"/>
          <p:cNvSpPr txBox="1"/>
          <p:nvPr/>
        </p:nvSpPr>
        <p:spPr>
          <a:xfrm>
            <a:off x="2873828" y="2979406"/>
            <a:ext cx="6444344"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k: hệ số đàn hồi hoặc độ cứng của lò xo (N/m)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Δℓ: độ biến dạng của lò xo (m)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ℓ: chiều dài lúc sau của lò xo (m)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ℓ</a:t>
            </a:r>
            <a:r>
              <a:rPr lang="en-US" sz="2500" kern="0" baseline="-25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chiều dài ban đầu của lò xo (m)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Một lò xo bố trí theo phương thẳng đứng và có gắn vật nặng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khối lượng 200 g. Khi vật treo ở dưới thì lò xo dài 17 cm, khi vật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đặt ở trên thì lò xo dài 13 cm. Lấy g = 10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và bỏ qua trọng lượng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của móc treo, giá đỡ vật nặng. Tính độ cứng của lò xo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794;p49"/>
          <p:cNvSpPr txBox="1"/>
          <p:nvPr/>
        </p:nvSpPr>
        <p:spPr>
          <a:xfrm>
            <a:off x="152400" y="224445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Ta có: </a:t>
            </a:r>
            <a:endParaRPr lang="en-US" sz="2500" kern="0">
              <a:solidFill>
                <a:srgbClr val="FFFF00"/>
              </a:solidFill>
              <a:latin typeface="Itim" panose="00000500000000000000" pitchFamily="2" charset="-34"/>
              <a:cs typeface="Itim" panose="00000500000000000000" pitchFamily="2" charset="-34"/>
            </a:endParaRPr>
          </a:p>
        </p:txBody>
      </p:sp>
      <p:sp>
        <p:nvSpPr>
          <p:cNvPr id="10" name="Google Shape;1794;p49"/>
          <p:cNvSpPr txBox="1"/>
          <p:nvPr/>
        </p:nvSpPr>
        <p:spPr>
          <a:xfrm>
            <a:off x="2176115" y="184861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299161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3" name="Google Shape;1794;p49"/>
          <p:cNvSpPr txBox="1"/>
          <p:nvPr/>
        </p:nvSpPr>
        <p:spPr>
          <a:xfrm>
            <a:off x="6096000" y="338746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Ta có: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1674019" y="3923308"/>
          <a:ext cx="2900362" cy="539750"/>
        </p:xfrm>
        <a:graphic>
          <a:graphicData uri="http://schemas.openxmlformats.org/presentationml/2006/ole">
            <mc:AlternateContent xmlns:mc="http://schemas.openxmlformats.org/markup-compatibility/2006">
              <mc:Choice xmlns:v="urn:schemas-microsoft-com:vml" Requires="v">
                <p:oleObj spid="_x0000_s2053" name="Equation" r:id="rId2" imgW="32613600" imgH="6096000" progId="Equation.DSMT4">
                  <p:embed/>
                </p:oleObj>
              </mc:Choice>
              <mc:Fallback>
                <p:oleObj name="Equation" r:id="rId2" imgW="32613600" imgH="6096000" progId="Equation.DSMT4">
                  <p:embed/>
                  <p:pic>
                    <p:nvPicPr>
                      <p:cNvPr id="0" name="Object 13"/>
                      <p:cNvPicPr/>
                      <p:nvPr/>
                    </p:nvPicPr>
                    <p:blipFill>
                      <a:blip r:embed="rId3"/>
                      <a:stretch>
                        <a:fillRect/>
                      </a:stretch>
                    </p:blipFill>
                    <p:spPr>
                      <a:xfrm>
                        <a:off x="1674019" y="3923308"/>
                        <a:ext cx="2900362" cy="539750"/>
                      </a:xfrm>
                      <a:prstGeom prst="rect">
                        <a:avLst/>
                      </a:prstGeom>
                    </p:spPr>
                  </p:pic>
                </p:oleObj>
              </mc:Fallback>
            </mc:AlternateContent>
          </a:graphicData>
        </a:graphic>
      </p:graphicFrame>
      <p:pic>
        <p:nvPicPr>
          <p:cNvPr id="3" name="Picture 2"/>
          <p:cNvPicPr>
            <a:picLocks noChangeAspect="1"/>
          </p:cNvPicPr>
          <p:nvPr/>
        </p:nvPicPr>
        <p:blipFill>
          <a:blip r:embed="rId4"/>
          <a:stretch>
            <a:fillRect/>
          </a:stretch>
        </p:blipFill>
        <p:spPr>
          <a:xfrm>
            <a:off x="9941859" y="208290"/>
            <a:ext cx="2097741" cy="2743200"/>
          </a:xfrm>
          <a:prstGeom prst="rect">
            <a:avLst/>
          </a:prstGeom>
        </p:spPr>
      </p:pic>
      <p:graphicFrame>
        <p:nvGraphicFramePr>
          <p:cNvPr id="12" name="Object 11"/>
          <p:cNvGraphicFramePr>
            <a:graphicFrameLocks noChangeAspect="1"/>
          </p:cNvGraphicFramePr>
          <p:nvPr/>
        </p:nvGraphicFramePr>
        <p:xfrm>
          <a:off x="1430904" y="2438727"/>
          <a:ext cx="2900362" cy="1025525"/>
        </p:xfrm>
        <a:graphic>
          <a:graphicData uri="http://schemas.openxmlformats.org/presentationml/2006/ole">
            <mc:AlternateContent xmlns:mc="http://schemas.openxmlformats.org/markup-compatibility/2006">
              <mc:Choice xmlns:v="urn:schemas-microsoft-com:vml" Requires="v">
                <p:oleObj spid="_x0000_s2054" name="Equation" r:id="rId5" imgW="32613600" imgH="11582400" progId="Equation.DSMT4">
                  <p:embed/>
                </p:oleObj>
              </mc:Choice>
              <mc:Fallback>
                <p:oleObj name="Equation" r:id="rId5" imgW="32613600" imgH="11582400" progId="Equation.DSMT4">
                  <p:embed/>
                  <p:pic>
                    <p:nvPicPr>
                      <p:cNvPr id="0" name="Object 11"/>
                      <p:cNvPicPr/>
                      <p:nvPr/>
                    </p:nvPicPr>
                    <p:blipFill>
                      <a:blip r:embed="rId6"/>
                      <a:stretch>
                        <a:fillRect/>
                      </a:stretch>
                    </p:blipFill>
                    <p:spPr>
                      <a:xfrm>
                        <a:off x="1430904" y="2438727"/>
                        <a:ext cx="2900362" cy="1025525"/>
                      </a:xfrm>
                      <a:prstGeom prst="rect">
                        <a:avLst/>
                      </a:prstGeom>
                    </p:spPr>
                  </p:pic>
                </p:oleObj>
              </mc:Fallback>
            </mc:AlternateContent>
          </a:graphicData>
        </a:graphic>
      </p:graphicFrame>
      <p:cxnSp>
        <p:nvCxnSpPr>
          <p:cNvPr id="16" name="Straight Arrow Connector 15"/>
          <p:cNvCxnSpPr/>
          <p:nvPr/>
        </p:nvCxnSpPr>
        <p:spPr>
          <a:xfrm flipH="1">
            <a:off x="1946787" y="3185652"/>
            <a:ext cx="1219200" cy="84376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p:cNvGraphicFramePr>
            <a:graphicFrameLocks noChangeAspect="1"/>
          </p:cNvGraphicFramePr>
          <p:nvPr/>
        </p:nvGraphicFramePr>
        <p:xfrm>
          <a:off x="5672138" y="3993269"/>
          <a:ext cx="6367462" cy="2698750"/>
        </p:xfrm>
        <a:graphic>
          <a:graphicData uri="http://schemas.openxmlformats.org/presentationml/2006/ole">
            <mc:AlternateContent xmlns:mc="http://schemas.openxmlformats.org/markup-compatibility/2006">
              <mc:Choice xmlns:v="urn:schemas-microsoft-com:vml" Requires="v">
                <p:oleObj spid="_x0000_s2055" name="Equation" r:id="rId7" imgW="71628000" imgH="30480000" progId="Equation.DSMT4">
                  <p:embed/>
                </p:oleObj>
              </mc:Choice>
              <mc:Fallback>
                <p:oleObj name="Equation" r:id="rId7" imgW="71628000" imgH="30480000" progId="Equation.DSMT4">
                  <p:embed/>
                  <p:pic>
                    <p:nvPicPr>
                      <p:cNvPr id="0" name="Object 16"/>
                      <p:cNvPicPr/>
                      <p:nvPr/>
                    </p:nvPicPr>
                    <p:blipFill>
                      <a:blip r:embed="rId8"/>
                      <a:stretch>
                        <a:fillRect/>
                      </a:stretch>
                    </p:blipFill>
                    <p:spPr>
                      <a:xfrm>
                        <a:off x="5672138" y="3993269"/>
                        <a:ext cx="6367462" cy="2698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Một lò xo bố trí theo phương thẳng đứng và có gắn vật nặng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khối lượng 200 g. Khi vật treo ở dưới thì lò xo dài 17 cm, khi vật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đặt ở trên thì lò xo dài 13 cm. Lấy g = 10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và bỏ qua trọng lượng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của móc treo, giá đỡ vật nặng. Tính độ cứng của lò xo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794;p49"/>
          <p:cNvSpPr txBox="1"/>
          <p:nvPr/>
        </p:nvSpPr>
        <p:spPr>
          <a:xfrm>
            <a:off x="152400" y="224445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Ta có: </a:t>
            </a:r>
            <a:endParaRPr lang="en-US" sz="2500" kern="0">
              <a:solidFill>
                <a:srgbClr val="FFFF00"/>
              </a:solidFill>
              <a:latin typeface="Itim" panose="00000500000000000000" pitchFamily="2" charset="-34"/>
              <a:cs typeface="Itim" panose="00000500000000000000" pitchFamily="2" charset="-34"/>
            </a:endParaRPr>
          </a:p>
        </p:txBody>
      </p:sp>
      <p:sp>
        <p:nvSpPr>
          <p:cNvPr id="10" name="Google Shape;1794;p49"/>
          <p:cNvSpPr txBox="1"/>
          <p:nvPr/>
        </p:nvSpPr>
        <p:spPr>
          <a:xfrm>
            <a:off x="2176115" y="184861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299161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3" name="Google Shape;1794;p49"/>
          <p:cNvSpPr txBox="1"/>
          <p:nvPr/>
        </p:nvSpPr>
        <p:spPr>
          <a:xfrm>
            <a:off x="6096000" y="338746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Vậy: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1674019" y="3923308"/>
          <a:ext cx="2900362" cy="539750"/>
        </p:xfrm>
        <a:graphic>
          <a:graphicData uri="http://schemas.openxmlformats.org/presentationml/2006/ole">
            <mc:AlternateContent xmlns:mc="http://schemas.openxmlformats.org/markup-compatibility/2006">
              <mc:Choice xmlns:v="urn:schemas-microsoft-com:vml" Requires="v">
                <p:oleObj spid="_x0000_s3077" name="Equation" r:id="rId2" imgW="32613600" imgH="6096000" progId="Equation.DSMT4">
                  <p:embed/>
                </p:oleObj>
              </mc:Choice>
              <mc:Fallback>
                <p:oleObj name="Equation" r:id="rId2" imgW="32613600" imgH="6096000" progId="Equation.DSMT4">
                  <p:embed/>
                  <p:pic>
                    <p:nvPicPr>
                      <p:cNvPr id="0" name="Object 13"/>
                      <p:cNvPicPr/>
                      <p:nvPr/>
                    </p:nvPicPr>
                    <p:blipFill>
                      <a:blip r:embed="rId3"/>
                      <a:stretch>
                        <a:fillRect/>
                      </a:stretch>
                    </p:blipFill>
                    <p:spPr>
                      <a:xfrm>
                        <a:off x="1674019" y="3923308"/>
                        <a:ext cx="2900362" cy="539750"/>
                      </a:xfrm>
                      <a:prstGeom prst="rect">
                        <a:avLst/>
                      </a:prstGeom>
                    </p:spPr>
                  </p:pic>
                </p:oleObj>
              </mc:Fallback>
            </mc:AlternateContent>
          </a:graphicData>
        </a:graphic>
      </p:graphicFrame>
      <p:pic>
        <p:nvPicPr>
          <p:cNvPr id="3" name="Picture 2"/>
          <p:cNvPicPr>
            <a:picLocks noChangeAspect="1"/>
          </p:cNvPicPr>
          <p:nvPr/>
        </p:nvPicPr>
        <p:blipFill>
          <a:blip r:embed="rId4"/>
          <a:stretch>
            <a:fillRect/>
          </a:stretch>
        </p:blipFill>
        <p:spPr>
          <a:xfrm>
            <a:off x="9941859" y="208290"/>
            <a:ext cx="2097741" cy="2743200"/>
          </a:xfrm>
          <a:prstGeom prst="rect">
            <a:avLst/>
          </a:prstGeom>
        </p:spPr>
      </p:pic>
      <p:graphicFrame>
        <p:nvGraphicFramePr>
          <p:cNvPr id="12" name="Object 11"/>
          <p:cNvGraphicFramePr>
            <a:graphicFrameLocks noChangeAspect="1"/>
          </p:cNvGraphicFramePr>
          <p:nvPr/>
        </p:nvGraphicFramePr>
        <p:xfrm>
          <a:off x="1430904" y="2438727"/>
          <a:ext cx="2900362" cy="1025525"/>
        </p:xfrm>
        <a:graphic>
          <a:graphicData uri="http://schemas.openxmlformats.org/presentationml/2006/ole">
            <mc:AlternateContent xmlns:mc="http://schemas.openxmlformats.org/markup-compatibility/2006">
              <mc:Choice xmlns:v="urn:schemas-microsoft-com:vml" Requires="v">
                <p:oleObj spid="_x0000_s3078" name="Equation" r:id="rId5" imgW="32613600" imgH="11582400" progId="Equation.DSMT4">
                  <p:embed/>
                </p:oleObj>
              </mc:Choice>
              <mc:Fallback>
                <p:oleObj name="Equation" r:id="rId5" imgW="32613600" imgH="11582400" progId="Equation.DSMT4">
                  <p:embed/>
                  <p:pic>
                    <p:nvPicPr>
                      <p:cNvPr id="0" name="Object 11"/>
                      <p:cNvPicPr/>
                      <p:nvPr/>
                    </p:nvPicPr>
                    <p:blipFill>
                      <a:blip r:embed="rId6"/>
                      <a:stretch>
                        <a:fillRect/>
                      </a:stretch>
                    </p:blipFill>
                    <p:spPr>
                      <a:xfrm>
                        <a:off x="1430904" y="2438727"/>
                        <a:ext cx="2900362" cy="1025525"/>
                      </a:xfrm>
                      <a:prstGeom prst="rect">
                        <a:avLst/>
                      </a:prstGeom>
                    </p:spPr>
                  </p:pic>
                </p:oleObj>
              </mc:Fallback>
            </mc:AlternateContent>
          </a:graphicData>
        </a:graphic>
      </p:graphicFrame>
      <p:cxnSp>
        <p:nvCxnSpPr>
          <p:cNvPr id="16" name="Straight Arrow Connector 15"/>
          <p:cNvCxnSpPr/>
          <p:nvPr/>
        </p:nvCxnSpPr>
        <p:spPr>
          <a:xfrm flipH="1">
            <a:off x="1946787" y="3185652"/>
            <a:ext cx="1219200" cy="84376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p:cNvGraphicFramePr>
            <a:graphicFrameLocks noChangeAspect="1"/>
          </p:cNvGraphicFramePr>
          <p:nvPr/>
        </p:nvGraphicFramePr>
        <p:xfrm>
          <a:off x="6757372" y="3477949"/>
          <a:ext cx="3576638" cy="2105025"/>
        </p:xfrm>
        <a:graphic>
          <a:graphicData uri="http://schemas.openxmlformats.org/presentationml/2006/ole">
            <mc:AlternateContent xmlns:mc="http://schemas.openxmlformats.org/markup-compatibility/2006">
              <mc:Choice xmlns:v="urn:schemas-microsoft-com:vml" Requires="v">
                <p:oleObj spid="_x0000_s3079" name="Equation" r:id="rId7" imgW="40233600" imgH="23774400" progId="Equation.DSMT4">
                  <p:embed/>
                </p:oleObj>
              </mc:Choice>
              <mc:Fallback>
                <p:oleObj name="Equation" r:id="rId7" imgW="40233600" imgH="23774400" progId="Equation.DSMT4">
                  <p:embed/>
                  <p:pic>
                    <p:nvPicPr>
                      <p:cNvPr id="0" name="Object 16"/>
                      <p:cNvPicPr/>
                      <p:nvPr/>
                    </p:nvPicPr>
                    <p:blipFill>
                      <a:blip r:embed="rId8"/>
                      <a:stretch>
                        <a:fillRect/>
                      </a:stretch>
                    </p:blipFill>
                    <p:spPr>
                      <a:xfrm>
                        <a:off x="6757372" y="3477949"/>
                        <a:ext cx="3576638" cy="210502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4. Trên hình dưới là đồ thị sự phụ thuộc của độ lớn lực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đàn hồi F vào độ biến dạng </a:t>
            </a:r>
            <a:r>
              <a:rPr lang="el-GR" sz="2500" kern="0">
                <a:solidFill>
                  <a:srgbClr val="F8F8F8"/>
                </a:solidFill>
                <a:latin typeface="Itim" panose="00000500000000000000" pitchFamily="2" charset="-34"/>
                <a:cs typeface="Itim" panose="00000500000000000000" pitchFamily="2" charset="-34"/>
              </a:rPr>
              <a:t>Δℓ</a:t>
            </a:r>
            <a:r>
              <a:rPr lang="en-US" sz="2500" kern="0">
                <a:solidFill>
                  <a:srgbClr val="F8F8F8"/>
                </a:solidFill>
                <a:latin typeface="Itim" panose="00000500000000000000" pitchFamily="2" charset="-34"/>
                <a:cs typeface="Itim" panose="00000500000000000000" pitchFamily="2" charset="-34"/>
              </a:rPr>
              <a:t> của 3 lò xo khác nhau A,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và C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Lò xo nào có độ cứng lớn nhất?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Lò xo nào có độ cứng nhỏ nhất?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 Lò xo nào không tuân theo định luật Hooke?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8568021" y="177470"/>
            <a:ext cx="3471579" cy="2743200"/>
          </a:xfrm>
          <a:prstGeom prst="rect">
            <a:avLst/>
          </a:prstGeom>
        </p:spPr>
      </p:pic>
      <p:sp>
        <p:nvSpPr>
          <p:cNvPr id="17" name="Google Shape;1794;p49"/>
          <p:cNvSpPr txBox="1"/>
          <p:nvPr/>
        </p:nvSpPr>
        <p:spPr>
          <a:xfrm>
            <a:off x="5147915" y="2714082"/>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0" name="Google Shape;1794;p49"/>
          <p:cNvSpPr txBox="1"/>
          <p:nvPr/>
        </p:nvSpPr>
        <p:spPr>
          <a:xfrm>
            <a:off x="152400" y="3109924"/>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Lò xo C có độ cứng lớn nhất vì đồ thị của nó có độ dốc lớn nhất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Lò xo A có độ cứng nhỏ nhất vì đồ thị của nó có độ dốc nhỏ nhất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 Lò xo A không tuân theo định luật Hooke vì đồ thị của nó không phải là đường thẳng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2665</Words>
  <Application>WPS Presentation</Application>
  <PresentationFormat>Widescreen</PresentationFormat>
  <Paragraphs>90</Paragraphs>
  <Slides>11</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7</vt:i4>
      </vt:variant>
      <vt:variant>
        <vt:lpstr>幻灯片标题</vt:lpstr>
      </vt:variant>
      <vt:variant>
        <vt:i4>11</vt:i4>
      </vt:variant>
    </vt:vector>
  </HeadingPairs>
  <TitlesOfParts>
    <vt:vector size="36"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Microsoft YaHei</vt:lpstr>
      <vt:lpstr>汉仪旗黑</vt:lpstr>
      <vt:lpstr>Calibri Light</vt:lpstr>
      <vt:lpstr>Helvetica Neue</vt:lpstr>
      <vt:lpstr>Calibri</vt:lpstr>
      <vt:lpstr>宋体-简</vt:lpstr>
      <vt:lpstr>Art_mountaineering</vt:lpstr>
      <vt:lpstr>Equation.DSMT4</vt:lpstr>
      <vt:lpstr>Equation.DSMT4</vt:lpstr>
      <vt:lpstr>Equation.DSMT4</vt:lpstr>
      <vt:lpstr>Equation.DSMT4</vt:lpstr>
      <vt:lpstr>Equation.DSMT4</vt:lpstr>
      <vt:lpstr>Equation.DSMT4</vt:lpstr>
      <vt:lpstr>Equation.DSMT4</vt:lpstr>
      <vt:lpstr>PowerPoint 演示文稿</vt:lpstr>
      <vt:lpstr>Biến dạng đàn hồi  Biến dạng kéo và biến dạng nén </vt:lpstr>
      <vt:lpstr>Biến dạng đàn hồi là biến dạng mà vật có thể lấy lại được hình dạng và kích thước ban đầu. Mức độ biến dạng phụ thuộc vào độ lớn của ngoại lực. Giới hạn mà vật còn giữ được tính đàn hồi gọi là giới hạn đàn hồi </vt:lpstr>
      <vt:lpstr>Biến dạng đàn hồi là biến dạng mà vật có thể lấy lại được hình dạng và kích thước ban đầu. Mức độ biến dạng phụ thuộc vào độ lớn của ngoại lực. Giới hạn mà vật còn giữ được tính đàn hồi gọi là giới hạn đàn hồi </vt:lpstr>
      <vt:lpstr>PowerPoint 演示文稿</vt:lpstr>
      <vt:lpstr>Lực đàn hồi – Định luật Hooke </vt:lpstr>
      <vt:lpstr>Lực đàn hồi chống lại nguyên nhân làm vật biến dạng và có xu hướng đưa vật về hình dạng và kích thước ban đầu </vt:lpstr>
      <vt:lpstr>Định luật Hooke: “Trong giới hạn đàn hồi, độ lớn lực đàn hồi của lò xo tỉ lệ thuận với độ biến dạng của lò xo”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2025-09-17T02:57:31Z</dcterms:created>
  <dcterms:modified xsi:type="dcterms:W3CDTF">2025-09-17T02:57:31Z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EB65AF21031CED369B23CA68A175A328_42</vt:lpwstr>
  </property>
  <property fmtid="{D5CDD505-2E9C-101B-9397-08002B2CF9AE}" pid="3" name="KSOProductBuildVer">
    <vt:lpwstr>1033-12.1.22553.22553</vt:lpwstr>
  </property>
</Properties>
</file>